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FD69710-E547-4379-9C84-97FAF05E46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861100-0CA9-4162-8123-33FB0104FB62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9906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225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Facial Expression Recognition on FER2013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11ABC9-D049-4BF3-91EF-6CE07E5ED324}"/>
              </a:ext>
            </a:extLst>
          </p:cNvPr>
          <p:cNvSpPr>
            <a:spLocks noGrp="1"/>
          </p:cNvSpPr>
          <p:nvPr/>
        </p:nvSpPr>
        <p:spPr>
          <a:xfrm>
            <a:off x="704850" y="2057400"/>
            <a:ext cx="895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Controlled experiments with a custom CNN, ResNet18, EfficientNet-B0, and CK+ external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54A305-42EB-4A97-82E5-1431D157FC54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8096250" cy="19050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14F5D-3696-4FD9-B768-CA88C1DDC965}"/>
              </a:ext>
            </a:extLst>
          </p:cNvPr>
          <p:cNvSpPr>
            <a:spLocks noGrp="1"/>
          </p:cNvSpPr>
          <p:nvPr/>
        </p:nvSpPr>
        <p:spPr>
          <a:xfrm>
            <a:off x="723900" y="3276600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Primary metric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2262F9-67A3-4751-8AB9-BEC6DBE6A653}"/>
              </a:ext>
            </a:extLst>
          </p:cNvPr>
          <p:cNvSpPr>
            <a:spLocks noGrp="1"/>
          </p:cNvSpPr>
          <p:nvPr/>
        </p:nvSpPr>
        <p:spPr>
          <a:xfrm>
            <a:off x="723900" y="3562350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Macro F1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9A3D3-6334-40A8-8632-66D0B667A046}"/>
              </a:ext>
            </a:extLst>
          </p:cNvPr>
          <p:cNvSpPr>
            <a:spLocks noGrp="1"/>
          </p:cNvSpPr>
          <p:nvPr/>
        </p:nvSpPr>
        <p:spPr>
          <a:xfrm>
            <a:off x="3619500" y="3276600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8C7EB0-2AFE-4730-A7F2-5C4E3AF7F608}"/>
              </a:ext>
            </a:extLst>
          </p:cNvPr>
          <p:cNvSpPr>
            <a:spLocks noGrp="1"/>
          </p:cNvSpPr>
          <p:nvPr/>
        </p:nvSpPr>
        <p:spPr>
          <a:xfrm>
            <a:off x="3619500" y="3562350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FER2013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393E4B-6971-4F52-A01F-369339CABC01}"/>
              </a:ext>
            </a:extLst>
          </p:cNvPr>
          <p:cNvSpPr>
            <a:spLocks noGrp="1"/>
          </p:cNvSpPr>
          <p:nvPr/>
        </p:nvSpPr>
        <p:spPr>
          <a:xfrm>
            <a:off x="6572250" y="3276600"/>
            <a:ext cx="2571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622C"/>
                </a:solidFill>
                <a:latin typeface="Aptos"/>
                <a:ea typeface="Aptos"/>
                <a:cs typeface="Aptos"/>
              </a:rPr>
              <a:t>External 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291BC8-5F8C-4F76-A326-CAD5ED01020A}"/>
              </a:ext>
            </a:extLst>
          </p:cNvPr>
          <p:cNvSpPr>
            <a:spLocks noGrp="1"/>
          </p:cNvSpPr>
          <p:nvPr/>
        </p:nvSpPr>
        <p:spPr>
          <a:xfrm>
            <a:off x="6572250" y="3562350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CK+</a:t>
            </a:r>
          </a:p>
        </p:txBody>
      </p:sp>
    </p:spTree>
    <p:extLst>
      <p:ext uri="{BB962C8B-B14F-4D97-AF65-F5344CB8AC3E}">
        <p14:creationId xmlns:p14="http://schemas.microsoft.com/office/powerpoint/2010/main" val="1233085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F14A3F1-CEC5-42A3-ACB5-084D3E292F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9A0C78-C5B5-4366-9BFA-A4EA9BE2AC83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CONTENT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86A6AD-7914-46C3-B5C4-00E329F3D064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Presentation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9430DD-5BC1-4001-BA1F-BEF681875EF9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27B310-7C60-4519-869B-B6C2EEEE483D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02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3DE963-0AF1-4034-8A47-A495CD0CEE30}"/>
              </a:ext>
            </a:extLst>
          </p:cNvPr>
          <p:cNvSpPr>
            <a:spLocks noGrp="1"/>
          </p:cNvSpPr>
          <p:nvPr/>
        </p:nvSpPr>
        <p:spPr>
          <a:xfrm>
            <a:off x="914400" y="207645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1. Introduction and motivation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7ED9E9-F67B-4310-8D4D-E0FA79247F9D}"/>
              </a:ext>
            </a:extLst>
          </p:cNvPr>
          <p:cNvSpPr>
            <a:spLocks noGrp="1"/>
          </p:cNvSpPr>
          <p:nvPr/>
        </p:nvSpPr>
        <p:spPr>
          <a:xfrm>
            <a:off x="914400" y="251460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2. Related work / state of the 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6784A-1BA2-41D1-A515-7F68F738ADCA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3. Dataset and preprocessing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4D1568-46FC-47FD-A69C-8D8E5B131B4A}"/>
              </a:ext>
            </a:extLst>
          </p:cNvPr>
          <p:cNvSpPr>
            <a:spLocks noGrp="1"/>
          </p:cNvSpPr>
          <p:nvPr/>
        </p:nvSpPr>
        <p:spPr>
          <a:xfrm>
            <a:off x="914400" y="339090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4. Methodology and implemented models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2D17F9-8A15-41A1-B45E-790F529422F3}"/>
              </a:ext>
            </a:extLst>
          </p:cNvPr>
          <p:cNvSpPr>
            <a:spLocks noGrp="1"/>
          </p:cNvSpPr>
          <p:nvPr/>
        </p:nvSpPr>
        <p:spPr>
          <a:xfrm>
            <a:off x="914400" y="382905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5. Experiments and evaluated configurations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AB1E3E-F71F-49D1-A6F3-DA8C539A0F58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6. Results and analysis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E8BFE3-0D9E-4A69-84EF-552FCE608906}"/>
              </a:ext>
            </a:extLst>
          </p:cNvPr>
          <p:cNvSpPr>
            <a:spLocks noGrp="1"/>
          </p:cNvSpPr>
          <p:nvPr/>
        </p:nvSpPr>
        <p:spPr>
          <a:xfrm>
            <a:off x="914400" y="470535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7. Comparison against baselines and state-of-the-art approaches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D4FE7A-1F66-48E2-9F7D-94D2C43AC4AC}"/>
              </a:ext>
            </a:extLst>
          </p:cNvPr>
          <p:cNvSpPr>
            <a:spLocks noGrp="1"/>
          </p:cNvSpPr>
          <p:nvPr/>
        </p:nvSpPr>
        <p:spPr>
          <a:xfrm>
            <a:off x="914400" y="514350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8. Discussion of limitations and observations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A06738-D0B0-4923-81D5-4A2621A0B959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9334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9. Conclusions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1481166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67E64D0-90C3-441B-A4E2-A72591FC3A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D166B0-BE20-4ECD-934A-F5649A9CBBCE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INTRODUCTION AND MOTIVATION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A00B1C-756B-4E5A-8717-CC4FB498FEC1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Expression recognition is useful, but FER2013 makes it hard.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62262B-E50B-4747-93DC-436E5FB55C7E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3868EA-5F8F-4A86-A527-F0F59C037BFC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03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7CF713-7912-4AF7-99F7-0A5A25E92683}"/>
              </a:ext>
            </a:extLst>
          </p:cNvPr>
          <p:cNvSpPr>
            <a:spLocks noGrp="1"/>
          </p:cNvSpPr>
          <p:nvPr/>
        </p:nvSpPr>
        <p:spPr>
          <a:xfrm>
            <a:off x="876300" y="22860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439AC6-184F-4276-8AA0-BC06BE38F27F}"/>
              </a:ext>
            </a:extLst>
          </p:cNvPr>
          <p:cNvSpPr>
            <a:spLocks noGrp="1"/>
          </p:cNvSpPr>
          <p:nvPr/>
        </p:nvSpPr>
        <p:spPr>
          <a:xfrm>
            <a:off x="1123950" y="2190750"/>
            <a:ext cx="7562850" cy="60721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Facial expressions are useful for affective computing and human-computer interaction.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85F0B1-7482-43D2-BBF4-7BE95D3FFE4E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9402A-28D4-496B-B07F-8092A9D1386D}"/>
              </a:ext>
            </a:extLst>
          </p:cNvPr>
          <p:cNvSpPr>
            <a:spLocks noGrp="1"/>
          </p:cNvSpPr>
          <p:nvPr/>
        </p:nvSpPr>
        <p:spPr>
          <a:xfrm>
            <a:off x="1123950" y="2876550"/>
            <a:ext cx="7562850" cy="60721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FER2013 images are low-resolution 48x48 grayscale face crops.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4B3782-3A40-42CC-8F06-FC7DB9A7A9F3}"/>
              </a:ext>
            </a:extLst>
          </p:cNvPr>
          <p:cNvSpPr>
            <a:spLocks noGrp="1"/>
          </p:cNvSpPr>
          <p:nvPr/>
        </p:nvSpPr>
        <p:spPr>
          <a:xfrm>
            <a:off x="876300" y="36576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826588-4C05-44A6-B094-1F06C260A2E0}"/>
              </a:ext>
            </a:extLst>
          </p:cNvPr>
          <p:cNvSpPr>
            <a:spLocks noGrp="1"/>
          </p:cNvSpPr>
          <p:nvPr/>
        </p:nvSpPr>
        <p:spPr>
          <a:xfrm>
            <a:off x="1123950" y="3562350"/>
            <a:ext cx="7562850" cy="60721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Expressions can be visually ambiguous; several emotions occupy nearby affective regions.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2020C5-FE1E-4215-B19B-92471550F903}"/>
              </a:ext>
            </a:extLst>
          </p:cNvPr>
          <p:cNvSpPr>
            <a:spLocks noGrp="1"/>
          </p:cNvSpPr>
          <p:nvPr/>
        </p:nvSpPr>
        <p:spPr>
          <a:xfrm>
            <a:off x="876300" y="43434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EA5BE7-5642-41EA-A822-F7DDCE9A4BCF}"/>
              </a:ext>
            </a:extLst>
          </p:cNvPr>
          <p:cNvSpPr>
            <a:spLocks noGrp="1"/>
          </p:cNvSpPr>
          <p:nvPr/>
        </p:nvSpPr>
        <p:spPr>
          <a:xfrm>
            <a:off x="1123950" y="4248150"/>
            <a:ext cx="7562850" cy="60721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imbalance makes macro F1 and per-class analysis more appropriate than accuracy alone.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2E5D1A-AF3C-4136-9526-9D18E55EFE32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523DA9-0E28-4B3D-9471-FEDC3BB3F807}"/>
              </a:ext>
            </a:extLst>
          </p:cNvPr>
          <p:cNvSpPr>
            <a:spLocks noGrp="1"/>
          </p:cNvSpPr>
          <p:nvPr/>
        </p:nvSpPr>
        <p:spPr>
          <a:xfrm>
            <a:off x="8858250" y="2952750"/>
            <a:ext cx="2476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Which modeling choices improve balanced recognition and generalization?</a:t>
            </a:r>
          </a:p>
        </p:txBody>
      </p:sp>
    </p:spTree>
    <p:extLst>
      <p:ext uri="{BB962C8B-B14F-4D97-AF65-F5344CB8AC3E}">
        <p14:creationId xmlns:p14="http://schemas.microsoft.com/office/powerpoint/2010/main" val="142460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92CBC59-C66E-4E28-9BF1-5027A07FFA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55EC69-B197-4D8D-8CE2-7557C996A0CE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RELATED WORK / STATE OF THE ART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9266CB-DFED-4920-A334-CD1D9414800E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FER systems evolved from handcrafted features to deep transfer learning.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A8D7C8-2112-4AA2-BC7F-F78252B1DC6A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0663FD-FE61-4758-8A9E-12DCE0DC5103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04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00F11D-E073-4A1E-96DC-73920D96E737}"/>
              </a:ext>
            </a:extLst>
          </p:cNvPr>
          <p:cNvSpPr>
            <a:spLocks noGrp="1"/>
          </p:cNvSpPr>
          <p:nvPr/>
        </p:nvSpPr>
        <p:spPr>
          <a:xfrm>
            <a:off x="800100" y="21526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5622C"/>
                </a:solidFill>
                <a:latin typeface="Aptos"/>
                <a:ea typeface="Aptos"/>
                <a:cs typeface="Aptos"/>
              </a:rPr>
              <a:t>CLASSICAL 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8BD61-6DAE-404C-9749-CC3328456794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3429000" cy="14288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B60AD-EBB1-4C95-AF0F-BE5081363F36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A00ACE-9515-486D-8815-ED4F046135FC}"/>
              </a:ext>
            </a:extLst>
          </p:cNvPr>
          <p:cNvSpPr>
            <a:spLocks noGrp="1"/>
          </p:cNvSpPr>
          <p:nvPr/>
        </p:nvSpPr>
        <p:spPr>
          <a:xfrm>
            <a:off x="1104900" y="2686050"/>
            <a:ext cx="40386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Handcrafted descriptors plus shallow classifiers were common historically.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7084BD-3DC8-46D7-B971-087AE9BA09E1}"/>
              </a:ext>
            </a:extLst>
          </p:cNvPr>
          <p:cNvSpPr>
            <a:spLocks noGrp="1"/>
          </p:cNvSpPr>
          <p:nvPr/>
        </p:nvSpPr>
        <p:spPr>
          <a:xfrm>
            <a:off x="857250" y="34290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9AA54D-202D-4D84-88C8-C06B8EB07A9B}"/>
              </a:ext>
            </a:extLst>
          </p:cNvPr>
          <p:cNvSpPr>
            <a:spLocks noGrp="1"/>
          </p:cNvSpPr>
          <p:nvPr/>
        </p:nvSpPr>
        <p:spPr>
          <a:xfrm>
            <a:off x="1104900" y="3333750"/>
            <a:ext cx="40386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They are less robust to pose, lighting, and dataset noise.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428CE-A7B7-48A2-8A48-368EA1355440}"/>
              </a:ext>
            </a:extLst>
          </p:cNvPr>
          <p:cNvSpPr>
            <a:spLocks noGrp="1"/>
          </p:cNvSpPr>
          <p:nvPr/>
        </p:nvSpPr>
        <p:spPr>
          <a:xfrm>
            <a:off x="6191250" y="21526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DEEP FER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704380-ED25-40C2-99EF-15BB0EA80B27}"/>
              </a:ext>
            </a:extLst>
          </p:cNvPr>
          <p:cNvSpPr>
            <a:spLocks noGrp="1"/>
          </p:cNvSpPr>
          <p:nvPr/>
        </p:nvSpPr>
        <p:spPr>
          <a:xfrm>
            <a:off x="6191250" y="2381250"/>
            <a:ext cx="3429000" cy="14288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1F9B14-A1B4-41B8-BB47-C12CD96B5E7E}"/>
              </a:ext>
            </a:extLst>
          </p:cNvPr>
          <p:cNvSpPr>
            <a:spLocks noGrp="1"/>
          </p:cNvSpPr>
          <p:nvPr/>
        </p:nvSpPr>
        <p:spPr>
          <a:xfrm>
            <a:off x="6248400" y="27813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2C3931-9F04-49C2-A58D-58B31079F2F6}"/>
              </a:ext>
            </a:extLst>
          </p:cNvPr>
          <p:cNvSpPr>
            <a:spLocks noGrp="1"/>
          </p:cNvSpPr>
          <p:nvPr/>
        </p:nvSpPr>
        <p:spPr>
          <a:xfrm>
            <a:off x="6496050" y="2686050"/>
            <a:ext cx="45148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CNNs learn expression features directly from pixels.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03A0ED-DDC5-4E2E-9FD0-6EC545327361}"/>
              </a:ext>
            </a:extLst>
          </p:cNvPr>
          <p:cNvSpPr>
            <a:spLocks noGrp="1"/>
          </p:cNvSpPr>
          <p:nvPr/>
        </p:nvSpPr>
        <p:spPr>
          <a:xfrm>
            <a:off x="6248400" y="34290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E81BEC-371A-42C7-A35F-77900F9B09B9}"/>
              </a:ext>
            </a:extLst>
          </p:cNvPr>
          <p:cNvSpPr>
            <a:spLocks noGrp="1"/>
          </p:cNvSpPr>
          <p:nvPr/>
        </p:nvSpPr>
        <p:spPr>
          <a:xfrm>
            <a:off x="6496050" y="3333750"/>
            <a:ext cx="45148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ImageNet-pretrained backbones such as ResNet and EfficientNet are practical baselines.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487F8A-4486-4C9F-AC6A-999D62664E59}"/>
              </a:ext>
            </a:extLst>
          </p:cNvPr>
          <p:cNvSpPr>
            <a:spLocks noGrp="1"/>
          </p:cNvSpPr>
          <p:nvPr/>
        </p:nvSpPr>
        <p:spPr>
          <a:xfrm>
            <a:off x="6248400" y="40767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07CF79-FA2C-407F-ABBA-7ADB494B343B}"/>
              </a:ext>
            </a:extLst>
          </p:cNvPr>
          <p:cNvSpPr>
            <a:spLocks noGrp="1"/>
          </p:cNvSpPr>
          <p:nvPr/>
        </p:nvSpPr>
        <p:spPr>
          <a:xfrm>
            <a:off x="6496050" y="3981450"/>
            <a:ext cx="45148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Recent state-of-the-art systems often add alignment, attention, transformers, ensembles, or larger datasets.</a:t>
            </a:r>
          </a:p>
        </p:txBody>
      </p:sp>
    </p:spTree>
    <p:extLst>
      <p:ext uri="{BB962C8B-B14F-4D97-AF65-F5344CB8AC3E}">
        <p14:creationId xmlns:p14="http://schemas.microsoft.com/office/powerpoint/2010/main" val="1895360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1152F7-8609-4C0F-BF96-0BBB8AE900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7300-6988-4599-958B-973CEEF9BCFD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DATASET AND PREPROCESSING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F712F-1FD9-4555-8D52-27F19AC729BD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Sample images reveal ambiguity and low resolution.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CC1472-A01A-4DED-A683-235B0346A3FC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18315A-F978-4DC2-9800-C5C1D1A925C6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05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2F4C53-E630-47D0-A149-6FBD7163A149}"/>
              </a:ext>
            </a:extLst>
          </p:cNvPr>
          <p:cNvSpPr>
            <a:spLocks noGrp="1"/>
          </p:cNvSpPr>
          <p:nvPr/>
        </p:nvSpPr>
        <p:spPr>
          <a:xfrm>
            <a:off x="704850" y="2057400"/>
            <a:ext cx="4152900" cy="3390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92080" y="2133600"/>
            <a:ext cx="2378439" cy="3238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0991D48-BC22-4BD8-9CDA-35ED841EBEE9}"/>
              </a:ext>
            </a:extLst>
          </p:cNvPr>
          <p:cNvSpPr>
            <a:spLocks noGrp="1"/>
          </p:cNvSpPr>
          <p:nvPr/>
        </p:nvSpPr>
        <p:spPr>
          <a:xfrm>
            <a:off x="5619750" y="25717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32DE7E-8772-4F0D-A067-0EFA15D568B3}"/>
              </a:ext>
            </a:extLst>
          </p:cNvPr>
          <p:cNvSpPr>
            <a:spLocks noGrp="1"/>
          </p:cNvSpPr>
          <p:nvPr/>
        </p:nvSpPr>
        <p:spPr>
          <a:xfrm>
            <a:off x="5867400" y="2476500"/>
            <a:ext cx="4705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Faces are small, grayscale, and sometimes poorly aligned.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376DD3-DB97-4ACE-BE47-4585ED193A9D}"/>
              </a:ext>
            </a:extLst>
          </p:cNvPr>
          <p:cNvSpPr>
            <a:spLocks noGrp="1"/>
          </p:cNvSpPr>
          <p:nvPr/>
        </p:nvSpPr>
        <p:spPr>
          <a:xfrm>
            <a:off x="5619750" y="32956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36296B-F226-4EE0-BD36-25A013C1F99C}"/>
              </a:ext>
            </a:extLst>
          </p:cNvPr>
          <p:cNvSpPr>
            <a:spLocks noGrp="1"/>
          </p:cNvSpPr>
          <p:nvPr/>
        </p:nvSpPr>
        <p:spPr>
          <a:xfrm>
            <a:off x="5867400" y="3200400"/>
            <a:ext cx="4705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Several classes differ by subtle mouth, eye, or eyebrow cues.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4654B8-5E29-4DF1-99CE-CD8D8F5D6EB9}"/>
              </a:ext>
            </a:extLst>
          </p:cNvPr>
          <p:cNvSpPr>
            <a:spLocks noGrp="1"/>
          </p:cNvSpPr>
          <p:nvPr/>
        </p:nvSpPr>
        <p:spPr>
          <a:xfrm>
            <a:off x="5619750" y="40195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2C2DCE-93EB-4D41-8540-AF2582B26609}"/>
              </a:ext>
            </a:extLst>
          </p:cNvPr>
          <p:cNvSpPr>
            <a:spLocks noGrp="1"/>
          </p:cNvSpPr>
          <p:nvPr/>
        </p:nvSpPr>
        <p:spPr>
          <a:xfrm>
            <a:off x="5867400" y="3924300"/>
            <a:ext cx="4705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Human-visible ambiguity justifies evaluating more than a single aggregate score.</a:t>
            </a:r>
          </a:p>
        </p:txBody>
      </p:sp>
    </p:spTree>
    <p:extLst>
      <p:ext uri="{BB962C8B-B14F-4D97-AF65-F5344CB8AC3E}">
        <p14:creationId xmlns:p14="http://schemas.microsoft.com/office/powerpoint/2010/main" val="1823242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54F0F98-4BC8-4BB6-883B-BF3CE7D99C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7034F9-00BA-4727-8B65-BC9933E1AAC3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DATASET AND PREPROCESSING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36BD73-FA1D-4D17-85B5-2B2712DBADEE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Class imbalance and affect proximity explain why this dataset is difficult.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E7F2F-119D-46C6-92A6-6305B1723142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0494B2-6733-4C4A-A659-F22B8B8E6F6D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06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2A840B-FCD4-4A42-8DB6-C221730E8B51}"/>
              </a:ext>
            </a:extLst>
          </p:cNvPr>
          <p:cNvSpPr>
            <a:spLocks noGrp="1"/>
          </p:cNvSpPr>
          <p:nvPr/>
        </p:nvSpPr>
        <p:spPr>
          <a:xfrm>
            <a:off x="647700" y="2076450"/>
            <a:ext cx="4629150" cy="2819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6480" y="2152650"/>
            <a:ext cx="4311589" cy="2667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93AA9B1-7AED-4688-B9DB-414E6C1DCA91}"/>
              </a:ext>
            </a:extLst>
          </p:cNvPr>
          <p:cNvSpPr>
            <a:spLocks noGrp="1"/>
          </p:cNvSpPr>
          <p:nvPr/>
        </p:nvSpPr>
        <p:spPr>
          <a:xfrm>
            <a:off x="5676900" y="2076450"/>
            <a:ext cx="3295650" cy="2819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53100" y="2164184"/>
            <a:ext cx="3143250" cy="264393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C51DE9F-F40D-4376-BA5E-FD0092E5181C}"/>
              </a:ext>
            </a:extLst>
          </p:cNvPr>
          <p:cNvSpPr>
            <a:spLocks noGrp="1"/>
          </p:cNvSpPr>
          <p:nvPr/>
        </p:nvSpPr>
        <p:spPr>
          <a:xfrm>
            <a:off x="9372600" y="224790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Dataset size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A9568F-E3BB-4292-BCA1-1D78805723E2}"/>
              </a:ext>
            </a:extLst>
          </p:cNvPr>
          <p:cNvSpPr>
            <a:spLocks noGrp="1"/>
          </p:cNvSpPr>
          <p:nvPr/>
        </p:nvSpPr>
        <p:spPr>
          <a:xfrm>
            <a:off x="9372600" y="25336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28,709 train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F00486-C763-4B61-9E26-EDD6702BF54F}"/>
              </a:ext>
            </a:extLst>
          </p:cNvPr>
          <p:cNvSpPr>
            <a:spLocks noGrp="1"/>
          </p:cNvSpPr>
          <p:nvPr/>
        </p:nvSpPr>
        <p:spPr>
          <a:xfrm>
            <a:off x="9372600" y="29146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7,178 test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2E01C2-88C8-4E6C-8872-427CC28A281A}"/>
              </a:ext>
            </a:extLst>
          </p:cNvPr>
          <p:cNvSpPr>
            <a:spLocks noGrp="1"/>
          </p:cNvSpPr>
          <p:nvPr/>
        </p:nvSpPr>
        <p:spPr>
          <a:xfrm>
            <a:off x="781050" y="53149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4E89E5-CF5A-4040-A3BF-3CD67FB3083E}"/>
              </a:ext>
            </a:extLst>
          </p:cNvPr>
          <p:cNvSpPr>
            <a:spLocks noGrp="1"/>
          </p:cNvSpPr>
          <p:nvPr/>
        </p:nvSpPr>
        <p:spPr>
          <a:xfrm>
            <a:off x="1028700" y="5219700"/>
            <a:ext cx="9086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Happy has much more support than minority classes such as disgust.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A9F297-9891-44FA-8DD0-6D6E7A4DC9EF}"/>
              </a:ext>
            </a:extLst>
          </p:cNvPr>
          <p:cNvSpPr>
            <a:spLocks noGrp="1"/>
          </p:cNvSpPr>
          <p:nvPr/>
        </p:nvSpPr>
        <p:spPr>
          <a:xfrm>
            <a:off x="781050" y="57150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3FED16-8733-4C38-85D4-80FCFFC12C6F}"/>
              </a:ext>
            </a:extLst>
          </p:cNvPr>
          <p:cNvSpPr>
            <a:spLocks noGrp="1"/>
          </p:cNvSpPr>
          <p:nvPr/>
        </p:nvSpPr>
        <p:spPr>
          <a:xfrm>
            <a:off x="1028700" y="5619750"/>
            <a:ext cx="9086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Nearby affective states help explain confusions such as sad, fear, angry, and neutral.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ECA92F-93EA-4A95-9693-FCDB0B1BCC7C}"/>
              </a:ext>
            </a:extLst>
          </p:cNvPr>
          <p:cNvSpPr>
            <a:spLocks noGrp="1"/>
          </p:cNvSpPr>
          <p:nvPr/>
        </p:nvSpPr>
        <p:spPr>
          <a:xfrm>
            <a:off x="781050" y="61150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0D59C5-F3CE-4E61-B92A-04349CF824F2}"/>
              </a:ext>
            </a:extLst>
          </p:cNvPr>
          <p:cNvSpPr>
            <a:spLocks noGrp="1"/>
          </p:cNvSpPr>
          <p:nvPr/>
        </p:nvSpPr>
        <p:spPr>
          <a:xfrm>
            <a:off x="1028700" y="6019800"/>
            <a:ext cx="9086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motivates macro F1, per-class F1, and confusion analysis.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1E1011-05AE-42CB-30BA-F5CC577B9AAB}"/>
              </a:ext>
            </a:extLst>
          </p:cNvPr>
          <p:cNvSpPr txBox="1"/>
          <p:nvPr/>
        </p:nvSpPr>
        <p:spPr>
          <a:xfrm>
            <a:off x="914400" y="7848600"/>
            <a:ext cx="1320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E5F72"/>
                </a:solidFill>
                <a:latin typeface="Aptos" panose="020B0004020202020204" pitchFamily="34" charset="0"/>
              </a:rPr>
              <a:t>Takeaway: FER2013 requires augmentation, imbalance handling, macro/per-class F1, and confusion analysis.</a:t>
            </a:r>
          </a:p>
        </p:txBody>
      </p:sp>
    </p:spTree>
    <p:extLst>
      <p:ext uri="{BB962C8B-B14F-4D97-AF65-F5344CB8AC3E}">
        <p14:creationId xmlns:p14="http://schemas.microsoft.com/office/powerpoint/2010/main" val="183292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3471376-3F9E-4AF5-8A89-4D5BE0AE72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4A629E-F55B-48A3-A734-483442ED6B2D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DATASET AND PREPROCESSING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F5259-E5A0-47AF-B5B8-10C3E0C47B15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split is fixed, and validation is created from the training folder.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20311D-C390-415E-839E-B70648206763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6DF8D4-28EA-4039-AA73-0CCF5B63B54A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07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2A368B-CC38-44FE-96F5-953FB36E7DBF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CFA5AD-8755-4603-9832-97CE2E315AF0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FER2013 train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ABE74D-1DDB-42E3-B101-A51C0BBF2FA0}"/>
              </a:ext>
            </a:extLst>
          </p:cNvPr>
          <p:cNvSpPr>
            <a:spLocks noGrp="1"/>
          </p:cNvSpPr>
          <p:nvPr/>
        </p:nvSpPr>
        <p:spPr>
          <a:xfrm>
            <a:off x="2571750" y="2552700"/>
            <a:ext cx="25400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30A579-C31C-4CFD-A901-C31194288ED4}"/>
              </a:ext>
            </a:extLst>
          </p:cNvPr>
          <p:cNvSpPr>
            <a:spLocks noGrp="1"/>
          </p:cNvSpPr>
          <p:nvPr/>
        </p:nvSpPr>
        <p:spPr>
          <a:xfrm>
            <a:off x="2921000" y="23050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18BB72-0D11-4020-AAB3-94BB911D724A}"/>
              </a:ext>
            </a:extLst>
          </p:cNvPr>
          <p:cNvSpPr>
            <a:spLocks noGrp="1"/>
          </p:cNvSpPr>
          <p:nvPr/>
        </p:nvSpPr>
        <p:spPr>
          <a:xfrm>
            <a:off x="3016250" y="24003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fixed seed shuffle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96E083-9F5A-4559-B797-964CC9B32683}"/>
              </a:ext>
            </a:extLst>
          </p:cNvPr>
          <p:cNvSpPr>
            <a:spLocks noGrp="1"/>
          </p:cNvSpPr>
          <p:nvPr/>
        </p:nvSpPr>
        <p:spPr>
          <a:xfrm>
            <a:off x="4635500" y="2552700"/>
            <a:ext cx="25400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A83E46-93AC-47F3-A748-2EC4407289D1}"/>
              </a:ext>
            </a:extLst>
          </p:cNvPr>
          <p:cNvSpPr>
            <a:spLocks noGrp="1"/>
          </p:cNvSpPr>
          <p:nvPr/>
        </p:nvSpPr>
        <p:spPr>
          <a:xfrm>
            <a:off x="4984750" y="23050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B5C987-C755-4C9C-B24E-8B29E7A39D81}"/>
              </a:ext>
            </a:extLst>
          </p:cNvPr>
          <p:cNvSpPr>
            <a:spLocks noGrp="1"/>
          </p:cNvSpPr>
          <p:nvPr/>
        </p:nvSpPr>
        <p:spPr>
          <a:xfrm>
            <a:off x="5080000" y="24003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90% train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D97800-00B1-4252-9CAF-2CAEA1375CA0}"/>
              </a:ext>
            </a:extLst>
          </p:cNvPr>
          <p:cNvSpPr>
            <a:spLocks noGrp="1"/>
          </p:cNvSpPr>
          <p:nvPr/>
        </p:nvSpPr>
        <p:spPr>
          <a:xfrm>
            <a:off x="6699250" y="2552700"/>
            <a:ext cx="25400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AD08AF-0CBE-4DB7-8A5E-B829AB33415E}"/>
              </a:ext>
            </a:extLst>
          </p:cNvPr>
          <p:cNvSpPr>
            <a:spLocks noGrp="1"/>
          </p:cNvSpPr>
          <p:nvPr/>
        </p:nvSpPr>
        <p:spPr>
          <a:xfrm>
            <a:off x="7048500" y="23050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2448D-0BBF-4F1E-9F1E-8A4CDE5EE3BD}"/>
              </a:ext>
            </a:extLst>
          </p:cNvPr>
          <p:cNvSpPr>
            <a:spLocks noGrp="1"/>
          </p:cNvSpPr>
          <p:nvPr/>
        </p:nvSpPr>
        <p:spPr>
          <a:xfrm>
            <a:off x="7143750" y="24003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10% validation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4BB591-4181-4DEC-9A27-9ACDBE94F60E}"/>
              </a:ext>
            </a:extLst>
          </p:cNvPr>
          <p:cNvSpPr>
            <a:spLocks noGrp="1"/>
          </p:cNvSpPr>
          <p:nvPr/>
        </p:nvSpPr>
        <p:spPr>
          <a:xfrm>
            <a:off x="857250" y="34861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CCA573-8C6E-4590-8CC0-C46E5A8A6076}"/>
              </a:ext>
            </a:extLst>
          </p:cNvPr>
          <p:cNvSpPr>
            <a:spLocks noGrp="1"/>
          </p:cNvSpPr>
          <p:nvPr/>
        </p:nvSpPr>
        <p:spPr>
          <a:xfrm>
            <a:off x="952500" y="35814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FER2013 test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67A3DC-6206-4FA3-A4C6-B56AF73B7F51}"/>
              </a:ext>
            </a:extLst>
          </p:cNvPr>
          <p:cNvSpPr>
            <a:spLocks noGrp="1"/>
          </p:cNvSpPr>
          <p:nvPr/>
        </p:nvSpPr>
        <p:spPr>
          <a:xfrm>
            <a:off x="2571750" y="3733800"/>
            <a:ext cx="333375" cy="14288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91A2F1-581A-4EC2-A65D-A5146A260670}"/>
              </a:ext>
            </a:extLst>
          </p:cNvPr>
          <p:cNvSpPr>
            <a:spLocks noGrp="1"/>
          </p:cNvSpPr>
          <p:nvPr/>
        </p:nvSpPr>
        <p:spPr>
          <a:xfrm>
            <a:off x="3000375" y="34861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26FABD-6D5D-4D7D-A1F0-E4BAAE4F1883}"/>
              </a:ext>
            </a:extLst>
          </p:cNvPr>
          <p:cNvSpPr>
            <a:spLocks noGrp="1"/>
          </p:cNvSpPr>
          <p:nvPr/>
        </p:nvSpPr>
        <p:spPr>
          <a:xfrm>
            <a:off x="3095625" y="35814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stratified test indices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0C1938-1CEB-49D4-820E-9E7A0EA35D61}"/>
              </a:ext>
            </a:extLst>
          </p:cNvPr>
          <p:cNvSpPr>
            <a:spLocks noGrp="1"/>
          </p:cNvSpPr>
          <p:nvPr/>
        </p:nvSpPr>
        <p:spPr>
          <a:xfrm>
            <a:off x="4714875" y="3733800"/>
            <a:ext cx="333375" cy="14288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CC130F6-DA3E-46F7-BF60-A575E98C15B4}"/>
              </a:ext>
            </a:extLst>
          </p:cNvPr>
          <p:cNvSpPr>
            <a:spLocks noGrp="1"/>
          </p:cNvSpPr>
          <p:nvPr/>
        </p:nvSpPr>
        <p:spPr>
          <a:xfrm>
            <a:off x="5143500" y="3486150"/>
            <a:ext cx="16192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D11C108-51A9-44DF-846C-98948CA27220}"/>
              </a:ext>
            </a:extLst>
          </p:cNvPr>
          <p:cNvSpPr>
            <a:spLocks noGrp="1"/>
          </p:cNvSpPr>
          <p:nvPr/>
        </p:nvSpPr>
        <p:spPr>
          <a:xfrm>
            <a:off x="5238750" y="3581400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held-out test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60C6F2-8CBE-415B-AD86-F16B7214A382}"/>
              </a:ext>
            </a:extLst>
          </p:cNvPr>
          <p:cNvSpPr>
            <a:spLocks noGrp="1"/>
          </p:cNvSpPr>
          <p:nvPr/>
        </p:nvSpPr>
        <p:spPr>
          <a:xfrm>
            <a:off x="8858250" y="2343150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Sizes used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1F52E5-5096-444A-8064-7F42FFD82ED1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2190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train folder: 28,709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CCD16-A025-4125-9DB7-799338C5800E}"/>
              </a:ext>
            </a:extLst>
          </p:cNvPr>
          <p:cNvSpPr>
            <a:spLocks noGrp="1"/>
          </p:cNvSpPr>
          <p:nvPr/>
        </p:nvSpPr>
        <p:spPr>
          <a:xfrm>
            <a:off x="8858250" y="2990850"/>
            <a:ext cx="2190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test folder: 7,178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F2C026F-AD89-4DC0-B57E-1613735594E8}"/>
              </a:ext>
            </a:extLst>
          </p:cNvPr>
          <p:cNvSpPr>
            <a:spLocks noGrp="1"/>
          </p:cNvSpPr>
          <p:nvPr/>
        </p:nvSpPr>
        <p:spPr>
          <a:xfrm>
            <a:off x="8858250" y="3333750"/>
            <a:ext cx="2381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validation: 10% of train folder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1BFB93-74D7-492F-96BD-95B66D474849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3A62E-78CF-4FF8-9634-0C2F24523122}"/>
              </a:ext>
            </a:extLst>
          </p:cNvPr>
          <p:cNvSpPr>
            <a:spLocks noGrp="1"/>
          </p:cNvSpPr>
          <p:nvPr/>
        </p:nvSpPr>
        <p:spPr>
          <a:xfrm>
            <a:off x="1123950" y="4819650"/>
            <a:ext cx="83248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train/validation split is reproducible with seed 42.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A05A50-5DE5-479C-B610-5C6B668268BD}"/>
              </a:ext>
            </a:extLst>
          </p:cNvPr>
          <p:cNvSpPr>
            <a:spLocks noGrp="1"/>
          </p:cNvSpPr>
          <p:nvPr/>
        </p:nvSpPr>
        <p:spPr>
          <a:xfrm>
            <a:off x="876300" y="53530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B6F593F-E230-4A25-9B64-699FBF28DC1B}"/>
              </a:ext>
            </a:extLst>
          </p:cNvPr>
          <p:cNvSpPr>
            <a:spLocks noGrp="1"/>
          </p:cNvSpPr>
          <p:nvPr/>
        </p:nvSpPr>
        <p:spPr>
          <a:xfrm>
            <a:off x="1123950" y="5257800"/>
            <a:ext cx="83248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Smoke-test subsets, when used, are class-stratified.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A736E9-63DE-4FD1-AF4C-A6514043C1CF}"/>
              </a:ext>
            </a:extLst>
          </p:cNvPr>
          <p:cNvSpPr>
            <a:spLocks noGrp="1"/>
          </p:cNvSpPr>
          <p:nvPr/>
        </p:nvSpPr>
        <p:spPr>
          <a:xfrm>
            <a:off x="876300" y="57912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43A006-4CFB-4714-88D9-CFB946A08E6B}"/>
              </a:ext>
            </a:extLst>
          </p:cNvPr>
          <p:cNvSpPr>
            <a:spLocks noGrp="1"/>
          </p:cNvSpPr>
          <p:nvPr/>
        </p:nvSpPr>
        <p:spPr>
          <a:xfrm>
            <a:off x="1123950" y="5695950"/>
            <a:ext cx="83248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Weighted sampling and oversampling are applied only to the training subset.</a:t>
            </a:r>
          </a:p>
        </p:txBody>
      </p:sp>
    </p:spTree>
    <p:extLst>
      <p:ext uri="{BB962C8B-B14F-4D97-AF65-F5344CB8AC3E}">
        <p14:creationId xmlns:p14="http://schemas.microsoft.com/office/powerpoint/2010/main" val="2026613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0C02B02-64EF-47FD-B260-5F392D89B6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18C914-3CA6-4882-A3A0-F41962956532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DATASET AND PREPROCESSING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2F7A04-1F83-4D82-B416-09DE90E388EA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Input preprocessing depends on whether the model is trained from scratch or pretrained.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5757F0-1C50-4214-AF8C-20EE897437F6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BAEBA2-A995-4076-B731-A2088A36DC6D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08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0AF09C-0EAB-46C6-804A-C279804F971C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CUSTOM CNN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2E1172-7692-4986-9640-EFB42986B366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3429000" cy="14288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28F5AF-C7F7-4970-A2DB-7D7D3BCDE4F6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BC5B44-0DC7-4CB8-BBBC-5C7048E8F64F}"/>
              </a:ext>
            </a:extLst>
          </p:cNvPr>
          <p:cNvSpPr>
            <a:spLocks noGrp="1"/>
          </p:cNvSpPr>
          <p:nvPr/>
        </p:nvSpPr>
        <p:spPr>
          <a:xfrm>
            <a:off x="1028700" y="2667000"/>
            <a:ext cx="3467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48x48 grayscale input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F16836-6961-40D3-94CB-88C3D5111147}"/>
              </a:ext>
            </a:extLst>
          </p:cNvPr>
          <p:cNvSpPr>
            <a:spLocks noGrp="1"/>
          </p:cNvSpPr>
          <p:nvPr/>
        </p:nvSpPr>
        <p:spPr>
          <a:xfrm>
            <a:off x="781050" y="32575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BC4165-FE28-4BD5-BB3B-771021B0744E}"/>
              </a:ext>
            </a:extLst>
          </p:cNvPr>
          <p:cNvSpPr>
            <a:spLocks noGrp="1"/>
          </p:cNvSpPr>
          <p:nvPr/>
        </p:nvSpPr>
        <p:spPr>
          <a:xfrm>
            <a:off x="1028700" y="3162300"/>
            <a:ext cx="3467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random crop and horizontal flip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0D4ABB-E821-4CE7-9044-3AF95E407EF9}"/>
              </a:ext>
            </a:extLst>
          </p:cNvPr>
          <p:cNvSpPr>
            <a:spLocks noGrp="1"/>
          </p:cNvSpPr>
          <p:nvPr/>
        </p:nvSpPr>
        <p:spPr>
          <a:xfrm>
            <a:off x="781050" y="37528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F2368E-0421-4D0C-BE2B-D48B7F060A9D}"/>
              </a:ext>
            </a:extLst>
          </p:cNvPr>
          <p:cNvSpPr>
            <a:spLocks noGrp="1"/>
          </p:cNvSpPr>
          <p:nvPr/>
        </p:nvSpPr>
        <p:spPr>
          <a:xfrm>
            <a:off x="1028700" y="3657600"/>
            <a:ext cx="3467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mean 0.5 / std 0.5 normalization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814144-444B-4D44-AB7C-2A207C34DEB7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RESNET18 AND EFFICIENTNET-B0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C11F9E-259A-4A31-9EDC-AD41CA906AD5}"/>
              </a:ext>
            </a:extLst>
          </p:cNvPr>
          <p:cNvSpPr>
            <a:spLocks noGrp="1"/>
          </p:cNvSpPr>
          <p:nvPr/>
        </p:nvSpPr>
        <p:spPr>
          <a:xfrm>
            <a:off x="723900" y="4800600"/>
            <a:ext cx="3429000" cy="14288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AEDEF9-7FD5-4E64-9F5D-DCDC0CF28B8E}"/>
              </a:ext>
            </a:extLst>
          </p:cNvPr>
          <p:cNvSpPr>
            <a:spLocks noGrp="1"/>
          </p:cNvSpPr>
          <p:nvPr/>
        </p:nvSpPr>
        <p:spPr>
          <a:xfrm>
            <a:off x="781050" y="520065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1B665B-1973-456B-9B2C-252765C2BBFD}"/>
              </a:ext>
            </a:extLst>
          </p:cNvPr>
          <p:cNvSpPr>
            <a:spLocks noGrp="1"/>
          </p:cNvSpPr>
          <p:nvPr/>
        </p:nvSpPr>
        <p:spPr>
          <a:xfrm>
            <a:off x="1028700" y="5105400"/>
            <a:ext cx="4705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same transfer preprocessing for both pretrained backbones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7572347-223E-4C09-AB3F-8E4AA24908F5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A8008F-ED69-4A2B-AAAB-0D3CCB92B4D2}"/>
              </a:ext>
            </a:extLst>
          </p:cNvPr>
          <p:cNvSpPr>
            <a:spLocks noGrp="1"/>
          </p:cNvSpPr>
          <p:nvPr/>
        </p:nvSpPr>
        <p:spPr>
          <a:xfrm>
            <a:off x="1028700" y="5467350"/>
            <a:ext cx="4705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resize to 224x224 and replicate grayscale to 3 channels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584A23-22E5-4A02-BFDE-E2080BD20F9A}"/>
              </a:ext>
            </a:extLst>
          </p:cNvPr>
          <p:cNvSpPr>
            <a:spLocks noGrp="1"/>
          </p:cNvSpPr>
          <p:nvPr/>
        </p:nvSpPr>
        <p:spPr>
          <a:xfrm>
            <a:off x="781050" y="592455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FEFD62-6426-4C82-A162-FF47965E207D}"/>
              </a:ext>
            </a:extLst>
          </p:cNvPr>
          <p:cNvSpPr>
            <a:spLocks noGrp="1"/>
          </p:cNvSpPr>
          <p:nvPr/>
        </p:nvSpPr>
        <p:spPr>
          <a:xfrm>
            <a:off x="1028700" y="5829300"/>
            <a:ext cx="4705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ImageNet normalization to match pretrained weights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69C2FE-306C-4108-AD38-11EE80830C11}"/>
              </a:ext>
            </a:extLst>
          </p:cNvPr>
          <p:cNvSpPr>
            <a:spLocks noGrp="1"/>
          </p:cNvSpPr>
          <p:nvPr/>
        </p:nvSpPr>
        <p:spPr>
          <a:xfrm>
            <a:off x="6115050" y="2324100"/>
            <a:ext cx="4629150" cy="2724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581065"/>
            <a:ext cx="4476750" cy="221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442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10C41C89-ABC4-4F29-BFAD-204D7794CB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7F921A-0A3D-4836-9F7A-4B73F5D8D1A8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95DC7C-CCC4-49E0-8F25-AB6BD2D8CEF7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methodology is built around controlled experiments.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EF4A51-90C7-4657-A8E8-09F8E104E716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F278F7-756A-4FFF-B783-84A0AA1E11CF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09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94F709-D268-493F-A0F0-72059D3D08EE}"/>
              </a:ext>
            </a:extLst>
          </p:cNvPr>
          <p:cNvSpPr>
            <a:spLocks noGrp="1"/>
          </p:cNvSpPr>
          <p:nvPr/>
        </p:nvSpPr>
        <p:spPr>
          <a:xfrm>
            <a:off x="781050" y="2247900"/>
            <a:ext cx="1524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391F66-CC47-4B8B-A4C3-5D4AA2C68A13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33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Fix split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18B42F-FF02-49D6-A808-E7C4CC189DCC}"/>
              </a:ext>
            </a:extLst>
          </p:cNvPr>
          <p:cNvSpPr>
            <a:spLocks noGrp="1"/>
          </p:cNvSpPr>
          <p:nvPr/>
        </p:nvSpPr>
        <p:spPr>
          <a:xfrm>
            <a:off x="2400300" y="2495550"/>
            <a:ext cx="238125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CF0FC9-E444-4DD8-A21B-3CFFA3301D2A}"/>
              </a:ext>
            </a:extLst>
          </p:cNvPr>
          <p:cNvSpPr>
            <a:spLocks noGrp="1"/>
          </p:cNvSpPr>
          <p:nvPr/>
        </p:nvSpPr>
        <p:spPr>
          <a:xfrm>
            <a:off x="2733675" y="2247900"/>
            <a:ext cx="1524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7F928B-01A5-4520-84AB-13199B24E6CC}"/>
              </a:ext>
            </a:extLst>
          </p:cNvPr>
          <p:cNvSpPr>
            <a:spLocks noGrp="1"/>
          </p:cNvSpPr>
          <p:nvPr/>
        </p:nvSpPr>
        <p:spPr>
          <a:xfrm>
            <a:off x="2828925" y="2343150"/>
            <a:ext cx="133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Change one factor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44700E-BE3A-4830-8786-BDC387578A24}"/>
              </a:ext>
            </a:extLst>
          </p:cNvPr>
          <p:cNvSpPr>
            <a:spLocks noGrp="1"/>
          </p:cNvSpPr>
          <p:nvPr/>
        </p:nvSpPr>
        <p:spPr>
          <a:xfrm>
            <a:off x="4352925" y="2495550"/>
            <a:ext cx="238125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7BFAE1-7D50-4A9D-8997-F3D2BD84D7EF}"/>
              </a:ext>
            </a:extLst>
          </p:cNvPr>
          <p:cNvSpPr>
            <a:spLocks noGrp="1"/>
          </p:cNvSpPr>
          <p:nvPr/>
        </p:nvSpPr>
        <p:spPr>
          <a:xfrm>
            <a:off x="4686300" y="2247900"/>
            <a:ext cx="1524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EDF0ED-C13B-4731-9F8B-CF6C8AD30284}"/>
              </a:ext>
            </a:extLst>
          </p:cNvPr>
          <p:cNvSpPr>
            <a:spLocks noGrp="1"/>
          </p:cNvSpPr>
          <p:nvPr/>
        </p:nvSpPr>
        <p:spPr>
          <a:xfrm>
            <a:off x="4781550" y="2343150"/>
            <a:ext cx="133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Train / select checkpoint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6FB95E-E12A-4E08-BF03-5359993FAD81}"/>
              </a:ext>
            </a:extLst>
          </p:cNvPr>
          <p:cNvSpPr>
            <a:spLocks noGrp="1"/>
          </p:cNvSpPr>
          <p:nvPr/>
        </p:nvSpPr>
        <p:spPr>
          <a:xfrm>
            <a:off x="6305550" y="2495550"/>
            <a:ext cx="238125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7E3B7-B604-4204-8CE7-0C537CDA61E7}"/>
              </a:ext>
            </a:extLst>
          </p:cNvPr>
          <p:cNvSpPr>
            <a:spLocks noGrp="1"/>
          </p:cNvSpPr>
          <p:nvPr/>
        </p:nvSpPr>
        <p:spPr>
          <a:xfrm>
            <a:off x="6638925" y="2247900"/>
            <a:ext cx="1524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D16512-4E5A-4795-8AC0-C28443E3A043}"/>
              </a:ext>
            </a:extLst>
          </p:cNvPr>
          <p:cNvSpPr>
            <a:spLocks noGrp="1"/>
          </p:cNvSpPr>
          <p:nvPr/>
        </p:nvSpPr>
        <p:spPr>
          <a:xfrm>
            <a:off x="6734175" y="2343150"/>
            <a:ext cx="133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Evaluate same metrics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0CA1B-D0A4-4965-B391-A9182660079F}"/>
              </a:ext>
            </a:extLst>
          </p:cNvPr>
          <p:cNvSpPr>
            <a:spLocks noGrp="1"/>
          </p:cNvSpPr>
          <p:nvPr/>
        </p:nvSpPr>
        <p:spPr>
          <a:xfrm>
            <a:off x="8258175" y="2495550"/>
            <a:ext cx="238125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7EB839-5528-4F5E-BDC9-6F2C69D56BD5}"/>
              </a:ext>
            </a:extLst>
          </p:cNvPr>
          <p:cNvSpPr>
            <a:spLocks noGrp="1"/>
          </p:cNvSpPr>
          <p:nvPr/>
        </p:nvSpPr>
        <p:spPr>
          <a:xfrm>
            <a:off x="8591550" y="2247900"/>
            <a:ext cx="1524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5C9C97-45B9-4199-B9DF-6E2073162D04}"/>
              </a:ext>
            </a:extLst>
          </p:cNvPr>
          <p:cNvSpPr>
            <a:spLocks noGrp="1"/>
          </p:cNvSpPr>
          <p:nvPr/>
        </p:nvSpPr>
        <p:spPr>
          <a:xfrm>
            <a:off x="8686800" y="2343150"/>
            <a:ext cx="133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Analyze errors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9D9E41-7932-4E02-B1BA-13F7161FC643}"/>
              </a:ext>
            </a:extLst>
          </p:cNvPr>
          <p:cNvSpPr>
            <a:spLocks noGrp="1"/>
          </p:cNvSpPr>
          <p:nvPr/>
        </p:nvSpPr>
        <p:spPr>
          <a:xfrm>
            <a:off x="876300" y="36957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F7B451-A0B2-4ADB-9A6C-AF676E65FC39}"/>
              </a:ext>
            </a:extLst>
          </p:cNvPr>
          <p:cNvSpPr>
            <a:spLocks noGrp="1"/>
          </p:cNvSpPr>
          <p:nvPr/>
        </p:nvSpPr>
        <p:spPr>
          <a:xfrm>
            <a:off x="1123950" y="3600450"/>
            <a:ext cx="8896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experiment compares model families under consistent train/validation/test logic.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43427D-915D-4CFC-9497-08E07FBB74A6}"/>
              </a:ext>
            </a:extLst>
          </p:cNvPr>
          <p:cNvSpPr>
            <a:spLocks noGrp="1"/>
          </p:cNvSpPr>
          <p:nvPr/>
        </p:nvSpPr>
        <p:spPr>
          <a:xfrm>
            <a:off x="876300" y="44005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D3D301-7553-4F00-82F4-C419C90D83E8}"/>
              </a:ext>
            </a:extLst>
          </p:cNvPr>
          <p:cNvSpPr>
            <a:spLocks noGrp="1"/>
          </p:cNvSpPr>
          <p:nvPr/>
        </p:nvSpPr>
        <p:spPr>
          <a:xfrm>
            <a:off x="1123950" y="4305300"/>
            <a:ext cx="8896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Variables include architecture, imbalance handling, loss function, optimizer, fine-tuning depth, and crop/TenCrop evaluation.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B306F0-E9B9-435B-AA3F-4AC695FA57E9}"/>
              </a:ext>
            </a:extLst>
          </p:cNvPr>
          <p:cNvSpPr>
            <a:spLocks noGrp="1"/>
          </p:cNvSpPr>
          <p:nvPr/>
        </p:nvSpPr>
        <p:spPr>
          <a:xfrm>
            <a:off x="876300" y="51054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F33706-C028-40FD-B6A8-BA0E14216FF0}"/>
              </a:ext>
            </a:extLst>
          </p:cNvPr>
          <p:cNvSpPr>
            <a:spLocks noGrp="1"/>
          </p:cNvSpPr>
          <p:nvPr/>
        </p:nvSpPr>
        <p:spPr>
          <a:xfrm>
            <a:off x="1123950" y="5010150"/>
            <a:ext cx="8896350" cy="5829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same evidence types are reported: macro F1, weighted F1, per-class F1, loss curves, and confusion matrices.</a:t>
            </a:r>
          </a:p>
        </p:txBody>
      </p:sp>
    </p:spTree>
    <p:extLst>
      <p:ext uri="{BB962C8B-B14F-4D97-AF65-F5344CB8AC3E}">
        <p14:creationId xmlns:p14="http://schemas.microsoft.com/office/powerpoint/2010/main" val="1598589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F4CB95BC-0227-46BE-A4DA-B84B155C37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E91556-1D1D-4ECA-9768-8E85A4970211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FEFA3E-0B83-4E04-A956-3D2967213506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Architecture: custom CNN baseline trained from scratch.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D8B683-A0B1-4879-B9D4-F7996EE03857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636FCD-0B74-45C5-89FC-DA995A1974EF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10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19F5C8-8DDF-4E53-A170-7E09CBB4746A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AD24EC-C0AD-4C9B-927D-D50E27682CB2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48x48x1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728183-755F-4BB3-926B-424ECDD8DC57}"/>
              </a:ext>
            </a:extLst>
          </p:cNvPr>
          <p:cNvSpPr>
            <a:spLocks noGrp="1"/>
          </p:cNvSpPr>
          <p:nvPr/>
        </p:nvSpPr>
        <p:spPr>
          <a:xfrm>
            <a:off x="1733550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E8508D-EB94-4DFF-93D3-BC108BD8C1F0}"/>
              </a:ext>
            </a:extLst>
          </p:cNvPr>
          <p:cNvSpPr>
            <a:spLocks noGrp="1"/>
          </p:cNvSpPr>
          <p:nvPr/>
        </p:nvSpPr>
        <p:spPr>
          <a:xfrm>
            <a:off x="1807369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BCC4C5-DEFD-4CCC-BAC6-282588CCDF9D}"/>
              </a:ext>
            </a:extLst>
          </p:cNvPr>
          <p:cNvSpPr>
            <a:spLocks noGrp="1"/>
          </p:cNvSpPr>
          <p:nvPr/>
        </p:nvSpPr>
        <p:spPr>
          <a:xfrm>
            <a:off x="1902619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3x3 conv 32 x2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5AEBF9-57F4-418B-AD1D-2BF83AFCF845}"/>
              </a:ext>
            </a:extLst>
          </p:cNvPr>
          <p:cNvSpPr>
            <a:spLocks noGrp="1"/>
          </p:cNvSpPr>
          <p:nvPr/>
        </p:nvSpPr>
        <p:spPr>
          <a:xfrm>
            <a:off x="2874169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0A669D-3475-422A-83E7-36E3ADC919CE}"/>
              </a:ext>
            </a:extLst>
          </p:cNvPr>
          <p:cNvSpPr>
            <a:spLocks noGrp="1"/>
          </p:cNvSpPr>
          <p:nvPr/>
        </p:nvSpPr>
        <p:spPr>
          <a:xfrm>
            <a:off x="2947988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7ABF4-DC98-4B82-8821-8613E26DBC55}"/>
              </a:ext>
            </a:extLst>
          </p:cNvPr>
          <p:cNvSpPr>
            <a:spLocks noGrp="1"/>
          </p:cNvSpPr>
          <p:nvPr/>
        </p:nvSpPr>
        <p:spPr>
          <a:xfrm>
            <a:off x="3043238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MaxPool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599B3-661D-4749-B7C8-C6F6DAA02AB9}"/>
              </a:ext>
            </a:extLst>
          </p:cNvPr>
          <p:cNvSpPr>
            <a:spLocks noGrp="1"/>
          </p:cNvSpPr>
          <p:nvPr/>
        </p:nvSpPr>
        <p:spPr>
          <a:xfrm>
            <a:off x="4014788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AE00B2-AC37-4B70-81FA-5FA7858784E4}"/>
              </a:ext>
            </a:extLst>
          </p:cNvPr>
          <p:cNvSpPr>
            <a:spLocks noGrp="1"/>
          </p:cNvSpPr>
          <p:nvPr/>
        </p:nvSpPr>
        <p:spPr>
          <a:xfrm>
            <a:off x="4088606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6B8FAE-DC26-410E-8831-9BAD9B726487}"/>
              </a:ext>
            </a:extLst>
          </p:cNvPr>
          <p:cNvSpPr>
            <a:spLocks noGrp="1"/>
          </p:cNvSpPr>
          <p:nvPr/>
        </p:nvSpPr>
        <p:spPr>
          <a:xfrm>
            <a:off x="4183856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3x3 conv 64 x2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7BA1DA-AC2D-41F4-B5BA-FC35F02C51B0}"/>
              </a:ext>
            </a:extLst>
          </p:cNvPr>
          <p:cNvSpPr>
            <a:spLocks noGrp="1"/>
          </p:cNvSpPr>
          <p:nvPr/>
        </p:nvSpPr>
        <p:spPr>
          <a:xfrm>
            <a:off x="5155406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C58827-EEBF-4BB6-879C-8FFFADFEFD50}"/>
              </a:ext>
            </a:extLst>
          </p:cNvPr>
          <p:cNvSpPr>
            <a:spLocks noGrp="1"/>
          </p:cNvSpPr>
          <p:nvPr/>
        </p:nvSpPr>
        <p:spPr>
          <a:xfrm>
            <a:off x="5229225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262979-F3EB-4D57-99DC-E963377AACFB}"/>
              </a:ext>
            </a:extLst>
          </p:cNvPr>
          <p:cNvSpPr>
            <a:spLocks noGrp="1"/>
          </p:cNvSpPr>
          <p:nvPr/>
        </p:nvSpPr>
        <p:spPr>
          <a:xfrm>
            <a:off x="5324475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MaxPool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20E966-95FD-4EB4-96A8-AAD0CC4E2972}"/>
              </a:ext>
            </a:extLst>
          </p:cNvPr>
          <p:cNvSpPr>
            <a:spLocks noGrp="1"/>
          </p:cNvSpPr>
          <p:nvPr/>
        </p:nvSpPr>
        <p:spPr>
          <a:xfrm>
            <a:off x="6296025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A75690-A7FC-404E-ABFE-AC99E8DC6169}"/>
              </a:ext>
            </a:extLst>
          </p:cNvPr>
          <p:cNvSpPr>
            <a:spLocks noGrp="1"/>
          </p:cNvSpPr>
          <p:nvPr/>
        </p:nvSpPr>
        <p:spPr>
          <a:xfrm>
            <a:off x="6369844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DF6611-3050-439F-93D5-8038BE4E441E}"/>
              </a:ext>
            </a:extLst>
          </p:cNvPr>
          <p:cNvSpPr>
            <a:spLocks noGrp="1"/>
          </p:cNvSpPr>
          <p:nvPr/>
        </p:nvSpPr>
        <p:spPr>
          <a:xfrm>
            <a:off x="6465094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3x3 conv 128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6A04210-F58A-4200-AF21-27515EBD5F7B}"/>
              </a:ext>
            </a:extLst>
          </p:cNvPr>
          <p:cNvSpPr>
            <a:spLocks noGrp="1"/>
          </p:cNvSpPr>
          <p:nvPr/>
        </p:nvSpPr>
        <p:spPr>
          <a:xfrm>
            <a:off x="7436644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88C891-DD93-46C7-8755-C2E883E51852}"/>
              </a:ext>
            </a:extLst>
          </p:cNvPr>
          <p:cNvSpPr>
            <a:spLocks noGrp="1"/>
          </p:cNvSpPr>
          <p:nvPr/>
        </p:nvSpPr>
        <p:spPr>
          <a:xfrm>
            <a:off x="7510463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789EE2-6FFB-4B93-B916-A7D958E17CAB}"/>
              </a:ext>
            </a:extLst>
          </p:cNvPr>
          <p:cNvSpPr>
            <a:spLocks noGrp="1"/>
          </p:cNvSpPr>
          <p:nvPr/>
        </p:nvSpPr>
        <p:spPr>
          <a:xfrm>
            <a:off x="7605713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MaxPool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8119E0B-0BAC-4FB5-815C-B433828734A5}"/>
              </a:ext>
            </a:extLst>
          </p:cNvPr>
          <p:cNvSpPr>
            <a:spLocks noGrp="1"/>
          </p:cNvSpPr>
          <p:nvPr/>
        </p:nvSpPr>
        <p:spPr>
          <a:xfrm>
            <a:off x="8577263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CBBFC3-98A5-4F94-B502-E2F9267E41CA}"/>
              </a:ext>
            </a:extLst>
          </p:cNvPr>
          <p:cNvSpPr>
            <a:spLocks noGrp="1"/>
          </p:cNvSpPr>
          <p:nvPr/>
        </p:nvSpPr>
        <p:spPr>
          <a:xfrm>
            <a:off x="8651081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3416CF-D303-4769-9A70-5D49F63C9465}"/>
              </a:ext>
            </a:extLst>
          </p:cNvPr>
          <p:cNvSpPr>
            <a:spLocks noGrp="1"/>
          </p:cNvSpPr>
          <p:nvPr/>
        </p:nvSpPr>
        <p:spPr>
          <a:xfrm>
            <a:off x="8746331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FC 256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6CA3B6-EBA4-4220-BE54-4A08CCA4AE3B}"/>
              </a:ext>
            </a:extLst>
          </p:cNvPr>
          <p:cNvSpPr>
            <a:spLocks noGrp="1"/>
          </p:cNvSpPr>
          <p:nvPr/>
        </p:nvSpPr>
        <p:spPr>
          <a:xfrm>
            <a:off x="9717881" y="262890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E0418FC-5938-4B3E-ADBB-588DF3E044A6}"/>
              </a:ext>
            </a:extLst>
          </p:cNvPr>
          <p:cNvSpPr>
            <a:spLocks noGrp="1"/>
          </p:cNvSpPr>
          <p:nvPr/>
        </p:nvSpPr>
        <p:spPr>
          <a:xfrm>
            <a:off x="9791700" y="2381250"/>
            <a:ext cx="97155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86AB3-D043-43BB-83FC-B61857F00CF9}"/>
              </a:ext>
            </a:extLst>
          </p:cNvPr>
          <p:cNvSpPr>
            <a:spLocks noGrp="1"/>
          </p:cNvSpPr>
          <p:nvPr/>
        </p:nvSpPr>
        <p:spPr>
          <a:xfrm>
            <a:off x="9886950" y="2476500"/>
            <a:ext cx="781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7 logits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60B5DA-AB71-4563-B739-173B24D1A06A}"/>
              </a:ext>
            </a:extLst>
          </p:cNvPr>
          <p:cNvSpPr>
            <a:spLocks noGrp="1"/>
          </p:cNvSpPr>
          <p:nvPr/>
        </p:nvSpPr>
        <p:spPr>
          <a:xfrm>
            <a:off x="876300" y="34290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BaselineCNN implementation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2EF71E-BBBC-4348-B393-7E3E10A9E0E0}"/>
              </a:ext>
            </a:extLst>
          </p:cNvPr>
          <p:cNvSpPr>
            <a:spLocks noGrp="1"/>
          </p:cNvSpPr>
          <p:nvPr/>
        </p:nvSpPr>
        <p:spPr>
          <a:xfrm>
            <a:off x="914400" y="40195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AE314B-5263-4224-B46C-7EFCB62B87F2}"/>
              </a:ext>
            </a:extLst>
          </p:cNvPr>
          <p:cNvSpPr>
            <a:spLocks noGrp="1"/>
          </p:cNvSpPr>
          <p:nvPr/>
        </p:nvSpPr>
        <p:spPr>
          <a:xfrm>
            <a:off x="1162050" y="3924300"/>
            <a:ext cx="87058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Feature channels: 32, 64, 128.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9462A84-E66D-4174-A4D5-142CE7232097}"/>
              </a:ext>
            </a:extLst>
          </p:cNvPr>
          <p:cNvSpPr>
            <a:spLocks noGrp="1"/>
          </p:cNvSpPr>
          <p:nvPr/>
        </p:nvSpPr>
        <p:spPr>
          <a:xfrm>
            <a:off x="914400" y="45339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C66382F-1E99-4400-A28B-2DA2B48B7E79}"/>
              </a:ext>
            </a:extLst>
          </p:cNvPr>
          <p:cNvSpPr>
            <a:spLocks noGrp="1"/>
          </p:cNvSpPr>
          <p:nvPr/>
        </p:nvSpPr>
        <p:spPr>
          <a:xfrm>
            <a:off x="1162050" y="4438650"/>
            <a:ext cx="87058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Convolution filters: 3x3, padding 1; block depths: 2, 2, 1.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09E5B8-A99B-4926-87D4-A4CD4AB5EB44}"/>
              </a:ext>
            </a:extLst>
          </p:cNvPr>
          <p:cNvSpPr>
            <a:spLocks noGrp="1"/>
          </p:cNvSpPr>
          <p:nvPr/>
        </p:nvSpPr>
        <p:spPr>
          <a:xfrm>
            <a:off x="914400" y="50482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D5C72-0907-443D-83B5-1F90F0BCC66D}"/>
              </a:ext>
            </a:extLst>
          </p:cNvPr>
          <p:cNvSpPr>
            <a:spLocks noGrp="1"/>
          </p:cNvSpPr>
          <p:nvPr/>
        </p:nvSpPr>
        <p:spPr>
          <a:xfrm>
            <a:off x="1162050" y="4953000"/>
            <a:ext cx="87058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Dropout2d after early pooling blocks; dropout before classifier output.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5979EA-95D7-4104-98C3-82B66C4A1A29}"/>
              </a:ext>
            </a:extLst>
          </p:cNvPr>
          <p:cNvSpPr>
            <a:spLocks noGrp="1"/>
          </p:cNvSpPr>
          <p:nvPr/>
        </p:nvSpPr>
        <p:spPr>
          <a:xfrm>
            <a:off x="914400" y="55626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FE89B1-5419-4D39-AA22-5634441BF75C}"/>
              </a:ext>
            </a:extLst>
          </p:cNvPr>
          <p:cNvSpPr>
            <a:spLocks noGrp="1"/>
          </p:cNvSpPr>
          <p:nvPr/>
        </p:nvSpPr>
        <p:spPr>
          <a:xfrm>
            <a:off x="1162050" y="5467350"/>
            <a:ext cx="87058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Purpose: establish a reproducible from-scratch baseline.</a:t>
            </a:r>
          </a:p>
        </p:txBody>
      </p:sp>
    </p:spTree>
    <p:extLst>
      <p:ext uri="{BB962C8B-B14F-4D97-AF65-F5344CB8AC3E}">
        <p14:creationId xmlns:p14="http://schemas.microsoft.com/office/powerpoint/2010/main" val="25384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1BE5EA2E-CDEC-4B0E-8DEF-CF8D425CA7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CF154D-FF26-4644-9BDB-048F8CA86DE7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6A361-3355-4064-8741-B3A5524ECA58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Architecture: ResNet18 transfer learning.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4F0C03-36FD-4B8B-9811-7A7CBE0C0366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F4B766-CF06-40B1-BB3C-548579515C63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11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246166-9874-4026-AE01-2CD4C79237A7}"/>
              </a:ext>
            </a:extLst>
          </p:cNvPr>
          <p:cNvSpPr>
            <a:spLocks noGrp="1"/>
          </p:cNvSpPr>
          <p:nvPr/>
        </p:nvSpPr>
        <p:spPr>
          <a:xfrm>
            <a:off x="8572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8F3014-F231-4FE3-957E-A090E64B2D67}"/>
              </a:ext>
            </a:extLst>
          </p:cNvPr>
          <p:cNvSpPr>
            <a:spLocks noGrp="1"/>
          </p:cNvSpPr>
          <p:nvPr/>
        </p:nvSpPr>
        <p:spPr>
          <a:xfrm>
            <a:off x="9525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224x224x3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C0F25B-1A75-45DF-871E-4E7A05AE471F}"/>
              </a:ext>
            </a:extLst>
          </p:cNvPr>
          <p:cNvSpPr>
            <a:spLocks noGrp="1"/>
          </p:cNvSpPr>
          <p:nvPr/>
        </p:nvSpPr>
        <p:spPr>
          <a:xfrm>
            <a:off x="20193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BD7270-4A0E-45B3-BACA-036AA76055F5}"/>
              </a:ext>
            </a:extLst>
          </p:cNvPr>
          <p:cNvSpPr>
            <a:spLocks noGrp="1"/>
          </p:cNvSpPr>
          <p:nvPr/>
        </p:nvSpPr>
        <p:spPr>
          <a:xfrm>
            <a:off x="20383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B7B91E-9F10-4CDA-9AB7-3CD77C9CDDFD}"/>
              </a:ext>
            </a:extLst>
          </p:cNvPr>
          <p:cNvSpPr>
            <a:spLocks noGrp="1"/>
          </p:cNvSpPr>
          <p:nvPr/>
        </p:nvSpPr>
        <p:spPr>
          <a:xfrm>
            <a:off x="21336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7x7 stem conv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DF9851-FC6D-408E-B1C8-6308A6C53B10}"/>
              </a:ext>
            </a:extLst>
          </p:cNvPr>
          <p:cNvSpPr>
            <a:spLocks noGrp="1"/>
          </p:cNvSpPr>
          <p:nvPr/>
        </p:nvSpPr>
        <p:spPr>
          <a:xfrm>
            <a:off x="32004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4BEC9C-2908-4934-BCE6-464CE38CA9BA}"/>
              </a:ext>
            </a:extLst>
          </p:cNvPr>
          <p:cNvSpPr>
            <a:spLocks noGrp="1"/>
          </p:cNvSpPr>
          <p:nvPr/>
        </p:nvSpPr>
        <p:spPr>
          <a:xfrm>
            <a:off x="32194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A382D9-4833-423E-B8E2-534E4BDD42DC}"/>
              </a:ext>
            </a:extLst>
          </p:cNvPr>
          <p:cNvSpPr>
            <a:spLocks noGrp="1"/>
          </p:cNvSpPr>
          <p:nvPr/>
        </p:nvSpPr>
        <p:spPr>
          <a:xfrm>
            <a:off x="33147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3x3 residual blocks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120E97-AC4C-48D9-849D-5FA73238AE5E}"/>
              </a:ext>
            </a:extLst>
          </p:cNvPr>
          <p:cNvSpPr>
            <a:spLocks noGrp="1"/>
          </p:cNvSpPr>
          <p:nvPr/>
        </p:nvSpPr>
        <p:spPr>
          <a:xfrm>
            <a:off x="43815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FD247-08D6-44E7-9ECF-3988C7251D2B}"/>
              </a:ext>
            </a:extLst>
          </p:cNvPr>
          <p:cNvSpPr>
            <a:spLocks noGrp="1"/>
          </p:cNvSpPr>
          <p:nvPr/>
        </p:nvSpPr>
        <p:spPr>
          <a:xfrm>
            <a:off x="44005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252135-3985-43E7-80AE-9D7D13918669}"/>
              </a:ext>
            </a:extLst>
          </p:cNvPr>
          <p:cNvSpPr>
            <a:spLocks noGrp="1"/>
          </p:cNvSpPr>
          <p:nvPr/>
        </p:nvSpPr>
        <p:spPr>
          <a:xfrm>
            <a:off x="44958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layer2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1D7A42-AB31-43E5-904E-AE3C7C394C39}"/>
              </a:ext>
            </a:extLst>
          </p:cNvPr>
          <p:cNvSpPr>
            <a:spLocks noGrp="1"/>
          </p:cNvSpPr>
          <p:nvPr/>
        </p:nvSpPr>
        <p:spPr>
          <a:xfrm>
            <a:off x="55626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885F9B-B104-4005-8EFF-025035765333}"/>
              </a:ext>
            </a:extLst>
          </p:cNvPr>
          <p:cNvSpPr>
            <a:spLocks noGrp="1"/>
          </p:cNvSpPr>
          <p:nvPr/>
        </p:nvSpPr>
        <p:spPr>
          <a:xfrm>
            <a:off x="55816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33960B-0ABB-4697-9C72-8F87138674EE}"/>
              </a:ext>
            </a:extLst>
          </p:cNvPr>
          <p:cNvSpPr>
            <a:spLocks noGrp="1"/>
          </p:cNvSpPr>
          <p:nvPr/>
        </p:nvSpPr>
        <p:spPr>
          <a:xfrm>
            <a:off x="56769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layer3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B32406-03AE-4E08-985D-5C4D555E3C67}"/>
              </a:ext>
            </a:extLst>
          </p:cNvPr>
          <p:cNvSpPr>
            <a:spLocks noGrp="1"/>
          </p:cNvSpPr>
          <p:nvPr/>
        </p:nvSpPr>
        <p:spPr>
          <a:xfrm>
            <a:off x="67437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EEB58F-1F65-4C1D-9423-693A99CA5C26}"/>
              </a:ext>
            </a:extLst>
          </p:cNvPr>
          <p:cNvSpPr>
            <a:spLocks noGrp="1"/>
          </p:cNvSpPr>
          <p:nvPr/>
        </p:nvSpPr>
        <p:spPr>
          <a:xfrm>
            <a:off x="67627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EC384B-63F6-4A2E-994F-B78122516350}"/>
              </a:ext>
            </a:extLst>
          </p:cNvPr>
          <p:cNvSpPr>
            <a:spLocks noGrp="1"/>
          </p:cNvSpPr>
          <p:nvPr/>
        </p:nvSpPr>
        <p:spPr>
          <a:xfrm>
            <a:off x="68580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layer4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0CB7F23-30B7-4E42-9AFC-0C18CBFAF925}"/>
              </a:ext>
            </a:extLst>
          </p:cNvPr>
          <p:cNvSpPr>
            <a:spLocks noGrp="1"/>
          </p:cNvSpPr>
          <p:nvPr/>
        </p:nvSpPr>
        <p:spPr>
          <a:xfrm>
            <a:off x="79248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052317-7762-4033-808B-69705CE710EA}"/>
              </a:ext>
            </a:extLst>
          </p:cNvPr>
          <p:cNvSpPr>
            <a:spLocks noGrp="1"/>
          </p:cNvSpPr>
          <p:nvPr/>
        </p:nvSpPr>
        <p:spPr>
          <a:xfrm>
            <a:off x="79438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B3AD9F-97D7-41B6-9368-85DF16CF1DC3}"/>
              </a:ext>
            </a:extLst>
          </p:cNvPr>
          <p:cNvSpPr>
            <a:spLocks noGrp="1"/>
          </p:cNvSpPr>
          <p:nvPr/>
        </p:nvSpPr>
        <p:spPr>
          <a:xfrm>
            <a:off x="80391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FC head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24D4A2-E0FD-4679-98DD-3879C0C6BB1B}"/>
              </a:ext>
            </a:extLst>
          </p:cNvPr>
          <p:cNvSpPr>
            <a:spLocks noGrp="1"/>
          </p:cNvSpPr>
          <p:nvPr/>
        </p:nvSpPr>
        <p:spPr>
          <a:xfrm>
            <a:off x="91059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0245C2A-AF76-4BCF-9A3E-5164E6C4DC23}"/>
              </a:ext>
            </a:extLst>
          </p:cNvPr>
          <p:cNvSpPr>
            <a:spLocks noGrp="1"/>
          </p:cNvSpPr>
          <p:nvPr/>
        </p:nvSpPr>
        <p:spPr>
          <a:xfrm>
            <a:off x="9124950" y="2362200"/>
            <a:ext cx="10668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535736C-8089-47B0-B020-B43187998932}"/>
              </a:ext>
            </a:extLst>
          </p:cNvPr>
          <p:cNvSpPr>
            <a:spLocks noGrp="1"/>
          </p:cNvSpPr>
          <p:nvPr/>
        </p:nvSpPr>
        <p:spPr>
          <a:xfrm>
            <a:off x="9220200" y="2457450"/>
            <a:ext cx="87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7 logits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CFAC9A-2A6B-4B0D-88A8-F9265F19B3C3}"/>
              </a:ext>
            </a:extLst>
          </p:cNvPr>
          <p:cNvSpPr>
            <a:spLocks noGrp="1"/>
          </p:cNvSpPr>
          <p:nvPr/>
        </p:nvSpPr>
        <p:spPr>
          <a:xfrm>
            <a:off x="876300" y="34290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Fine-tuning design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3C2C3D-88F0-479C-B067-CEB50FC8B5B4}"/>
              </a:ext>
            </a:extLst>
          </p:cNvPr>
          <p:cNvSpPr>
            <a:spLocks noGrp="1"/>
          </p:cNvSpPr>
          <p:nvPr/>
        </p:nvSpPr>
        <p:spPr>
          <a:xfrm>
            <a:off x="914400" y="40386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7DBAEA-AFA7-4431-9D73-2615210F14F8}"/>
              </a:ext>
            </a:extLst>
          </p:cNvPr>
          <p:cNvSpPr>
            <a:spLocks noGrp="1"/>
          </p:cNvSpPr>
          <p:nvPr/>
        </p:nvSpPr>
        <p:spPr>
          <a:xfrm>
            <a:off x="1162050" y="39433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Why this model: common transfer baseline, residual blocks, moderate size, easy to fine-tune systematically.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3DC02B-5910-4F11-BF3E-C9C4C912FF93}"/>
              </a:ext>
            </a:extLst>
          </p:cNvPr>
          <p:cNvSpPr>
            <a:spLocks noGrp="1"/>
          </p:cNvSpPr>
          <p:nvPr/>
        </p:nvSpPr>
        <p:spPr>
          <a:xfrm>
            <a:off x="914400" y="46863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84FA45A-7144-437D-8CFF-C7FDFBD86465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Classifier head is replaced with a 7-class FER2013 output; earlier layers keep ImageNet visual features.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188763-9BB7-4A5C-8F27-96A37D550704}"/>
              </a:ext>
            </a:extLst>
          </p:cNvPr>
          <p:cNvSpPr>
            <a:spLocks noGrp="1"/>
          </p:cNvSpPr>
          <p:nvPr/>
        </p:nvSpPr>
        <p:spPr>
          <a:xfrm>
            <a:off x="914400" y="53340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8E0AE7-1FA5-4D92-9070-ECC8A3ED7C9F}"/>
              </a:ext>
            </a:extLst>
          </p:cNvPr>
          <p:cNvSpPr>
            <a:spLocks noGrp="1"/>
          </p:cNvSpPr>
          <p:nvPr/>
        </p:nvSpPr>
        <p:spPr>
          <a:xfrm>
            <a:off x="1162050" y="52387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Experiment path: frozen FC -&gt; layer4 -&gt; layer3 -&gt; class weights -&gt; focal loss -&gt; SGD plateau -&gt; crop/TenCrop.</a:t>
            </a:r>
          </a:p>
        </p:txBody>
      </p:sp>
    </p:spTree>
    <p:extLst>
      <p:ext uri="{BB962C8B-B14F-4D97-AF65-F5344CB8AC3E}">
        <p14:creationId xmlns:p14="http://schemas.microsoft.com/office/powerpoint/2010/main" val="289079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9AEE169B-C508-4BCE-8835-281C7BCC10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0EF107-603F-4C9F-B496-54A382F6A8F4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2F4DCA-8CB0-4020-924A-59A097DB6B3A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Architecture: EfficientNet-B0 transfer learning.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FE9801-2458-4824-9D3F-6D2C395DA38D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BE9E1-8A6E-46BE-9331-4DFD3BC64306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12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97DD35-8999-42D0-A4C2-47EE9A47C2D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F67682-E3D0-4DD3-A509-ECA533C451BD}"/>
              </a:ext>
            </a:extLst>
          </p:cNvPr>
          <p:cNvSpPr>
            <a:spLocks noGrp="1"/>
          </p:cNvSpPr>
          <p:nvPr/>
        </p:nvSpPr>
        <p:spPr>
          <a:xfrm>
            <a:off x="104775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224x224x3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234E3-327E-4C10-AAD2-3223119A8168}"/>
              </a:ext>
            </a:extLst>
          </p:cNvPr>
          <p:cNvSpPr>
            <a:spLocks noGrp="1"/>
          </p:cNvSpPr>
          <p:nvPr/>
        </p:nvSpPr>
        <p:spPr>
          <a:xfrm>
            <a:off x="219075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F4C79-48C5-4756-9FE3-CF8188F3E7D3}"/>
              </a:ext>
            </a:extLst>
          </p:cNvPr>
          <p:cNvSpPr>
            <a:spLocks noGrp="1"/>
          </p:cNvSpPr>
          <p:nvPr/>
        </p:nvSpPr>
        <p:spPr>
          <a:xfrm>
            <a:off x="225425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5DBD9C-7720-4D28-ACCA-C97E5B9E5B5B}"/>
              </a:ext>
            </a:extLst>
          </p:cNvPr>
          <p:cNvSpPr>
            <a:spLocks noGrp="1"/>
          </p:cNvSpPr>
          <p:nvPr/>
        </p:nvSpPr>
        <p:spPr>
          <a:xfrm>
            <a:off x="234950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3x3 stem conv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DF54D6-8927-4C15-A03C-88659E38E0C2}"/>
              </a:ext>
            </a:extLst>
          </p:cNvPr>
          <p:cNvSpPr>
            <a:spLocks noGrp="1"/>
          </p:cNvSpPr>
          <p:nvPr/>
        </p:nvSpPr>
        <p:spPr>
          <a:xfrm>
            <a:off x="34925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A474CD-A398-4C7C-8484-A221590FAD45}"/>
              </a:ext>
            </a:extLst>
          </p:cNvPr>
          <p:cNvSpPr>
            <a:spLocks noGrp="1"/>
          </p:cNvSpPr>
          <p:nvPr/>
        </p:nvSpPr>
        <p:spPr>
          <a:xfrm>
            <a:off x="355600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37CCF4-E3A7-414B-8FAC-3D0F228A6A58}"/>
              </a:ext>
            </a:extLst>
          </p:cNvPr>
          <p:cNvSpPr>
            <a:spLocks noGrp="1"/>
          </p:cNvSpPr>
          <p:nvPr/>
        </p:nvSpPr>
        <p:spPr>
          <a:xfrm>
            <a:off x="365125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MBConv 1-5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721CAD-DC90-4683-8E7A-A6F23F188FA8}"/>
              </a:ext>
            </a:extLst>
          </p:cNvPr>
          <p:cNvSpPr>
            <a:spLocks noGrp="1"/>
          </p:cNvSpPr>
          <p:nvPr/>
        </p:nvSpPr>
        <p:spPr>
          <a:xfrm>
            <a:off x="479425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FDF043-A3BB-4747-A257-49A7D91F1754}"/>
              </a:ext>
            </a:extLst>
          </p:cNvPr>
          <p:cNvSpPr>
            <a:spLocks noGrp="1"/>
          </p:cNvSpPr>
          <p:nvPr/>
        </p:nvSpPr>
        <p:spPr>
          <a:xfrm>
            <a:off x="485775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856D18-DAC1-41E0-84C5-E342BD241885}"/>
              </a:ext>
            </a:extLst>
          </p:cNvPr>
          <p:cNvSpPr>
            <a:spLocks noGrp="1"/>
          </p:cNvSpPr>
          <p:nvPr/>
        </p:nvSpPr>
        <p:spPr>
          <a:xfrm>
            <a:off x="495300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last MBConv blocks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9E84E8-1FDD-4A3F-9E84-B21F811D84C3}"/>
              </a:ext>
            </a:extLst>
          </p:cNvPr>
          <p:cNvSpPr>
            <a:spLocks noGrp="1"/>
          </p:cNvSpPr>
          <p:nvPr/>
        </p:nvSpPr>
        <p:spPr>
          <a:xfrm>
            <a:off x="60960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EB576-5151-4493-9BEA-E00632CEE7F7}"/>
              </a:ext>
            </a:extLst>
          </p:cNvPr>
          <p:cNvSpPr>
            <a:spLocks noGrp="1"/>
          </p:cNvSpPr>
          <p:nvPr/>
        </p:nvSpPr>
        <p:spPr>
          <a:xfrm>
            <a:off x="615950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88D754-0AAF-43AD-9347-FD25A5608CDA}"/>
              </a:ext>
            </a:extLst>
          </p:cNvPr>
          <p:cNvSpPr>
            <a:spLocks noGrp="1"/>
          </p:cNvSpPr>
          <p:nvPr/>
        </p:nvSpPr>
        <p:spPr>
          <a:xfrm>
            <a:off x="625475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pooling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6B951A-D721-464D-A925-AF392D1BEDEB}"/>
              </a:ext>
            </a:extLst>
          </p:cNvPr>
          <p:cNvSpPr>
            <a:spLocks noGrp="1"/>
          </p:cNvSpPr>
          <p:nvPr/>
        </p:nvSpPr>
        <p:spPr>
          <a:xfrm>
            <a:off x="739775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FE264D-B6E6-4DD3-9FDC-A1DB1BCCCB2B}"/>
              </a:ext>
            </a:extLst>
          </p:cNvPr>
          <p:cNvSpPr>
            <a:spLocks noGrp="1"/>
          </p:cNvSpPr>
          <p:nvPr/>
        </p:nvSpPr>
        <p:spPr>
          <a:xfrm>
            <a:off x="746125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FAF7C6-EDF5-471F-86BD-D2942D9130F8}"/>
              </a:ext>
            </a:extLst>
          </p:cNvPr>
          <p:cNvSpPr>
            <a:spLocks noGrp="1"/>
          </p:cNvSpPr>
          <p:nvPr/>
        </p:nvSpPr>
        <p:spPr>
          <a:xfrm>
            <a:off x="755650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FC head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3B9539-3BF3-4A86-9EE8-429C848B85A8}"/>
              </a:ext>
            </a:extLst>
          </p:cNvPr>
          <p:cNvSpPr>
            <a:spLocks noGrp="1"/>
          </p:cNvSpPr>
          <p:nvPr/>
        </p:nvSpPr>
        <p:spPr>
          <a:xfrm>
            <a:off x="8699500" y="2609850"/>
            <a:ext cx="95250" cy="14288"/>
          </a:xfrm>
          <a:prstGeom prst="rect">
            <a:avLst/>
          </a:prstGeom>
          <a:solidFill>
            <a:srgbClr val="5661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15BA88-C0A4-4EBF-B3D6-83E59AB1755D}"/>
              </a:ext>
            </a:extLst>
          </p:cNvPr>
          <p:cNvSpPr>
            <a:spLocks noGrp="1"/>
          </p:cNvSpPr>
          <p:nvPr/>
        </p:nvSpPr>
        <p:spPr>
          <a:xfrm>
            <a:off x="8763000" y="2362200"/>
            <a:ext cx="1143000" cy="495300"/>
          </a:xfrm>
          <a:prstGeom prst="rect">
            <a:avLst/>
          </a:prstGeom>
          <a:solidFill>
            <a:srgbClr val="F1F3F3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52BE1-207C-4CC3-B606-77E48269FA3F}"/>
              </a:ext>
            </a:extLst>
          </p:cNvPr>
          <p:cNvSpPr>
            <a:spLocks noGrp="1"/>
          </p:cNvSpPr>
          <p:nvPr/>
        </p:nvSpPr>
        <p:spPr>
          <a:xfrm>
            <a:off x="8858250" y="2457450"/>
            <a:ext cx="952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7 logits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DB12BA-6CA1-448D-AA9F-C8C3991473F4}"/>
              </a:ext>
            </a:extLst>
          </p:cNvPr>
          <p:cNvSpPr>
            <a:spLocks noGrp="1"/>
          </p:cNvSpPr>
          <p:nvPr/>
        </p:nvSpPr>
        <p:spPr>
          <a:xfrm>
            <a:off x="876300" y="34290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Why include it?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20C16D-9CF1-4F6F-BA4F-CF774D6F81E4}"/>
              </a:ext>
            </a:extLst>
          </p:cNvPr>
          <p:cNvSpPr>
            <a:spLocks noGrp="1"/>
          </p:cNvSpPr>
          <p:nvPr/>
        </p:nvSpPr>
        <p:spPr>
          <a:xfrm>
            <a:off x="914400" y="40386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A8E3A8D-B35A-4090-9A21-C315B2D16B83}"/>
              </a:ext>
            </a:extLst>
          </p:cNvPr>
          <p:cNvSpPr>
            <a:spLocks noGrp="1"/>
          </p:cNvSpPr>
          <p:nvPr/>
        </p:nvSpPr>
        <p:spPr>
          <a:xfrm>
            <a:off x="1162050" y="39433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Why this model: lightweight ImageNet backbone with compound scaling and efficient MBConv blocks.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094465-70B8-450B-8730-2EFAD1DCF620}"/>
              </a:ext>
            </a:extLst>
          </p:cNvPr>
          <p:cNvSpPr>
            <a:spLocks noGrp="1"/>
          </p:cNvSpPr>
          <p:nvPr/>
        </p:nvSpPr>
        <p:spPr>
          <a:xfrm>
            <a:off x="914400" y="46863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2CB47F3-C4E8-468C-B43E-7979AD4E5B77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It tests whether a smaller model can match ResNet18 after comparable fine-tuning.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E92C36D-1D2D-498B-84D3-72906D6327E7}"/>
              </a:ext>
            </a:extLst>
          </p:cNvPr>
          <p:cNvSpPr>
            <a:spLocks noGrp="1"/>
          </p:cNvSpPr>
          <p:nvPr/>
        </p:nvSpPr>
        <p:spPr>
          <a:xfrm>
            <a:off x="914400" y="53340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900034C-D81F-46F7-960F-D6F88866B87B}"/>
              </a:ext>
            </a:extLst>
          </p:cNvPr>
          <p:cNvSpPr>
            <a:spLocks noGrp="1"/>
          </p:cNvSpPr>
          <p:nvPr/>
        </p:nvSpPr>
        <p:spPr>
          <a:xfrm>
            <a:off x="1162050" y="5238750"/>
            <a:ext cx="87058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Experiment path: classifier only -&gt; last block -&gt; last two blocks -&gt; last three blocks -&gt; sampler + SGD plateau -&gt; crop/TenCrop.</a:t>
            </a:r>
          </a:p>
        </p:txBody>
      </p:sp>
    </p:spTree>
    <p:extLst>
      <p:ext uri="{BB962C8B-B14F-4D97-AF65-F5344CB8AC3E}">
        <p14:creationId xmlns:p14="http://schemas.microsoft.com/office/powerpoint/2010/main" val="819877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6206722-DE95-4C31-BBE4-46D7979FDD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6AB1A6-EC40-4F0C-B096-AEA73EE5CD87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EXPERIMENTS AND EVALUATED CONFIGURATIONS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7D470A-83EA-49A4-9A60-1A0CADEF0335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Each strategy tests a specific hypothesis.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F26C5-66C8-4D1A-9431-8C405CD717DF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3B525E-34EE-4672-AC1F-63C04ED8EB99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13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3D781C-63C0-49A2-BAB1-2604B3983B8E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STRATEGIES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17C6FB-4CF5-46C9-96DC-3783CB3111F2}"/>
              </a:ext>
            </a:extLst>
          </p:cNvPr>
          <p:cNvSpPr>
            <a:spLocks noGrp="1"/>
          </p:cNvSpPr>
          <p:nvPr/>
        </p:nvSpPr>
        <p:spPr>
          <a:xfrm>
            <a:off x="800100" y="2324100"/>
            <a:ext cx="3429000" cy="14288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C6C7D6-1DA7-4940-AFB7-2D1487724C6C}"/>
              </a:ext>
            </a:extLst>
          </p:cNvPr>
          <p:cNvSpPr>
            <a:spLocks noGrp="1"/>
          </p:cNvSpPr>
          <p:nvPr/>
        </p:nvSpPr>
        <p:spPr>
          <a:xfrm>
            <a:off x="857250" y="27241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72DBCF-6FE1-4AFF-95EC-D21EDC293473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46101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Augmentation: improve robustness to small face shifts and flips.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995D4D-8EAB-4EB8-94C2-D120402B2A6B}"/>
              </a:ext>
            </a:extLst>
          </p:cNvPr>
          <p:cNvSpPr>
            <a:spLocks noGrp="1"/>
          </p:cNvSpPr>
          <p:nvPr/>
        </p:nvSpPr>
        <p:spPr>
          <a:xfrm>
            <a:off x="857250" y="32766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40CE8A-3EAF-4E28-BDF1-10CD6A33B276}"/>
              </a:ext>
            </a:extLst>
          </p:cNvPr>
          <p:cNvSpPr>
            <a:spLocks noGrp="1"/>
          </p:cNvSpPr>
          <p:nvPr/>
        </p:nvSpPr>
        <p:spPr>
          <a:xfrm>
            <a:off x="1104900" y="3181350"/>
            <a:ext cx="46101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weights / weighted sampler / oversampling: reduce class imbalance effects.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2F5203-C86B-4CF9-9A9D-8C114AC87B8D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6E1DB0-DD95-4827-954A-2DE7D1271300}"/>
              </a:ext>
            </a:extLst>
          </p:cNvPr>
          <p:cNvSpPr>
            <a:spLocks noGrp="1"/>
          </p:cNvSpPr>
          <p:nvPr/>
        </p:nvSpPr>
        <p:spPr>
          <a:xfrm>
            <a:off x="1104900" y="3733800"/>
            <a:ext cx="46101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Focal loss: focus learning on hard examples.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66A10D-2F21-4EA5-A622-38C0ADDD779D}"/>
              </a:ext>
            </a:extLst>
          </p:cNvPr>
          <p:cNvSpPr>
            <a:spLocks noGrp="1"/>
          </p:cNvSpPr>
          <p:nvPr/>
        </p:nvSpPr>
        <p:spPr>
          <a:xfrm>
            <a:off x="857250" y="43815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B07E02-A491-47F7-AC54-67C84ABC3776}"/>
              </a:ext>
            </a:extLst>
          </p:cNvPr>
          <p:cNvSpPr>
            <a:spLocks noGrp="1"/>
          </p:cNvSpPr>
          <p:nvPr/>
        </p:nvSpPr>
        <p:spPr>
          <a:xfrm>
            <a:off x="1104900" y="4286250"/>
            <a:ext cx="46101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SGD + LR plateau: stabilize final fine-tuning.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978EC6-09A2-4483-A299-5298E2337D65}"/>
              </a:ext>
            </a:extLst>
          </p:cNvPr>
          <p:cNvSpPr>
            <a:spLocks noGrp="1"/>
          </p:cNvSpPr>
          <p:nvPr/>
        </p:nvSpPr>
        <p:spPr>
          <a:xfrm>
            <a:off x="857250" y="493395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D99E60-AAED-472B-ADBA-C0F634DAA414}"/>
              </a:ext>
            </a:extLst>
          </p:cNvPr>
          <p:cNvSpPr>
            <a:spLocks noGrp="1"/>
          </p:cNvSpPr>
          <p:nvPr/>
        </p:nvSpPr>
        <p:spPr>
          <a:xfrm>
            <a:off x="1104900" y="4838700"/>
            <a:ext cx="46101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Crop/TenCrop: test whether inference-time crops improve robustness.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87B056-349C-4851-9784-2A45547AE869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CONFIGURATIONS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83F9E8-D113-4594-8F8D-D0677B207B7E}"/>
              </a:ext>
            </a:extLst>
          </p:cNvPr>
          <p:cNvSpPr>
            <a:spLocks noGrp="1"/>
          </p:cNvSpPr>
          <p:nvPr/>
        </p:nvSpPr>
        <p:spPr>
          <a:xfrm>
            <a:off x="6572250" y="2324100"/>
            <a:ext cx="3429000" cy="14288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EB0B7E-357A-4701-AAAB-2310435BF718}"/>
              </a:ext>
            </a:extLst>
          </p:cNvPr>
          <p:cNvSpPr>
            <a:spLocks noGrp="1"/>
          </p:cNvSpPr>
          <p:nvPr/>
        </p:nvSpPr>
        <p:spPr>
          <a:xfrm>
            <a:off x="6629400" y="272415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3889E03-A6F9-4D97-A170-75047787192D}"/>
              </a:ext>
            </a:extLst>
          </p:cNvPr>
          <p:cNvSpPr>
            <a:spLocks noGrp="1"/>
          </p:cNvSpPr>
          <p:nvPr/>
        </p:nvSpPr>
        <p:spPr>
          <a:xfrm>
            <a:off x="6877050" y="262890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Custom CNN: basic, augmented, imbalance-aware, deeper 80-epoch run.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911329-C9D8-4852-B14D-D236932D5AAB}"/>
              </a:ext>
            </a:extLst>
          </p:cNvPr>
          <p:cNvSpPr>
            <a:spLocks noGrp="1"/>
          </p:cNvSpPr>
          <p:nvPr/>
        </p:nvSpPr>
        <p:spPr>
          <a:xfrm>
            <a:off x="6629400" y="344805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53E09B-A6B6-4324-8890-9470BC25A699}"/>
              </a:ext>
            </a:extLst>
          </p:cNvPr>
          <p:cNvSpPr>
            <a:spLocks noGrp="1"/>
          </p:cNvSpPr>
          <p:nvPr/>
        </p:nvSpPr>
        <p:spPr>
          <a:xfrm>
            <a:off x="6877050" y="335280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ResNet18: feature extraction, layer4/layer3 unfreeze, imbalance and loss variants.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EB3E65-5747-4155-A43F-28625A64E574}"/>
              </a:ext>
            </a:extLst>
          </p:cNvPr>
          <p:cNvSpPr>
            <a:spLocks noGrp="1"/>
          </p:cNvSpPr>
          <p:nvPr/>
        </p:nvSpPr>
        <p:spPr>
          <a:xfrm>
            <a:off x="6629400" y="417195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E4FB099-5F18-47A1-8CF8-FC22FABA2C1A}"/>
              </a:ext>
            </a:extLst>
          </p:cNvPr>
          <p:cNvSpPr>
            <a:spLocks noGrp="1"/>
          </p:cNvSpPr>
          <p:nvPr/>
        </p:nvSpPr>
        <p:spPr>
          <a:xfrm>
            <a:off x="6877050" y="407670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EfficientNet-B0: classifier variants, last-block fine-tuning, weighted sampler, crop/TenCrop.</a:t>
            </a:r>
          </a:p>
        </p:txBody>
      </p:sp>
    </p:spTree>
    <p:extLst>
      <p:ext uri="{BB962C8B-B14F-4D97-AF65-F5344CB8AC3E}">
        <p14:creationId xmlns:p14="http://schemas.microsoft.com/office/powerpoint/2010/main" val="1800912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0420AF1-F3A5-4255-860B-2153ABDEB4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965A0F-8320-45FB-AE18-D95C094D55B3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RESULTS AND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3DE726-A964-4181-BAEE-A02B2B82AF35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evaluation uses complementary metrics, not only one score.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366568-E6CF-472F-AFE5-3C1DFF3F0FC1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0654E9-12A1-4948-8789-725913EBE8FC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14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98AED-AFA0-4720-9775-8E5EF8673EBA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MAIN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6EAFB6-B489-4069-9286-0D4C5205C4E7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3429000" cy="14288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3B1D11-C36F-455E-B011-4F6168D17C42}"/>
              </a:ext>
            </a:extLst>
          </p:cNvPr>
          <p:cNvSpPr>
            <a:spLocks noGrp="1"/>
          </p:cNvSpPr>
          <p:nvPr/>
        </p:nvSpPr>
        <p:spPr>
          <a:xfrm>
            <a:off x="857250" y="27432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679883-375E-415C-B90D-D74ADE14B382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4324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Macro F1: primary metric because all classes count equally.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80C84D-9106-459D-9634-8B44308E3535}"/>
              </a:ext>
            </a:extLst>
          </p:cNvPr>
          <p:cNvSpPr>
            <a:spLocks noGrp="1"/>
          </p:cNvSpPr>
          <p:nvPr/>
        </p:nvSpPr>
        <p:spPr>
          <a:xfrm>
            <a:off x="857250" y="34290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F7F25D-E7C4-4A86-B969-9AB404BC32C6}"/>
              </a:ext>
            </a:extLst>
          </p:cNvPr>
          <p:cNvSpPr>
            <a:spLocks noGrp="1"/>
          </p:cNvSpPr>
          <p:nvPr/>
        </p:nvSpPr>
        <p:spPr>
          <a:xfrm>
            <a:off x="1104900" y="3333750"/>
            <a:ext cx="4324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Weighted F1: reflects performance under the real class distribution.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771FE9-C5E9-4C36-AC43-04E0F9B715CF}"/>
              </a:ext>
            </a:extLst>
          </p:cNvPr>
          <p:cNvSpPr>
            <a:spLocks noGrp="1"/>
          </p:cNvSpPr>
          <p:nvPr/>
        </p:nvSpPr>
        <p:spPr>
          <a:xfrm>
            <a:off x="857250" y="41148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5DAD74-870F-4D97-9F46-2F3365CD5F43}"/>
              </a:ext>
            </a:extLst>
          </p:cNvPr>
          <p:cNvSpPr>
            <a:spLocks noGrp="1"/>
          </p:cNvSpPr>
          <p:nvPr/>
        </p:nvSpPr>
        <p:spPr>
          <a:xfrm>
            <a:off x="1104900" y="4019550"/>
            <a:ext cx="4324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Precision and recall: show whether each class is over- or under-predicted.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0DB9C2-E300-42CA-A2CF-E70BC63F8847}"/>
              </a:ext>
            </a:extLst>
          </p:cNvPr>
          <p:cNvSpPr>
            <a:spLocks noGrp="1"/>
          </p:cNvSpPr>
          <p:nvPr/>
        </p:nvSpPr>
        <p:spPr>
          <a:xfrm>
            <a:off x="6477000" y="21145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5622C"/>
                </a:solidFill>
                <a:latin typeface="Aptos"/>
                <a:ea typeface="Aptos"/>
                <a:cs typeface="Aptos"/>
              </a:rPr>
              <a:t>SUPPORTING EVIDENCE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F160A7-BBAF-4DBE-ADFF-1D2345411740}"/>
              </a:ext>
            </a:extLst>
          </p:cNvPr>
          <p:cNvSpPr>
            <a:spLocks noGrp="1"/>
          </p:cNvSpPr>
          <p:nvPr/>
        </p:nvSpPr>
        <p:spPr>
          <a:xfrm>
            <a:off x="6477000" y="2343150"/>
            <a:ext cx="3429000" cy="14288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A21FE-3DB2-4E06-A9B0-5562EFCBEC0D}"/>
              </a:ext>
            </a:extLst>
          </p:cNvPr>
          <p:cNvSpPr>
            <a:spLocks noGrp="1"/>
          </p:cNvSpPr>
          <p:nvPr/>
        </p:nvSpPr>
        <p:spPr>
          <a:xfrm>
            <a:off x="6534150" y="27432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A884F9-DF2F-4556-9CB0-766562DD1379}"/>
              </a:ext>
            </a:extLst>
          </p:cNvPr>
          <p:cNvSpPr>
            <a:spLocks noGrp="1"/>
          </p:cNvSpPr>
          <p:nvPr/>
        </p:nvSpPr>
        <p:spPr>
          <a:xfrm>
            <a:off x="6781800" y="264795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Loss curves: diagnose optimization and overfitting.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2C368A-8D0E-478B-A43C-80E8CB646F5E}"/>
              </a:ext>
            </a:extLst>
          </p:cNvPr>
          <p:cNvSpPr>
            <a:spLocks noGrp="1"/>
          </p:cNvSpPr>
          <p:nvPr/>
        </p:nvSpPr>
        <p:spPr>
          <a:xfrm>
            <a:off x="6534150" y="33147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5817B9-25E1-4758-81B2-ACD9C4BCA437}"/>
              </a:ext>
            </a:extLst>
          </p:cNvPr>
          <p:cNvSpPr>
            <a:spLocks noGrp="1"/>
          </p:cNvSpPr>
          <p:nvPr/>
        </p:nvSpPr>
        <p:spPr>
          <a:xfrm>
            <a:off x="6781800" y="321945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F1 per class: identifies weak emotion categories.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2CF968-76CF-4942-88D8-19C43E527054}"/>
              </a:ext>
            </a:extLst>
          </p:cNvPr>
          <p:cNvSpPr>
            <a:spLocks noGrp="1"/>
          </p:cNvSpPr>
          <p:nvPr/>
        </p:nvSpPr>
        <p:spPr>
          <a:xfrm>
            <a:off x="6534150" y="38862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B592F6-3959-4A0C-8E70-846F98951834}"/>
              </a:ext>
            </a:extLst>
          </p:cNvPr>
          <p:cNvSpPr>
            <a:spLocks noGrp="1"/>
          </p:cNvSpPr>
          <p:nvPr/>
        </p:nvSpPr>
        <p:spPr>
          <a:xfrm>
            <a:off x="6781800" y="379095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Confusion matrix: shows the actual error pattern.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E5CC73-017C-4D75-81F8-00208E6399F3}"/>
              </a:ext>
            </a:extLst>
          </p:cNvPr>
          <p:cNvSpPr>
            <a:spLocks noGrp="1"/>
          </p:cNvSpPr>
          <p:nvPr/>
        </p:nvSpPr>
        <p:spPr>
          <a:xfrm>
            <a:off x="6534150" y="44577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FD31839-3202-4EED-97F1-3019A7DB8046}"/>
              </a:ext>
            </a:extLst>
          </p:cNvPr>
          <p:cNvSpPr>
            <a:spLocks noGrp="1"/>
          </p:cNvSpPr>
          <p:nvPr/>
        </p:nvSpPr>
        <p:spPr>
          <a:xfrm>
            <a:off x="6781800" y="4362450"/>
            <a:ext cx="4229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 analysis: checks whether errors are made confidently.</a:t>
            </a:r>
          </a:p>
        </p:txBody>
      </p:sp>
    </p:spTree>
    <p:extLst>
      <p:ext uri="{BB962C8B-B14F-4D97-AF65-F5344CB8AC3E}">
        <p14:creationId xmlns:p14="http://schemas.microsoft.com/office/powerpoint/2010/main" val="218386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A10652-DBAD-4CC8-BF51-34A957F78FCC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RESULTS AND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97A962-D0F8-489F-8833-D4F16BA20DBA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Custom CNN results improve gradually, but plateau below transfer learning.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5065FC-A785-45B4-9D0B-BBAC383309D1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grid"/>
          <p:cNvSpPr/>
          <p:nvPr/>
        </p:nvSpPr>
        <p:spPr>
          <a:xfrm>
            <a:off x="990600" y="381000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6"/>
          <p:cNvSpPr/>
          <p:nvPr/>
        </p:nvSpPr>
        <p:spPr>
          <a:xfrm>
            <a:off x="704850" y="373380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0.45</a:t>
            </a:r>
          </a:p>
        </p:txBody>
      </p:sp>
      <p:sp>
        <p:nvSpPr>
          <p:cNvPr id="77" name="grid"/>
          <p:cNvSpPr/>
          <p:nvPr/>
        </p:nvSpPr>
        <p:spPr>
          <a:xfrm>
            <a:off x="990600" y="347472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8"/>
          <p:cNvSpPr/>
          <p:nvPr/>
        </p:nvSpPr>
        <p:spPr>
          <a:xfrm>
            <a:off x="704850" y="339852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0.50</a:t>
            </a:r>
          </a:p>
        </p:txBody>
      </p:sp>
      <p:sp>
        <p:nvSpPr>
          <p:cNvPr id="79" name="grid"/>
          <p:cNvSpPr/>
          <p:nvPr/>
        </p:nvSpPr>
        <p:spPr>
          <a:xfrm>
            <a:off x="990600" y="313944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80"/>
          <p:cNvSpPr/>
          <p:nvPr/>
        </p:nvSpPr>
        <p:spPr>
          <a:xfrm>
            <a:off x="704850" y="306324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0.55</a:t>
            </a:r>
          </a:p>
        </p:txBody>
      </p:sp>
      <p:sp>
        <p:nvSpPr>
          <p:cNvPr id="81" name="grid"/>
          <p:cNvSpPr/>
          <p:nvPr/>
        </p:nvSpPr>
        <p:spPr>
          <a:xfrm>
            <a:off x="990600" y="280416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2"/>
          <p:cNvSpPr/>
          <p:nvPr/>
        </p:nvSpPr>
        <p:spPr>
          <a:xfrm>
            <a:off x="704850" y="272796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0.60</a:t>
            </a:r>
          </a:p>
        </p:txBody>
      </p:sp>
      <p:sp>
        <p:nvSpPr>
          <p:cNvPr id="83" name="grid"/>
          <p:cNvSpPr/>
          <p:nvPr/>
        </p:nvSpPr>
        <p:spPr>
          <a:xfrm>
            <a:off x="990600" y="246888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4"/>
          <p:cNvSpPr/>
          <p:nvPr/>
        </p:nvSpPr>
        <p:spPr>
          <a:xfrm>
            <a:off x="704850" y="239268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0.65</a:t>
            </a:r>
          </a:p>
        </p:txBody>
      </p:sp>
      <p:sp>
        <p:nvSpPr>
          <p:cNvPr id="85" name="grid"/>
          <p:cNvSpPr/>
          <p:nvPr/>
        </p:nvSpPr>
        <p:spPr>
          <a:xfrm>
            <a:off x="990600" y="213360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6"/>
          <p:cNvSpPr/>
          <p:nvPr/>
        </p:nvSpPr>
        <p:spPr>
          <a:xfrm>
            <a:off x="704850" y="205740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0.70</a:t>
            </a:r>
          </a:p>
        </p:txBody>
      </p:sp>
      <p:sp>
        <p:nvSpPr>
          <p:cNvPr id="87" name="axis"/>
          <p:cNvSpPr/>
          <p:nvPr/>
        </p:nvSpPr>
        <p:spPr>
          <a:xfrm>
            <a:off x="990600" y="3810000"/>
            <a:ext cx="5534025" cy="14288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8" name="bar"/>
          <p:cNvSpPr/>
          <p:nvPr/>
        </p:nvSpPr>
        <p:spPr>
          <a:xfrm>
            <a:off x="1090612" y="3583805"/>
            <a:ext cx="323850" cy="226195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9"/>
          <p:cNvSpPr/>
          <p:nvPr/>
        </p:nvSpPr>
        <p:spPr>
          <a:xfrm>
            <a:off x="966788" y="3412355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0.485</a:t>
            </a:r>
          </a:p>
        </p:txBody>
      </p:sp>
      <p:sp>
        <p:nvSpPr>
          <p:cNvPr id="90" name="text 90"/>
          <p:cNvSpPr/>
          <p:nvPr/>
        </p:nvSpPr>
        <p:spPr>
          <a:xfrm>
            <a:off x="704850" y="3886200"/>
            <a:ext cx="1095375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CNN aug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+ CE</a:t>
            </a:r>
          </a:p>
        </p:txBody>
      </p:sp>
      <p:sp>
        <p:nvSpPr>
          <p:cNvPr id="91" name="bar"/>
          <p:cNvSpPr/>
          <p:nvPr/>
        </p:nvSpPr>
        <p:spPr>
          <a:xfrm>
            <a:off x="2262188" y="3049195"/>
            <a:ext cx="323850" cy="760805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2"/>
          <p:cNvSpPr/>
          <p:nvPr/>
        </p:nvSpPr>
        <p:spPr>
          <a:xfrm>
            <a:off x="2138362" y="2877745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0.566</a:t>
            </a:r>
          </a:p>
        </p:txBody>
      </p:sp>
      <p:sp>
        <p:nvSpPr>
          <p:cNvPr id="93" name="text 93"/>
          <p:cNvSpPr/>
          <p:nvPr/>
        </p:nvSpPr>
        <p:spPr>
          <a:xfrm>
            <a:off x="1876425" y="3886200"/>
            <a:ext cx="1095375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aug + sampler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+ CE</a:t>
            </a:r>
          </a:p>
        </p:txBody>
      </p:sp>
      <p:sp>
        <p:nvSpPr>
          <p:cNvPr id="94" name="bar"/>
          <p:cNvSpPr/>
          <p:nvPr/>
        </p:nvSpPr>
        <p:spPr>
          <a:xfrm>
            <a:off x="3433762" y="2648190"/>
            <a:ext cx="323850" cy="1161810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5"/>
          <p:cNvSpPr/>
          <p:nvPr/>
        </p:nvSpPr>
        <p:spPr>
          <a:xfrm>
            <a:off x="3309938" y="2476740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0.627</a:t>
            </a:r>
          </a:p>
        </p:txBody>
      </p:sp>
      <p:sp>
        <p:nvSpPr>
          <p:cNvPr id="96" name="text 96"/>
          <p:cNvSpPr/>
          <p:nvPr/>
        </p:nvSpPr>
        <p:spPr>
          <a:xfrm>
            <a:off x="3048000" y="3886200"/>
            <a:ext cx="1095375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aug + sampler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+ CE + SGD</a:t>
            </a:r>
          </a:p>
        </p:txBody>
      </p:sp>
      <p:sp>
        <p:nvSpPr>
          <p:cNvPr id="97" name="bar"/>
          <p:cNvSpPr/>
          <p:nvPr/>
        </p:nvSpPr>
        <p:spPr>
          <a:xfrm>
            <a:off x="4605338" y="2539492"/>
            <a:ext cx="323850" cy="1270508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8"/>
          <p:cNvSpPr/>
          <p:nvPr/>
        </p:nvSpPr>
        <p:spPr>
          <a:xfrm>
            <a:off x="4481512" y="2368042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0.644</a:t>
            </a:r>
          </a:p>
        </p:txBody>
      </p:sp>
      <p:sp>
        <p:nvSpPr>
          <p:cNvPr id="99" name="text 99"/>
          <p:cNvSpPr/>
          <p:nvPr/>
        </p:nvSpPr>
        <p:spPr>
          <a:xfrm>
            <a:off x="4219575" y="3886200"/>
            <a:ext cx="1095375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crop/TenCrop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CE + SGD</a:t>
            </a:r>
          </a:p>
        </p:txBody>
      </p:sp>
      <p:sp>
        <p:nvSpPr>
          <p:cNvPr id="100" name="bar"/>
          <p:cNvSpPr/>
          <p:nvPr/>
        </p:nvSpPr>
        <p:spPr>
          <a:xfrm>
            <a:off x="5776912" y="2417641"/>
            <a:ext cx="323850" cy="1392359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101"/>
          <p:cNvSpPr/>
          <p:nvPr/>
        </p:nvSpPr>
        <p:spPr>
          <a:xfrm>
            <a:off x="5653088" y="2246191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0.662</a:t>
            </a:r>
          </a:p>
        </p:txBody>
      </p:sp>
      <p:sp>
        <p:nvSpPr>
          <p:cNvPr id="102" name="text 102"/>
          <p:cNvSpPr/>
          <p:nvPr/>
        </p:nvSpPr>
        <p:spPr>
          <a:xfrm>
            <a:off x="5391150" y="3886200"/>
            <a:ext cx="1095375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crop/TenCrop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CE 80ep</a:t>
            </a:r>
          </a:p>
        </p:txBody>
      </p:sp>
      <p:sp>
        <p:nvSpPr>
          <p:cNvPr id="103" name="legend square"/>
          <p:cNvSpPr/>
          <p:nvPr/>
        </p:nvSpPr>
        <p:spPr>
          <a:xfrm>
            <a:off x="5095875" y="2038350"/>
            <a:ext cx="85725" cy="85725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4"/>
          <p:cNvSpPr/>
          <p:nvPr/>
        </p:nvSpPr>
        <p:spPr>
          <a:xfrm>
            <a:off x="5229225" y="2000250"/>
            <a:ext cx="119062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00">
                <a:solidFill>
                  <a:srgbClr val="566172"/>
                </a:solidFill>
                <a:latin typeface="Aptos"/>
              </a:rPr>
              <a:t>best val macro F1</a:t>
            </a:r>
          </a:p>
        </p:txBody>
      </p:sp>
      <p:sp>
        <p:nvSpPr>
          <p:cNvPr id="38" name="cm background"/>
          <p:cNvSpPr/>
          <p:nvPr/>
        </p:nvSpPr>
        <p:spPr>
          <a:xfrm>
            <a:off x="7086600" y="1943100"/>
            <a:ext cx="3429000" cy="287655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9" name="baseline confusion matrix" descr="baseline confusion matrix"/>
          <p:cNvPicPr/>
          <p:nvPr/>
        </p:nvPicPr>
        <p:blipFill>
          <a:blip r:embed="rId3"/>
          <a:stretch>
            <a:fillRect/>
          </a:stretch>
        </p:blipFill>
        <p:spPr>
          <a:xfrm>
            <a:off x="7162800" y="2019300"/>
            <a:ext cx="3276600" cy="2724150"/>
          </a:xfrm>
          <a:prstGeom prst="rect">
            <a:avLst/>
          </a:prstGeom>
        </p:spPr>
      </p:pic>
      <p:sp>
        <p:nvSpPr>
          <p:cNvPr id="40" name="text 40"/>
          <p:cNvSpPr/>
          <p:nvPr/>
        </p:nvSpPr>
        <p:spPr>
          <a:xfrm>
            <a:off x="666750" y="4953000"/>
            <a:ext cx="98107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100" b="1">
                <a:solidFill>
                  <a:srgbClr val="1E5F99"/>
                </a:solidFill>
                <a:latin typeface="Aptos"/>
              </a:rPr>
              <a:t>Selected custom CNN test per-class precision / recall / F1</a:t>
            </a:r>
          </a:p>
        </p:txBody>
      </p:sp>
      <p:sp>
        <p:nvSpPr>
          <p:cNvPr id="41" name="text 41"/>
          <p:cNvSpPr/>
          <p:nvPr/>
        </p:nvSpPr>
        <p:spPr>
          <a:xfrm>
            <a:off x="666750" y="5200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566172"/>
                </a:solidFill>
                <a:latin typeface="Aptos"/>
              </a:rPr>
              <a:t>metric</a:t>
            </a:r>
          </a:p>
        </p:txBody>
      </p:sp>
      <p:sp>
        <p:nvSpPr>
          <p:cNvPr id="42" name="text 42"/>
          <p:cNvSpPr/>
          <p:nvPr/>
        </p:nvSpPr>
        <p:spPr>
          <a:xfrm>
            <a:off x="1428750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43" name="text 43"/>
          <p:cNvSpPr/>
          <p:nvPr/>
        </p:nvSpPr>
        <p:spPr>
          <a:xfrm>
            <a:off x="2721429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44" name="text 44"/>
          <p:cNvSpPr/>
          <p:nvPr/>
        </p:nvSpPr>
        <p:spPr>
          <a:xfrm>
            <a:off x="4014107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45" name="text 45"/>
          <p:cNvSpPr/>
          <p:nvPr/>
        </p:nvSpPr>
        <p:spPr>
          <a:xfrm>
            <a:off x="5306786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46" name="text 46"/>
          <p:cNvSpPr/>
          <p:nvPr/>
        </p:nvSpPr>
        <p:spPr>
          <a:xfrm>
            <a:off x="6599464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47" name="text 47"/>
          <p:cNvSpPr/>
          <p:nvPr/>
        </p:nvSpPr>
        <p:spPr>
          <a:xfrm>
            <a:off x="7892143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48" name="text 48"/>
          <p:cNvSpPr/>
          <p:nvPr/>
        </p:nvSpPr>
        <p:spPr>
          <a:xfrm>
            <a:off x="9184821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neutral</a:t>
            </a:r>
          </a:p>
        </p:txBody>
      </p:sp>
      <p:sp>
        <p:nvSpPr>
          <p:cNvPr id="49" name="text 49"/>
          <p:cNvSpPr/>
          <p:nvPr/>
        </p:nvSpPr>
        <p:spPr>
          <a:xfrm>
            <a:off x="666750" y="5391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precision</a:t>
            </a:r>
          </a:p>
        </p:txBody>
      </p:sp>
      <p:sp>
        <p:nvSpPr>
          <p:cNvPr id="50" name="text 50"/>
          <p:cNvSpPr/>
          <p:nvPr/>
        </p:nvSpPr>
        <p:spPr>
          <a:xfrm>
            <a:off x="1428750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51" name="text 51"/>
          <p:cNvSpPr/>
          <p:nvPr/>
        </p:nvSpPr>
        <p:spPr>
          <a:xfrm>
            <a:off x="2721429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0.67</a:t>
            </a:r>
          </a:p>
        </p:txBody>
      </p:sp>
      <p:sp>
        <p:nvSpPr>
          <p:cNvPr id="52" name="text 52"/>
          <p:cNvSpPr/>
          <p:nvPr/>
        </p:nvSpPr>
        <p:spPr>
          <a:xfrm>
            <a:off x="4014107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0.57</a:t>
            </a:r>
          </a:p>
        </p:txBody>
      </p:sp>
      <p:sp>
        <p:nvSpPr>
          <p:cNvPr id="53" name="text 53"/>
          <p:cNvSpPr/>
          <p:nvPr/>
        </p:nvSpPr>
        <p:spPr>
          <a:xfrm>
            <a:off x="5306786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0.87</a:t>
            </a:r>
          </a:p>
        </p:txBody>
      </p:sp>
      <p:sp>
        <p:nvSpPr>
          <p:cNvPr id="54" name="text 54"/>
          <p:cNvSpPr/>
          <p:nvPr/>
        </p:nvSpPr>
        <p:spPr>
          <a:xfrm>
            <a:off x="6599464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0.53</a:t>
            </a:r>
          </a:p>
        </p:txBody>
      </p:sp>
      <p:sp>
        <p:nvSpPr>
          <p:cNvPr id="55" name="text 55"/>
          <p:cNvSpPr/>
          <p:nvPr/>
        </p:nvSpPr>
        <p:spPr>
          <a:xfrm>
            <a:off x="7892143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0.77</a:t>
            </a:r>
          </a:p>
        </p:txBody>
      </p:sp>
      <p:sp>
        <p:nvSpPr>
          <p:cNvPr id="56" name="text 56"/>
          <p:cNvSpPr/>
          <p:nvPr/>
        </p:nvSpPr>
        <p:spPr>
          <a:xfrm>
            <a:off x="9184821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0.61</a:t>
            </a:r>
          </a:p>
        </p:txBody>
      </p:sp>
      <p:sp>
        <p:nvSpPr>
          <p:cNvPr id="57" name="text 57"/>
          <p:cNvSpPr/>
          <p:nvPr/>
        </p:nvSpPr>
        <p:spPr>
          <a:xfrm>
            <a:off x="666750" y="5581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recall</a:t>
            </a:r>
          </a:p>
        </p:txBody>
      </p:sp>
      <p:sp>
        <p:nvSpPr>
          <p:cNvPr id="58" name="text 58"/>
          <p:cNvSpPr/>
          <p:nvPr/>
        </p:nvSpPr>
        <p:spPr>
          <a:xfrm>
            <a:off x="1428750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59" name="text 59"/>
          <p:cNvSpPr/>
          <p:nvPr/>
        </p:nvSpPr>
        <p:spPr>
          <a:xfrm>
            <a:off x="2721429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0.68</a:t>
            </a:r>
          </a:p>
        </p:txBody>
      </p:sp>
      <p:sp>
        <p:nvSpPr>
          <p:cNvPr id="60" name="text 60"/>
          <p:cNvSpPr/>
          <p:nvPr/>
        </p:nvSpPr>
        <p:spPr>
          <a:xfrm>
            <a:off x="4014107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0.38</a:t>
            </a:r>
          </a:p>
        </p:txBody>
      </p:sp>
      <p:sp>
        <p:nvSpPr>
          <p:cNvPr id="61" name="text 61"/>
          <p:cNvSpPr/>
          <p:nvPr/>
        </p:nvSpPr>
        <p:spPr>
          <a:xfrm>
            <a:off x="5306786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0.86</a:t>
            </a:r>
          </a:p>
        </p:txBody>
      </p:sp>
      <p:sp>
        <p:nvSpPr>
          <p:cNvPr id="62" name="text 62"/>
          <p:cNvSpPr/>
          <p:nvPr/>
        </p:nvSpPr>
        <p:spPr>
          <a:xfrm>
            <a:off x="6599464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63" name="text 63"/>
          <p:cNvSpPr/>
          <p:nvPr/>
        </p:nvSpPr>
        <p:spPr>
          <a:xfrm>
            <a:off x="7892143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0.82</a:t>
            </a:r>
          </a:p>
        </p:txBody>
      </p:sp>
      <p:sp>
        <p:nvSpPr>
          <p:cNvPr id="64" name="text 64"/>
          <p:cNvSpPr/>
          <p:nvPr/>
        </p:nvSpPr>
        <p:spPr>
          <a:xfrm>
            <a:off x="9184821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0.67</a:t>
            </a:r>
          </a:p>
        </p:txBody>
      </p:sp>
      <p:sp>
        <p:nvSpPr>
          <p:cNvPr id="65" name="text 65"/>
          <p:cNvSpPr/>
          <p:nvPr/>
        </p:nvSpPr>
        <p:spPr>
          <a:xfrm>
            <a:off x="666750" y="5772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F1</a:t>
            </a:r>
          </a:p>
        </p:txBody>
      </p:sp>
      <p:sp>
        <p:nvSpPr>
          <p:cNvPr id="66" name="text 66"/>
          <p:cNvSpPr/>
          <p:nvPr/>
        </p:nvSpPr>
        <p:spPr>
          <a:xfrm>
            <a:off x="1428750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67" name="text 67"/>
          <p:cNvSpPr/>
          <p:nvPr/>
        </p:nvSpPr>
        <p:spPr>
          <a:xfrm>
            <a:off x="2721429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0.68</a:t>
            </a:r>
          </a:p>
        </p:txBody>
      </p:sp>
      <p:sp>
        <p:nvSpPr>
          <p:cNvPr id="68" name="text 68"/>
          <p:cNvSpPr/>
          <p:nvPr/>
        </p:nvSpPr>
        <p:spPr>
          <a:xfrm>
            <a:off x="4014107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0.45</a:t>
            </a:r>
          </a:p>
        </p:txBody>
      </p:sp>
      <p:sp>
        <p:nvSpPr>
          <p:cNvPr id="69" name="text 69"/>
          <p:cNvSpPr/>
          <p:nvPr/>
        </p:nvSpPr>
        <p:spPr>
          <a:xfrm>
            <a:off x="5306786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0.87</a:t>
            </a:r>
          </a:p>
        </p:txBody>
      </p:sp>
      <p:sp>
        <p:nvSpPr>
          <p:cNvPr id="70" name="text 70"/>
          <p:cNvSpPr/>
          <p:nvPr/>
        </p:nvSpPr>
        <p:spPr>
          <a:xfrm>
            <a:off x="6599464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0.55</a:t>
            </a:r>
          </a:p>
        </p:txBody>
      </p:sp>
      <p:sp>
        <p:nvSpPr>
          <p:cNvPr id="71" name="text 71"/>
          <p:cNvSpPr/>
          <p:nvPr/>
        </p:nvSpPr>
        <p:spPr>
          <a:xfrm>
            <a:off x="7892143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0.79</a:t>
            </a:r>
          </a:p>
        </p:txBody>
      </p:sp>
      <p:sp>
        <p:nvSpPr>
          <p:cNvPr id="72" name="text 72"/>
          <p:cNvSpPr/>
          <p:nvPr/>
        </p:nvSpPr>
        <p:spPr>
          <a:xfrm>
            <a:off x="9184821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0.64</a:t>
            </a:r>
          </a:p>
        </p:txBody>
      </p:sp>
      <p:sp>
        <p:nvSpPr>
          <p:cNvPr id="73" name="table top"/>
          <p:cNvSpPr/>
          <p:nvPr/>
        </p:nvSpPr>
        <p:spPr>
          <a:xfrm>
            <a:off x="666750" y="51625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" name="table bottom"/>
          <p:cNvSpPr/>
          <p:nvPr/>
        </p:nvSpPr>
        <p:spPr>
          <a:xfrm>
            <a:off x="666750" y="59626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343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759B07-D6EB-4A5E-BB9F-9F85EBC4E05D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RESULTS AND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F1FF24-B6A1-4FDF-A337-E99CAFD71D13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ResNet18 improves when deeper layers are fine-tuned.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3ECBD-EF8A-4259-91BE-FDD0B5DBCBB9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DE8012-CDF2-4273-B847-0660C8BE9B70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16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763379-1E3C-4DDA-8465-64AB4C76B630}"/>
              </a:ext>
            </a:extLst>
          </p:cNvPr>
          <p:cNvSpPr>
            <a:spLocks noGrp="1"/>
          </p:cNvSpPr>
          <p:nvPr/>
        </p:nvSpPr>
        <p:spPr>
          <a:xfrm>
            <a:off x="1009650" y="2285546"/>
            <a:ext cx="5753100" cy="9525"/>
          </a:xfrm>
          <a:prstGeom prst="rect">
            <a:avLst/>
          </a:prstGeom>
          <a:solidFill>
            <a:srgbClr val="E6E2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grid"/>
          <p:cNvSpPr/>
          <p:nvPr/>
        </p:nvSpPr>
        <p:spPr>
          <a:xfrm>
            <a:off x="990600" y="381000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7"/>
          <p:cNvSpPr/>
          <p:nvPr/>
        </p:nvSpPr>
        <p:spPr>
          <a:xfrm>
            <a:off x="704850" y="373380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0.30</a:t>
            </a:r>
          </a:p>
        </p:txBody>
      </p:sp>
      <p:sp>
        <p:nvSpPr>
          <p:cNvPr id="48" name="grid"/>
          <p:cNvSpPr/>
          <p:nvPr/>
        </p:nvSpPr>
        <p:spPr>
          <a:xfrm>
            <a:off x="990600" y="3410857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9"/>
          <p:cNvSpPr/>
          <p:nvPr/>
        </p:nvSpPr>
        <p:spPr>
          <a:xfrm>
            <a:off x="704850" y="3334657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0.40</a:t>
            </a:r>
          </a:p>
        </p:txBody>
      </p:sp>
      <p:sp>
        <p:nvSpPr>
          <p:cNvPr id="50" name="grid"/>
          <p:cNvSpPr/>
          <p:nvPr/>
        </p:nvSpPr>
        <p:spPr>
          <a:xfrm>
            <a:off x="990600" y="3011714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1"/>
          <p:cNvSpPr/>
          <p:nvPr/>
        </p:nvSpPr>
        <p:spPr>
          <a:xfrm>
            <a:off x="704850" y="2935514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0.50</a:t>
            </a:r>
          </a:p>
        </p:txBody>
      </p:sp>
      <p:sp>
        <p:nvSpPr>
          <p:cNvPr id="52" name="grid"/>
          <p:cNvSpPr/>
          <p:nvPr/>
        </p:nvSpPr>
        <p:spPr>
          <a:xfrm>
            <a:off x="990600" y="2612571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3"/>
          <p:cNvSpPr/>
          <p:nvPr/>
        </p:nvSpPr>
        <p:spPr>
          <a:xfrm>
            <a:off x="704850" y="2536371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0.60</a:t>
            </a:r>
          </a:p>
        </p:txBody>
      </p:sp>
      <p:sp>
        <p:nvSpPr>
          <p:cNvPr id="54" name="grid"/>
          <p:cNvSpPr/>
          <p:nvPr/>
        </p:nvSpPr>
        <p:spPr>
          <a:xfrm>
            <a:off x="990600" y="2213429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5"/>
          <p:cNvSpPr/>
          <p:nvPr/>
        </p:nvSpPr>
        <p:spPr>
          <a:xfrm>
            <a:off x="704850" y="2137229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0.70</a:t>
            </a:r>
          </a:p>
        </p:txBody>
      </p:sp>
      <p:sp>
        <p:nvSpPr>
          <p:cNvPr id="56" name="axis"/>
          <p:cNvSpPr/>
          <p:nvPr/>
        </p:nvSpPr>
        <p:spPr>
          <a:xfrm>
            <a:off x="990600" y="3810000"/>
            <a:ext cx="5534025" cy="14288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7" name="bar"/>
          <p:cNvSpPr/>
          <p:nvPr/>
        </p:nvSpPr>
        <p:spPr>
          <a:xfrm>
            <a:off x="1117124" y="3631386"/>
            <a:ext cx="251052" cy="178614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8"/>
          <p:cNvSpPr/>
          <p:nvPr/>
        </p:nvSpPr>
        <p:spPr>
          <a:xfrm>
            <a:off x="956900" y="3459936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0.346</a:t>
            </a:r>
          </a:p>
        </p:txBody>
      </p:sp>
      <p:sp>
        <p:nvSpPr>
          <p:cNvPr id="59" name="text 59"/>
          <p:cNvSpPr/>
          <p:nvPr/>
        </p:nvSpPr>
        <p:spPr>
          <a:xfrm>
            <a:off x="862330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dirty="0">
                <a:solidFill>
                  <a:srgbClr val="151922"/>
                </a:solidFill>
                <a:latin typeface="Aptos"/>
              </a:rPr>
              <a:t>feature</a:t>
            </a:r>
          </a:p>
          <a:p>
            <a:pPr algn="ctr"/>
            <a:r>
              <a:rPr lang="en-US" sz="700" dirty="0">
                <a:solidFill>
                  <a:srgbClr val="151922"/>
                </a:solidFill>
                <a:latin typeface="Aptos"/>
              </a:rPr>
              <a:t>extract</a:t>
            </a:r>
          </a:p>
        </p:txBody>
      </p:sp>
      <p:sp>
        <p:nvSpPr>
          <p:cNvPr id="60" name="bar"/>
          <p:cNvSpPr/>
          <p:nvPr/>
        </p:nvSpPr>
        <p:spPr>
          <a:xfrm>
            <a:off x="1796483" y="2633341"/>
            <a:ext cx="251052" cy="1176659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61"/>
          <p:cNvSpPr/>
          <p:nvPr/>
        </p:nvSpPr>
        <p:spPr>
          <a:xfrm>
            <a:off x="1636259" y="2461891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0.602</a:t>
            </a:r>
          </a:p>
        </p:txBody>
      </p:sp>
      <p:sp>
        <p:nvSpPr>
          <p:cNvPr id="62" name="text 62"/>
          <p:cNvSpPr/>
          <p:nvPr/>
        </p:nvSpPr>
        <p:spPr>
          <a:xfrm>
            <a:off x="1541689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unfreeze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layer4</a:t>
            </a:r>
          </a:p>
        </p:txBody>
      </p:sp>
      <p:sp>
        <p:nvSpPr>
          <p:cNvPr id="63" name="bar"/>
          <p:cNvSpPr/>
          <p:nvPr/>
        </p:nvSpPr>
        <p:spPr>
          <a:xfrm>
            <a:off x="2633322" y="2451099"/>
            <a:ext cx="251052" cy="1358901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4"/>
          <p:cNvSpPr/>
          <p:nvPr/>
        </p:nvSpPr>
        <p:spPr>
          <a:xfrm>
            <a:off x="2473098" y="2279649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0.648</a:t>
            </a:r>
          </a:p>
        </p:txBody>
      </p:sp>
      <p:sp>
        <p:nvSpPr>
          <p:cNvPr id="65" name="text 65"/>
          <p:cNvSpPr/>
          <p:nvPr/>
        </p:nvSpPr>
        <p:spPr>
          <a:xfrm>
            <a:off x="2378529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unfreeze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layer3</a:t>
            </a:r>
          </a:p>
        </p:txBody>
      </p:sp>
      <p:sp>
        <p:nvSpPr>
          <p:cNvPr id="66" name="bar"/>
          <p:cNvSpPr/>
          <p:nvPr/>
        </p:nvSpPr>
        <p:spPr>
          <a:xfrm>
            <a:off x="3470162" y="2448932"/>
            <a:ext cx="251052" cy="1361068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7"/>
          <p:cNvSpPr/>
          <p:nvPr/>
        </p:nvSpPr>
        <p:spPr>
          <a:xfrm>
            <a:off x="3309938" y="2277482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0.649</a:t>
            </a:r>
          </a:p>
        </p:txBody>
      </p:sp>
      <p:sp>
        <p:nvSpPr>
          <p:cNvPr id="68" name="text 68"/>
          <p:cNvSpPr/>
          <p:nvPr/>
        </p:nvSpPr>
        <p:spPr>
          <a:xfrm>
            <a:off x="3215368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class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weights</a:t>
            </a:r>
          </a:p>
        </p:txBody>
      </p:sp>
      <p:sp>
        <p:nvSpPr>
          <p:cNvPr id="69" name="bar"/>
          <p:cNvSpPr/>
          <p:nvPr/>
        </p:nvSpPr>
        <p:spPr>
          <a:xfrm>
            <a:off x="4307001" y="2431068"/>
            <a:ext cx="251052" cy="1378932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70"/>
          <p:cNvSpPr/>
          <p:nvPr/>
        </p:nvSpPr>
        <p:spPr>
          <a:xfrm>
            <a:off x="4146777" y="2259618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0.654</a:t>
            </a:r>
          </a:p>
        </p:txBody>
      </p:sp>
      <p:sp>
        <p:nvSpPr>
          <p:cNvPr id="71" name="text 71"/>
          <p:cNvSpPr/>
          <p:nvPr/>
        </p:nvSpPr>
        <p:spPr>
          <a:xfrm>
            <a:off x="4052207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weights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focal</a:t>
            </a:r>
          </a:p>
        </p:txBody>
      </p:sp>
      <p:sp>
        <p:nvSpPr>
          <p:cNvPr id="72" name="bar"/>
          <p:cNvSpPr/>
          <p:nvPr/>
        </p:nvSpPr>
        <p:spPr>
          <a:xfrm>
            <a:off x="5143840" y="2344730"/>
            <a:ext cx="251052" cy="1465270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3"/>
          <p:cNvSpPr/>
          <p:nvPr/>
        </p:nvSpPr>
        <p:spPr>
          <a:xfrm>
            <a:off x="4983616" y="2173280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0.676</a:t>
            </a:r>
          </a:p>
        </p:txBody>
      </p:sp>
      <p:sp>
        <p:nvSpPr>
          <p:cNvPr id="74" name="text 74"/>
          <p:cNvSpPr/>
          <p:nvPr/>
        </p:nvSpPr>
        <p:spPr>
          <a:xfrm>
            <a:off x="4889046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focal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SGD</a:t>
            </a:r>
          </a:p>
        </p:txBody>
      </p:sp>
      <p:sp>
        <p:nvSpPr>
          <p:cNvPr id="75" name="bar"/>
          <p:cNvSpPr/>
          <p:nvPr/>
        </p:nvSpPr>
        <p:spPr>
          <a:xfrm>
            <a:off x="5980679" y="2309657"/>
            <a:ext cx="251052" cy="1500343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6"/>
          <p:cNvSpPr/>
          <p:nvPr/>
        </p:nvSpPr>
        <p:spPr>
          <a:xfrm>
            <a:off x="5820455" y="2138207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1E5F99"/>
                </a:solidFill>
                <a:latin typeface="Aptos"/>
              </a:rPr>
              <a:t>0.685</a:t>
            </a:r>
          </a:p>
        </p:txBody>
      </p:sp>
      <p:sp>
        <p:nvSpPr>
          <p:cNvPr id="77" name="text 77"/>
          <p:cNvSpPr/>
          <p:nvPr/>
        </p:nvSpPr>
        <p:spPr>
          <a:xfrm>
            <a:off x="5725886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crop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TenCrop</a:t>
            </a:r>
          </a:p>
        </p:txBody>
      </p:sp>
      <p:sp>
        <p:nvSpPr>
          <p:cNvPr id="78" name="legend square"/>
          <p:cNvSpPr/>
          <p:nvPr/>
        </p:nvSpPr>
        <p:spPr>
          <a:xfrm>
            <a:off x="5095875" y="2038350"/>
            <a:ext cx="85725" cy="85725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9"/>
          <p:cNvSpPr/>
          <p:nvPr/>
        </p:nvSpPr>
        <p:spPr>
          <a:xfrm>
            <a:off x="5229225" y="2000250"/>
            <a:ext cx="119062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00">
                <a:solidFill>
                  <a:srgbClr val="566172"/>
                </a:solidFill>
                <a:latin typeface="Aptos"/>
              </a:rPr>
              <a:t>best val macro F1</a:t>
            </a:r>
          </a:p>
        </p:txBody>
      </p:sp>
      <p:sp>
        <p:nvSpPr>
          <p:cNvPr id="80" name="cm background"/>
          <p:cNvSpPr/>
          <p:nvPr/>
        </p:nvSpPr>
        <p:spPr>
          <a:xfrm>
            <a:off x="7086600" y="1943100"/>
            <a:ext cx="3429000" cy="287655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81" name="resnet confusion matrix" descr="resnet confusion matrix"/>
          <p:cNvPicPr/>
          <p:nvPr/>
        </p:nvPicPr>
        <p:blipFill>
          <a:blip r:embed="rId3"/>
          <a:stretch>
            <a:fillRect/>
          </a:stretch>
        </p:blipFill>
        <p:spPr>
          <a:xfrm>
            <a:off x="7162800" y="2019300"/>
            <a:ext cx="3276600" cy="2724150"/>
          </a:xfrm>
          <a:prstGeom prst="rect">
            <a:avLst/>
          </a:prstGeom>
        </p:spPr>
      </p:pic>
      <p:sp>
        <p:nvSpPr>
          <p:cNvPr id="82" name="text 82"/>
          <p:cNvSpPr/>
          <p:nvPr/>
        </p:nvSpPr>
        <p:spPr>
          <a:xfrm>
            <a:off x="666750" y="4953000"/>
            <a:ext cx="98107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100" b="1">
                <a:solidFill>
                  <a:srgbClr val="1E5F99"/>
                </a:solidFill>
                <a:latin typeface="Aptos"/>
              </a:rPr>
              <a:t>Best ResNet18 test per-class precision / recall / F1</a:t>
            </a:r>
          </a:p>
        </p:txBody>
      </p:sp>
      <p:sp>
        <p:nvSpPr>
          <p:cNvPr id="83" name="text 83"/>
          <p:cNvSpPr/>
          <p:nvPr/>
        </p:nvSpPr>
        <p:spPr>
          <a:xfrm>
            <a:off x="666750" y="5200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566172"/>
                </a:solidFill>
                <a:latin typeface="Aptos"/>
              </a:rPr>
              <a:t>metric</a:t>
            </a:r>
          </a:p>
        </p:txBody>
      </p:sp>
      <p:sp>
        <p:nvSpPr>
          <p:cNvPr id="84" name="text 84"/>
          <p:cNvSpPr/>
          <p:nvPr/>
        </p:nvSpPr>
        <p:spPr>
          <a:xfrm>
            <a:off x="1428750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85" name="text 85"/>
          <p:cNvSpPr/>
          <p:nvPr/>
        </p:nvSpPr>
        <p:spPr>
          <a:xfrm>
            <a:off x="2721429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86" name="text 86"/>
          <p:cNvSpPr/>
          <p:nvPr/>
        </p:nvSpPr>
        <p:spPr>
          <a:xfrm>
            <a:off x="4014107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87" name="text 87"/>
          <p:cNvSpPr/>
          <p:nvPr/>
        </p:nvSpPr>
        <p:spPr>
          <a:xfrm>
            <a:off x="5306786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88" name="text 88"/>
          <p:cNvSpPr/>
          <p:nvPr/>
        </p:nvSpPr>
        <p:spPr>
          <a:xfrm>
            <a:off x="6599464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89" name="text 89"/>
          <p:cNvSpPr/>
          <p:nvPr/>
        </p:nvSpPr>
        <p:spPr>
          <a:xfrm>
            <a:off x="7892143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90" name="text 90"/>
          <p:cNvSpPr/>
          <p:nvPr/>
        </p:nvSpPr>
        <p:spPr>
          <a:xfrm>
            <a:off x="9184821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neutral</a:t>
            </a:r>
          </a:p>
        </p:txBody>
      </p:sp>
      <p:sp>
        <p:nvSpPr>
          <p:cNvPr id="91" name="text 91"/>
          <p:cNvSpPr/>
          <p:nvPr/>
        </p:nvSpPr>
        <p:spPr>
          <a:xfrm>
            <a:off x="666750" y="5391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precision</a:t>
            </a:r>
          </a:p>
        </p:txBody>
      </p:sp>
      <p:sp>
        <p:nvSpPr>
          <p:cNvPr id="92" name="text 92"/>
          <p:cNvSpPr/>
          <p:nvPr/>
        </p:nvSpPr>
        <p:spPr>
          <a:xfrm>
            <a:off x="1428750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0.60</a:t>
            </a:r>
          </a:p>
        </p:txBody>
      </p:sp>
      <p:sp>
        <p:nvSpPr>
          <p:cNvPr id="93" name="text 93"/>
          <p:cNvSpPr/>
          <p:nvPr/>
        </p:nvSpPr>
        <p:spPr>
          <a:xfrm>
            <a:off x="2721429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0.69</a:t>
            </a:r>
          </a:p>
        </p:txBody>
      </p:sp>
      <p:sp>
        <p:nvSpPr>
          <p:cNvPr id="94" name="text 94"/>
          <p:cNvSpPr/>
          <p:nvPr/>
        </p:nvSpPr>
        <p:spPr>
          <a:xfrm>
            <a:off x="4014107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0.60</a:t>
            </a:r>
          </a:p>
        </p:txBody>
      </p:sp>
      <p:sp>
        <p:nvSpPr>
          <p:cNvPr id="95" name="text 95"/>
          <p:cNvSpPr/>
          <p:nvPr/>
        </p:nvSpPr>
        <p:spPr>
          <a:xfrm>
            <a:off x="5306786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0.90</a:t>
            </a:r>
          </a:p>
        </p:txBody>
      </p:sp>
      <p:sp>
        <p:nvSpPr>
          <p:cNvPr id="96" name="text 96"/>
          <p:cNvSpPr/>
          <p:nvPr/>
        </p:nvSpPr>
        <p:spPr>
          <a:xfrm>
            <a:off x="6599464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0.58</a:t>
            </a:r>
          </a:p>
        </p:txBody>
      </p:sp>
      <p:sp>
        <p:nvSpPr>
          <p:cNvPr id="97" name="text 97"/>
          <p:cNvSpPr/>
          <p:nvPr/>
        </p:nvSpPr>
        <p:spPr>
          <a:xfrm>
            <a:off x="7892143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0.77</a:t>
            </a:r>
          </a:p>
        </p:txBody>
      </p:sp>
      <p:sp>
        <p:nvSpPr>
          <p:cNvPr id="98" name="text 98"/>
          <p:cNvSpPr/>
          <p:nvPr/>
        </p:nvSpPr>
        <p:spPr>
          <a:xfrm>
            <a:off x="9184821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0.64</a:t>
            </a:r>
          </a:p>
        </p:txBody>
      </p:sp>
      <p:sp>
        <p:nvSpPr>
          <p:cNvPr id="99" name="text 99"/>
          <p:cNvSpPr/>
          <p:nvPr/>
        </p:nvSpPr>
        <p:spPr>
          <a:xfrm>
            <a:off x="666750" y="5581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recall</a:t>
            </a:r>
          </a:p>
        </p:txBody>
      </p:sp>
      <p:sp>
        <p:nvSpPr>
          <p:cNvPr id="100" name="text 100"/>
          <p:cNvSpPr/>
          <p:nvPr/>
        </p:nvSpPr>
        <p:spPr>
          <a:xfrm>
            <a:off x="1428750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0.64</a:t>
            </a:r>
          </a:p>
        </p:txBody>
      </p:sp>
      <p:sp>
        <p:nvSpPr>
          <p:cNvPr id="101" name="text 101"/>
          <p:cNvSpPr/>
          <p:nvPr/>
        </p:nvSpPr>
        <p:spPr>
          <a:xfrm>
            <a:off x="2721429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0.69</a:t>
            </a:r>
          </a:p>
        </p:txBody>
      </p:sp>
      <p:sp>
        <p:nvSpPr>
          <p:cNvPr id="102" name="text 102"/>
          <p:cNvSpPr/>
          <p:nvPr/>
        </p:nvSpPr>
        <p:spPr>
          <a:xfrm>
            <a:off x="4014107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0.48</a:t>
            </a:r>
          </a:p>
        </p:txBody>
      </p:sp>
      <p:sp>
        <p:nvSpPr>
          <p:cNvPr id="103" name="text 103"/>
          <p:cNvSpPr/>
          <p:nvPr/>
        </p:nvSpPr>
        <p:spPr>
          <a:xfrm>
            <a:off x="5306786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0.87</a:t>
            </a:r>
          </a:p>
        </p:txBody>
      </p:sp>
      <p:sp>
        <p:nvSpPr>
          <p:cNvPr id="104" name="text 104"/>
          <p:cNvSpPr/>
          <p:nvPr/>
        </p:nvSpPr>
        <p:spPr>
          <a:xfrm>
            <a:off x="6599464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105" name="text 105"/>
          <p:cNvSpPr/>
          <p:nvPr/>
        </p:nvSpPr>
        <p:spPr>
          <a:xfrm>
            <a:off x="7892143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0.85</a:t>
            </a:r>
          </a:p>
        </p:txBody>
      </p:sp>
      <p:sp>
        <p:nvSpPr>
          <p:cNvPr id="106" name="text 106"/>
          <p:cNvSpPr/>
          <p:nvPr/>
        </p:nvSpPr>
        <p:spPr>
          <a:xfrm>
            <a:off x="9184821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0.68</a:t>
            </a:r>
          </a:p>
        </p:txBody>
      </p:sp>
      <p:sp>
        <p:nvSpPr>
          <p:cNvPr id="107" name="text 107"/>
          <p:cNvSpPr/>
          <p:nvPr/>
        </p:nvSpPr>
        <p:spPr>
          <a:xfrm>
            <a:off x="666750" y="5772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F1</a:t>
            </a:r>
          </a:p>
        </p:txBody>
      </p:sp>
      <p:sp>
        <p:nvSpPr>
          <p:cNvPr id="108" name="text 108"/>
          <p:cNvSpPr/>
          <p:nvPr/>
        </p:nvSpPr>
        <p:spPr>
          <a:xfrm>
            <a:off x="1428750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0.62</a:t>
            </a:r>
          </a:p>
        </p:txBody>
      </p:sp>
      <p:sp>
        <p:nvSpPr>
          <p:cNvPr id="109" name="text 109"/>
          <p:cNvSpPr/>
          <p:nvPr/>
        </p:nvSpPr>
        <p:spPr>
          <a:xfrm>
            <a:off x="2721429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0.69</a:t>
            </a:r>
          </a:p>
        </p:txBody>
      </p:sp>
      <p:sp>
        <p:nvSpPr>
          <p:cNvPr id="110" name="text 110"/>
          <p:cNvSpPr/>
          <p:nvPr/>
        </p:nvSpPr>
        <p:spPr>
          <a:xfrm>
            <a:off x="4014107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0.53</a:t>
            </a:r>
          </a:p>
        </p:txBody>
      </p:sp>
      <p:sp>
        <p:nvSpPr>
          <p:cNvPr id="111" name="text 111"/>
          <p:cNvSpPr/>
          <p:nvPr/>
        </p:nvSpPr>
        <p:spPr>
          <a:xfrm>
            <a:off x="5306786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0.88</a:t>
            </a:r>
          </a:p>
        </p:txBody>
      </p:sp>
      <p:sp>
        <p:nvSpPr>
          <p:cNvPr id="112" name="text 112"/>
          <p:cNvSpPr/>
          <p:nvPr/>
        </p:nvSpPr>
        <p:spPr>
          <a:xfrm>
            <a:off x="6599464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 dirty="0">
                <a:solidFill>
                  <a:srgbClr val="1E5F99"/>
                </a:solidFill>
                <a:latin typeface="Aptos"/>
              </a:rPr>
              <a:t>0.58</a:t>
            </a:r>
          </a:p>
        </p:txBody>
      </p:sp>
      <p:sp>
        <p:nvSpPr>
          <p:cNvPr id="113" name="text 113"/>
          <p:cNvSpPr/>
          <p:nvPr/>
        </p:nvSpPr>
        <p:spPr>
          <a:xfrm>
            <a:off x="7892143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0.81</a:t>
            </a:r>
          </a:p>
        </p:txBody>
      </p:sp>
      <p:sp>
        <p:nvSpPr>
          <p:cNvPr id="114" name="text 114"/>
          <p:cNvSpPr/>
          <p:nvPr/>
        </p:nvSpPr>
        <p:spPr>
          <a:xfrm>
            <a:off x="9184821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0.66</a:t>
            </a:r>
          </a:p>
        </p:txBody>
      </p:sp>
      <p:sp>
        <p:nvSpPr>
          <p:cNvPr id="115" name="table top"/>
          <p:cNvSpPr/>
          <p:nvPr/>
        </p:nvSpPr>
        <p:spPr>
          <a:xfrm>
            <a:off x="666750" y="51625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table bottom"/>
          <p:cNvSpPr/>
          <p:nvPr/>
        </p:nvSpPr>
        <p:spPr>
          <a:xfrm>
            <a:off x="666750" y="59626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655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B1B64D-3676-44EA-A1E5-4163F25146E9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RESULTS AND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FABE76-E5F5-467F-ACD8-67FC5B6C4CD8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EfficientNet-B0 is competitive on FER2013 after stronger fine-tuning.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961D6B-52F1-4E8A-9796-6B7B9F7AD668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E74862-0442-4403-B052-470DA9C6B257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17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grid"/>
          <p:cNvSpPr/>
          <p:nvPr/>
        </p:nvSpPr>
        <p:spPr>
          <a:xfrm>
            <a:off x="990600" y="3810000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5"/>
          <p:cNvSpPr/>
          <p:nvPr/>
        </p:nvSpPr>
        <p:spPr>
          <a:xfrm>
            <a:off x="704850" y="373380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0.35</a:t>
            </a:r>
          </a:p>
        </p:txBody>
      </p:sp>
      <p:sp>
        <p:nvSpPr>
          <p:cNvPr id="46" name="grid"/>
          <p:cNvSpPr/>
          <p:nvPr/>
        </p:nvSpPr>
        <p:spPr>
          <a:xfrm>
            <a:off x="990600" y="3356919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7"/>
          <p:cNvSpPr/>
          <p:nvPr/>
        </p:nvSpPr>
        <p:spPr>
          <a:xfrm>
            <a:off x="704850" y="3280719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0.45</a:t>
            </a:r>
          </a:p>
        </p:txBody>
      </p:sp>
      <p:sp>
        <p:nvSpPr>
          <p:cNvPr id="48" name="grid"/>
          <p:cNvSpPr/>
          <p:nvPr/>
        </p:nvSpPr>
        <p:spPr>
          <a:xfrm>
            <a:off x="990600" y="2903838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9"/>
          <p:cNvSpPr/>
          <p:nvPr/>
        </p:nvSpPr>
        <p:spPr>
          <a:xfrm>
            <a:off x="704850" y="2827638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0.55</a:t>
            </a:r>
          </a:p>
        </p:txBody>
      </p:sp>
      <p:sp>
        <p:nvSpPr>
          <p:cNvPr id="50" name="grid"/>
          <p:cNvSpPr/>
          <p:nvPr/>
        </p:nvSpPr>
        <p:spPr>
          <a:xfrm>
            <a:off x="990600" y="2450757"/>
            <a:ext cx="5534025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1"/>
          <p:cNvSpPr/>
          <p:nvPr/>
        </p:nvSpPr>
        <p:spPr>
          <a:xfrm>
            <a:off x="704850" y="2374557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0.65</a:t>
            </a:r>
          </a:p>
        </p:txBody>
      </p:sp>
      <p:sp>
        <p:nvSpPr>
          <p:cNvPr id="52" name="axis"/>
          <p:cNvSpPr/>
          <p:nvPr/>
        </p:nvSpPr>
        <p:spPr>
          <a:xfrm>
            <a:off x="990600" y="3810000"/>
            <a:ext cx="5534025" cy="14288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bar"/>
          <p:cNvSpPr/>
          <p:nvPr/>
        </p:nvSpPr>
        <p:spPr>
          <a:xfrm>
            <a:off x="1051084" y="3670196"/>
            <a:ext cx="251052" cy="139804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4"/>
          <p:cNvSpPr/>
          <p:nvPr/>
        </p:nvSpPr>
        <p:spPr>
          <a:xfrm>
            <a:off x="890860" y="3498746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0.382</a:t>
            </a:r>
          </a:p>
        </p:txBody>
      </p:sp>
      <p:sp>
        <p:nvSpPr>
          <p:cNvPr id="55" name="text 55"/>
          <p:cNvSpPr/>
          <p:nvPr/>
        </p:nvSpPr>
        <p:spPr>
          <a:xfrm>
            <a:off x="796290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dirty="0">
                <a:solidFill>
                  <a:srgbClr val="151922"/>
                </a:solidFill>
                <a:latin typeface="Aptos"/>
              </a:rPr>
              <a:t>feature</a:t>
            </a:r>
          </a:p>
          <a:p>
            <a:pPr algn="ctr"/>
            <a:r>
              <a:rPr lang="en-US" sz="700" dirty="0">
                <a:solidFill>
                  <a:srgbClr val="151922"/>
                </a:solidFill>
                <a:latin typeface="Aptos"/>
              </a:rPr>
              <a:t>extract</a:t>
            </a:r>
          </a:p>
        </p:txBody>
      </p:sp>
      <p:sp>
        <p:nvSpPr>
          <p:cNvPr id="56" name="bar"/>
          <p:cNvSpPr/>
          <p:nvPr/>
        </p:nvSpPr>
        <p:spPr>
          <a:xfrm>
            <a:off x="1796483" y="3305611"/>
            <a:ext cx="251052" cy="504389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7"/>
          <p:cNvSpPr/>
          <p:nvPr/>
        </p:nvSpPr>
        <p:spPr>
          <a:xfrm>
            <a:off x="1636259" y="3134161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0.464</a:t>
            </a:r>
          </a:p>
        </p:txBody>
      </p:sp>
      <p:sp>
        <p:nvSpPr>
          <p:cNvPr id="58" name="text 58"/>
          <p:cNvSpPr/>
          <p:nvPr/>
        </p:nvSpPr>
        <p:spPr>
          <a:xfrm>
            <a:off x="1541689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unfreeze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last block</a:t>
            </a:r>
          </a:p>
        </p:txBody>
      </p:sp>
      <p:sp>
        <p:nvSpPr>
          <p:cNvPr id="59" name="bar"/>
          <p:cNvSpPr/>
          <p:nvPr/>
        </p:nvSpPr>
        <p:spPr>
          <a:xfrm>
            <a:off x="2633322" y="2747891"/>
            <a:ext cx="251052" cy="1062109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60"/>
          <p:cNvSpPr/>
          <p:nvPr/>
        </p:nvSpPr>
        <p:spPr>
          <a:xfrm>
            <a:off x="2473098" y="2576441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0.590</a:t>
            </a:r>
          </a:p>
        </p:txBody>
      </p:sp>
      <p:sp>
        <p:nvSpPr>
          <p:cNvPr id="61" name="text 61"/>
          <p:cNvSpPr/>
          <p:nvPr/>
        </p:nvSpPr>
        <p:spPr>
          <a:xfrm>
            <a:off x="2378529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unfreeze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last 2</a:t>
            </a:r>
          </a:p>
        </p:txBody>
      </p:sp>
      <p:sp>
        <p:nvSpPr>
          <p:cNvPr id="62" name="bar"/>
          <p:cNvSpPr/>
          <p:nvPr/>
        </p:nvSpPr>
        <p:spPr>
          <a:xfrm>
            <a:off x="3470162" y="2541284"/>
            <a:ext cx="251052" cy="1268716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3"/>
          <p:cNvSpPr/>
          <p:nvPr/>
        </p:nvSpPr>
        <p:spPr>
          <a:xfrm>
            <a:off x="3309938" y="2369834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0.637</a:t>
            </a:r>
          </a:p>
        </p:txBody>
      </p:sp>
      <p:sp>
        <p:nvSpPr>
          <p:cNvPr id="64" name="text 64"/>
          <p:cNvSpPr/>
          <p:nvPr/>
        </p:nvSpPr>
        <p:spPr>
          <a:xfrm>
            <a:off x="3215368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unfreeze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last 3</a:t>
            </a:r>
          </a:p>
        </p:txBody>
      </p:sp>
      <p:sp>
        <p:nvSpPr>
          <p:cNvPr id="65" name="bar"/>
          <p:cNvSpPr/>
          <p:nvPr/>
        </p:nvSpPr>
        <p:spPr>
          <a:xfrm>
            <a:off x="4307001" y="2468141"/>
            <a:ext cx="251052" cy="1341859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6"/>
          <p:cNvSpPr/>
          <p:nvPr/>
        </p:nvSpPr>
        <p:spPr>
          <a:xfrm>
            <a:off x="4146777" y="2296691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0.653</a:t>
            </a:r>
          </a:p>
        </p:txBody>
      </p:sp>
      <p:sp>
        <p:nvSpPr>
          <p:cNvPr id="67" name="text 67"/>
          <p:cNvSpPr/>
          <p:nvPr/>
        </p:nvSpPr>
        <p:spPr>
          <a:xfrm>
            <a:off x="4052207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last 3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sampler</a:t>
            </a:r>
          </a:p>
        </p:txBody>
      </p:sp>
      <p:sp>
        <p:nvSpPr>
          <p:cNvPr id="68" name="bar"/>
          <p:cNvSpPr/>
          <p:nvPr/>
        </p:nvSpPr>
        <p:spPr>
          <a:xfrm>
            <a:off x="5143840" y="2450136"/>
            <a:ext cx="251052" cy="1359864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9"/>
          <p:cNvSpPr/>
          <p:nvPr/>
        </p:nvSpPr>
        <p:spPr>
          <a:xfrm>
            <a:off x="4983616" y="2278686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0.657</a:t>
            </a:r>
          </a:p>
        </p:txBody>
      </p:sp>
      <p:sp>
        <p:nvSpPr>
          <p:cNvPr id="70" name="text 70"/>
          <p:cNvSpPr/>
          <p:nvPr/>
        </p:nvSpPr>
        <p:spPr>
          <a:xfrm>
            <a:off x="4889046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sampler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SGD</a:t>
            </a:r>
          </a:p>
        </p:txBody>
      </p:sp>
      <p:sp>
        <p:nvSpPr>
          <p:cNvPr id="71" name="bar"/>
          <p:cNvSpPr/>
          <p:nvPr/>
        </p:nvSpPr>
        <p:spPr>
          <a:xfrm>
            <a:off x="5980679" y="2394580"/>
            <a:ext cx="251052" cy="1415420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2"/>
          <p:cNvSpPr/>
          <p:nvPr/>
        </p:nvSpPr>
        <p:spPr>
          <a:xfrm>
            <a:off x="5820455" y="2223130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257B72"/>
                </a:solidFill>
                <a:latin typeface="Aptos"/>
              </a:rPr>
              <a:t>0.670</a:t>
            </a:r>
          </a:p>
        </p:txBody>
      </p:sp>
      <p:sp>
        <p:nvSpPr>
          <p:cNvPr id="73" name="text 73"/>
          <p:cNvSpPr/>
          <p:nvPr/>
        </p:nvSpPr>
        <p:spPr>
          <a:xfrm>
            <a:off x="5725886" y="3886200"/>
            <a:ext cx="760639" cy="552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crop +</a:t>
            </a:r>
          </a:p>
          <a:p>
            <a:pPr algn="ctr"/>
            <a:r>
              <a:rPr lang="en-US" sz="700">
                <a:solidFill>
                  <a:srgbClr val="151922"/>
                </a:solidFill>
                <a:latin typeface="Aptos"/>
              </a:rPr>
              <a:t>TenCrop</a:t>
            </a:r>
          </a:p>
        </p:txBody>
      </p:sp>
      <p:sp>
        <p:nvSpPr>
          <p:cNvPr id="74" name="legend square"/>
          <p:cNvSpPr/>
          <p:nvPr/>
        </p:nvSpPr>
        <p:spPr>
          <a:xfrm>
            <a:off x="5095875" y="2038350"/>
            <a:ext cx="85725" cy="85725"/>
          </a:xfrm>
          <a:prstGeom prst="rect">
            <a:avLst/>
          </a:prstGeom>
          <a:solidFill>
            <a:srgbClr val="257B72"/>
          </a:solidFill>
          <a:ln>
            <a:solidFill>
              <a:srgbClr val="257B7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5"/>
          <p:cNvSpPr/>
          <p:nvPr/>
        </p:nvSpPr>
        <p:spPr>
          <a:xfrm>
            <a:off x="5229225" y="2000250"/>
            <a:ext cx="119062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00">
                <a:solidFill>
                  <a:srgbClr val="566172"/>
                </a:solidFill>
                <a:latin typeface="Aptos"/>
              </a:rPr>
              <a:t>best val macro F1</a:t>
            </a:r>
          </a:p>
        </p:txBody>
      </p:sp>
      <p:sp>
        <p:nvSpPr>
          <p:cNvPr id="76" name="cm background"/>
          <p:cNvSpPr/>
          <p:nvPr/>
        </p:nvSpPr>
        <p:spPr>
          <a:xfrm>
            <a:off x="7086600" y="1943100"/>
            <a:ext cx="3429000" cy="287655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7" name="efficient confusion matrix" descr="efficient confusion matrix"/>
          <p:cNvPicPr/>
          <p:nvPr/>
        </p:nvPicPr>
        <p:blipFill>
          <a:blip r:embed="rId3"/>
          <a:stretch>
            <a:fillRect/>
          </a:stretch>
        </p:blipFill>
        <p:spPr>
          <a:xfrm>
            <a:off x="7162800" y="2019300"/>
            <a:ext cx="3276600" cy="2724150"/>
          </a:xfrm>
          <a:prstGeom prst="rect">
            <a:avLst/>
          </a:prstGeom>
        </p:spPr>
      </p:pic>
      <p:sp>
        <p:nvSpPr>
          <p:cNvPr id="78" name="text 78"/>
          <p:cNvSpPr/>
          <p:nvPr/>
        </p:nvSpPr>
        <p:spPr>
          <a:xfrm>
            <a:off x="666750" y="4953000"/>
            <a:ext cx="98107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100" b="1">
                <a:solidFill>
                  <a:srgbClr val="257B72"/>
                </a:solidFill>
                <a:latin typeface="Aptos"/>
              </a:rPr>
              <a:t>Best EfficientNet-B0 test per-class precision / recall / F1</a:t>
            </a:r>
          </a:p>
        </p:txBody>
      </p:sp>
      <p:sp>
        <p:nvSpPr>
          <p:cNvPr id="79" name="text 79"/>
          <p:cNvSpPr/>
          <p:nvPr/>
        </p:nvSpPr>
        <p:spPr>
          <a:xfrm>
            <a:off x="666750" y="5200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566172"/>
                </a:solidFill>
                <a:latin typeface="Aptos"/>
              </a:rPr>
              <a:t>metric</a:t>
            </a:r>
          </a:p>
        </p:txBody>
      </p:sp>
      <p:sp>
        <p:nvSpPr>
          <p:cNvPr id="80" name="text 80"/>
          <p:cNvSpPr/>
          <p:nvPr/>
        </p:nvSpPr>
        <p:spPr>
          <a:xfrm>
            <a:off x="1428750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81" name="text 81"/>
          <p:cNvSpPr/>
          <p:nvPr/>
        </p:nvSpPr>
        <p:spPr>
          <a:xfrm>
            <a:off x="2721429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82" name="text 82"/>
          <p:cNvSpPr/>
          <p:nvPr/>
        </p:nvSpPr>
        <p:spPr>
          <a:xfrm>
            <a:off x="4014107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83" name="text 83"/>
          <p:cNvSpPr/>
          <p:nvPr/>
        </p:nvSpPr>
        <p:spPr>
          <a:xfrm>
            <a:off x="5306786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84" name="text 84"/>
          <p:cNvSpPr/>
          <p:nvPr/>
        </p:nvSpPr>
        <p:spPr>
          <a:xfrm>
            <a:off x="6599464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85" name="text 85"/>
          <p:cNvSpPr/>
          <p:nvPr/>
        </p:nvSpPr>
        <p:spPr>
          <a:xfrm>
            <a:off x="7892143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86" name="text 86"/>
          <p:cNvSpPr/>
          <p:nvPr/>
        </p:nvSpPr>
        <p:spPr>
          <a:xfrm>
            <a:off x="9184821" y="5200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700" b="1">
                <a:solidFill>
                  <a:srgbClr val="566172"/>
                </a:solidFill>
                <a:latin typeface="Aptos"/>
              </a:rPr>
              <a:t>neutral</a:t>
            </a:r>
          </a:p>
        </p:txBody>
      </p:sp>
      <p:sp>
        <p:nvSpPr>
          <p:cNvPr id="87" name="text 87"/>
          <p:cNvSpPr/>
          <p:nvPr/>
        </p:nvSpPr>
        <p:spPr>
          <a:xfrm>
            <a:off x="666750" y="5391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precision</a:t>
            </a:r>
          </a:p>
        </p:txBody>
      </p:sp>
      <p:sp>
        <p:nvSpPr>
          <p:cNvPr id="88" name="text 88"/>
          <p:cNvSpPr/>
          <p:nvPr/>
        </p:nvSpPr>
        <p:spPr>
          <a:xfrm>
            <a:off x="1428750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0.62</a:t>
            </a:r>
          </a:p>
        </p:txBody>
      </p:sp>
      <p:sp>
        <p:nvSpPr>
          <p:cNvPr id="89" name="text 89"/>
          <p:cNvSpPr/>
          <p:nvPr/>
        </p:nvSpPr>
        <p:spPr>
          <a:xfrm>
            <a:off x="2721429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0.77</a:t>
            </a:r>
          </a:p>
        </p:txBody>
      </p:sp>
      <p:sp>
        <p:nvSpPr>
          <p:cNvPr id="90" name="text 90"/>
          <p:cNvSpPr/>
          <p:nvPr/>
        </p:nvSpPr>
        <p:spPr>
          <a:xfrm>
            <a:off x="4014107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0.56</a:t>
            </a:r>
          </a:p>
        </p:txBody>
      </p:sp>
      <p:sp>
        <p:nvSpPr>
          <p:cNvPr id="91" name="text 91"/>
          <p:cNvSpPr/>
          <p:nvPr/>
        </p:nvSpPr>
        <p:spPr>
          <a:xfrm>
            <a:off x="5306786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0.88</a:t>
            </a:r>
          </a:p>
        </p:txBody>
      </p:sp>
      <p:sp>
        <p:nvSpPr>
          <p:cNvPr id="92" name="text 92"/>
          <p:cNvSpPr/>
          <p:nvPr/>
        </p:nvSpPr>
        <p:spPr>
          <a:xfrm>
            <a:off x="6599464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0.59</a:t>
            </a:r>
          </a:p>
        </p:txBody>
      </p:sp>
      <p:sp>
        <p:nvSpPr>
          <p:cNvPr id="93" name="text 93"/>
          <p:cNvSpPr/>
          <p:nvPr/>
        </p:nvSpPr>
        <p:spPr>
          <a:xfrm>
            <a:off x="7892143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0.81</a:t>
            </a:r>
          </a:p>
        </p:txBody>
      </p:sp>
      <p:sp>
        <p:nvSpPr>
          <p:cNvPr id="94" name="text 94"/>
          <p:cNvSpPr/>
          <p:nvPr/>
        </p:nvSpPr>
        <p:spPr>
          <a:xfrm>
            <a:off x="9184821" y="5391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0.63</a:t>
            </a:r>
          </a:p>
        </p:txBody>
      </p:sp>
      <p:sp>
        <p:nvSpPr>
          <p:cNvPr id="95" name="text 95"/>
          <p:cNvSpPr/>
          <p:nvPr/>
        </p:nvSpPr>
        <p:spPr>
          <a:xfrm>
            <a:off x="666750" y="55816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recall</a:t>
            </a:r>
          </a:p>
        </p:txBody>
      </p:sp>
      <p:sp>
        <p:nvSpPr>
          <p:cNvPr id="96" name="text 96"/>
          <p:cNvSpPr/>
          <p:nvPr/>
        </p:nvSpPr>
        <p:spPr>
          <a:xfrm>
            <a:off x="1428750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0.63</a:t>
            </a:r>
          </a:p>
        </p:txBody>
      </p:sp>
      <p:sp>
        <p:nvSpPr>
          <p:cNvPr id="97" name="text 97"/>
          <p:cNvSpPr/>
          <p:nvPr/>
        </p:nvSpPr>
        <p:spPr>
          <a:xfrm>
            <a:off x="2721429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0.64</a:t>
            </a:r>
          </a:p>
        </p:txBody>
      </p:sp>
      <p:sp>
        <p:nvSpPr>
          <p:cNvPr id="98" name="text 98"/>
          <p:cNvSpPr/>
          <p:nvPr/>
        </p:nvSpPr>
        <p:spPr>
          <a:xfrm>
            <a:off x="4014107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0.54</a:t>
            </a:r>
          </a:p>
        </p:txBody>
      </p:sp>
      <p:sp>
        <p:nvSpPr>
          <p:cNvPr id="99" name="text 99"/>
          <p:cNvSpPr/>
          <p:nvPr/>
        </p:nvSpPr>
        <p:spPr>
          <a:xfrm>
            <a:off x="5306786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0.87</a:t>
            </a:r>
          </a:p>
        </p:txBody>
      </p:sp>
      <p:sp>
        <p:nvSpPr>
          <p:cNvPr id="100" name="text 100"/>
          <p:cNvSpPr/>
          <p:nvPr/>
        </p:nvSpPr>
        <p:spPr>
          <a:xfrm>
            <a:off x="6599464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0.56</a:t>
            </a:r>
          </a:p>
        </p:txBody>
      </p:sp>
      <p:sp>
        <p:nvSpPr>
          <p:cNvPr id="101" name="text 101"/>
          <p:cNvSpPr/>
          <p:nvPr/>
        </p:nvSpPr>
        <p:spPr>
          <a:xfrm>
            <a:off x="7892143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0.81</a:t>
            </a:r>
          </a:p>
        </p:txBody>
      </p:sp>
      <p:sp>
        <p:nvSpPr>
          <p:cNvPr id="102" name="text 102"/>
          <p:cNvSpPr/>
          <p:nvPr/>
        </p:nvSpPr>
        <p:spPr>
          <a:xfrm>
            <a:off x="9184821" y="55816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0.69</a:t>
            </a:r>
          </a:p>
        </p:txBody>
      </p:sp>
      <p:sp>
        <p:nvSpPr>
          <p:cNvPr id="103" name="text 103"/>
          <p:cNvSpPr/>
          <p:nvPr/>
        </p:nvSpPr>
        <p:spPr>
          <a:xfrm>
            <a:off x="666750" y="5772150"/>
            <a:ext cx="666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800" b="1">
                <a:solidFill>
                  <a:srgbClr val="151922"/>
                </a:solidFill>
                <a:latin typeface="Aptos"/>
              </a:rPr>
              <a:t>F1</a:t>
            </a:r>
          </a:p>
        </p:txBody>
      </p:sp>
      <p:sp>
        <p:nvSpPr>
          <p:cNvPr id="104" name="text 104"/>
          <p:cNvSpPr/>
          <p:nvPr/>
        </p:nvSpPr>
        <p:spPr>
          <a:xfrm>
            <a:off x="1428750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0.62</a:t>
            </a:r>
          </a:p>
        </p:txBody>
      </p:sp>
      <p:sp>
        <p:nvSpPr>
          <p:cNvPr id="105" name="text 105"/>
          <p:cNvSpPr/>
          <p:nvPr/>
        </p:nvSpPr>
        <p:spPr>
          <a:xfrm>
            <a:off x="2721429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0.70</a:t>
            </a:r>
          </a:p>
        </p:txBody>
      </p:sp>
      <p:sp>
        <p:nvSpPr>
          <p:cNvPr id="106" name="text 106"/>
          <p:cNvSpPr/>
          <p:nvPr/>
        </p:nvSpPr>
        <p:spPr>
          <a:xfrm>
            <a:off x="4014107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0.55</a:t>
            </a:r>
          </a:p>
        </p:txBody>
      </p:sp>
      <p:sp>
        <p:nvSpPr>
          <p:cNvPr id="107" name="text 107"/>
          <p:cNvSpPr/>
          <p:nvPr/>
        </p:nvSpPr>
        <p:spPr>
          <a:xfrm>
            <a:off x="5306786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0.88</a:t>
            </a:r>
          </a:p>
        </p:txBody>
      </p:sp>
      <p:sp>
        <p:nvSpPr>
          <p:cNvPr id="108" name="text 108"/>
          <p:cNvSpPr/>
          <p:nvPr/>
        </p:nvSpPr>
        <p:spPr>
          <a:xfrm>
            <a:off x="6599464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A5622C"/>
                </a:solidFill>
                <a:latin typeface="Aptos"/>
              </a:rPr>
              <a:t>0.58</a:t>
            </a:r>
          </a:p>
        </p:txBody>
      </p:sp>
      <p:sp>
        <p:nvSpPr>
          <p:cNvPr id="109" name="text 109"/>
          <p:cNvSpPr/>
          <p:nvPr/>
        </p:nvSpPr>
        <p:spPr>
          <a:xfrm>
            <a:off x="7892143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0.81</a:t>
            </a:r>
          </a:p>
        </p:txBody>
      </p:sp>
      <p:sp>
        <p:nvSpPr>
          <p:cNvPr id="110" name="text 110"/>
          <p:cNvSpPr/>
          <p:nvPr/>
        </p:nvSpPr>
        <p:spPr>
          <a:xfrm>
            <a:off x="9184821" y="5772150"/>
            <a:ext cx="1273629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b="1">
                <a:solidFill>
                  <a:srgbClr val="1E5F99"/>
                </a:solidFill>
                <a:latin typeface="Aptos"/>
              </a:rPr>
              <a:t>0.65</a:t>
            </a:r>
          </a:p>
        </p:txBody>
      </p:sp>
      <p:sp>
        <p:nvSpPr>
          <p:cNvPr id="111" name="table top"/>
          <p:cNvSpPr/>
          <p:nvPr/>
        </p:nvSpPr>
        <p:spPr>
          <a:xfrm>
            <a:off x="666750" y="51625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table bottom"/>
          <p:cNvSpPr/>
          <p:nvPr/>
        </p:nvSpPr>
        <p:spPr>
          <a:xfrm>
            <a:off x="666750" y="5962650"/>
            <a:ext cx="98107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063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3">
            <a:extLst>
              <a:ext uri="{FF2B5EF4-FFF2-40B4-BE49-F238E27FC236}">
                <a16:creationId xmlns:a16="http://schemas.microsoft.com/office/drawing/2014/main" id="{5B9EDF86-0DB8-4EC5-89DD-68EB75BF3F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2AF0D2-3E48-41C6-88F3-E8E6AA5B14A7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RESULTS AND ANALYSIS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1C60E9-B9BE-4504-A009-D057491EFBED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Top confusions show that errors cluster around similar emotions.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9741D8-D211-4025-A280-926A4673C411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613253-72B6-4423-9B55-5B3BD9F2BF15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18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00D022-E10C-4689-B550-93B208E755D2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13811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17BB-69A6-49DA-83FE-D53745F8BBD9}"/>
              </a:ext>
            </a:extLst>
          </p:cNvPr>
          <p:cNvSpPr>
            <a:spLocks noGrp="1"/>
          </p:cNvSpPr>
          <p:nvPr/>
        </p:nvSpPr>
        <p:spPr>
          <a:xfrm>
            <a:off x="2190750" y="2095500"/>
            <a:ext cx="19526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TOP CONFUSION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A0D8EF-176F-484C-B59B-178251A135D4}"/>
              </a:ext>
            </a:extLst>
          </p:cNvPr>
          <p:cNvSpPr>
            <a:spLocks noGrp="1"/>
          </p:cNvSpPr>
          <p:nvPr/>
        </p:nvSpPr>
        <p:spPr>
          <a:xfrm>
            <a:off x="4191000" y="2095500"/>
            <a:ext cx="6858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COUNT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CEF05-6A88-46C2-AE66-605508DF84C8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76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CLASS RATE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DD7628-2103-414F-97E2-C7A826F98917}"/>
              </a:ext>
            </a:extLst>
          </p:cNvPr>
          <p:cNvSpPr>
            <a:spLocks noGrp="1"/>
          </p:cNvSpPr>
          <p:nvPr/>
        </p:nvSpPr>
        <p:spPr>
          <a:xfrm>
            <a:off x="762000" y="2324100"/>
            <a:ext cx="51435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D75374-B57B-4445-BCC1-512D57ECDDA0}"/>
              </a:ext>
            </a:extLst>
          </p:cNvPr>
          <p:cNvSpPr>
            <a:spLocks noGrp="1"/>
          </p:cNvSpPr>
          <p:nvPr/>
        </p:nvSpPr>
        <p:spPr>
          <a:xfrm>
            <a:off x="762000" y="245745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5622C"/>
                </a:solidFill>
                <a:latin typeface="Aptos"/>
                <a:ea typeface="Aptos"/>
                <a:cs typeface="Aptos"/>
              </a:rPr>
              <a:t>Custom CNN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7FE2C4-2B99-49DF-B9E9-72C9F44A547C}"/>
              </a:ext>
            </a:extLst>
          </p:cNvPr>
          <p:cNvSpPr>
            <a:spLocks noGrp="1"/>
          </p:cNvSpPr>
          <p:nvPr/>
        </p:nvSpPr>
        <p:spPr>
          <a:xfrm>
            <a:off x="2190750" y="24574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 -&gt; neutral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8A459D-AAEE-4E22-8281-F83969D97026}"/>
              </a:ext>
            </a:extLst>
          </p:cNvPr>
          <p:cNvSpPr>
            <a:spLocks noGrp="1"/>
          </p:cNvSpPr>
          <p:nvPr/>
        </p:nvSpPr>
        <p:spPr>
          <a:xfrm>
            <a:off x="4191000" y="245745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259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AD2E1-F6DA-49EC-890D-6100A6EFD18A}"/>
              </a:ext>
            </a:extLst>
          </p:cNvPr>
          <p:cNvSpPr>
            <a:spLocks noGrp="1"/>
          </p:cNvSpPr>
          <p:nvPr/>
        </p:nvSpPr>
        <p:spPr>
          <a:xfrm>
            <a:off x="4953000" y="24574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20.8%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FA9E-274E-4D8A-B09B-CEA549B501BC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B82BA6-4B70-48B9-B29F-57676A54B148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5622C"/>
                </a:solidFill>
                <a:latin typeface="Aptos"/>
                <a:ea typeface="Aptos"/>
                <a:cs typeface="Aptos"/>
              </a:rPr>
              <a:t>Custom CNN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3CC4AD-C76E-4EAA-8FA5-3B3F543C1677}"/>
              </a:ext>
            </a:extLst>
          </p:cNvPr>
          <p:cNvSpPr>
            <a:spLocks noGrp="1"/>
          </p:cNvSpPr>
          <p:nvPr/>
        </p:nvSpPr>
        <p:spPr>
          <a:xfrm>
            <a:off x="2190750" y="278130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fear -&gt; sad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0067AA-C7B6-4132-8709-0F0567DF94FD}"/>
              </a:ext>
            </a:extLst>
          </p:cNvPr>
          <p:cNvSpPr>
            <a:spLocks noGrp="1"/>
          </p:cNvSpPr>
          <p:nvPr/>
        </p:nvSpPr>
        <p:spPr>
          <a:xfrm>
            <a:off x="4191000" y="278130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233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CB8312-0312-475B-AA40-7648325B163E}"/>
              </a:ext>
            </a:extLst>
          </p:cNvPr>
          <p:cNvSpPr>
            <a:spLocks noGrp="1"/>
          </p:cNvSpPr>
          <p:nvPr/>
        </p:nvSpPr>
        <p:spPr>
          <a:xfrm>
            <a:off x="4953000" y="278130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22.8%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7B69E8-7060-469C-AED4-69805E510B86}"/>
              </a:ext>
            </a:extLst>
          </p:cNvPr>
          <p:cNvSpPr>
            <a:spLocks noGrp="1"/>
          </p:cNvSpPr>
          <p:nvPr/>
        </p:nvSpPr>
        <p:spPr>
          <a:xfrm>
            <a:off x="762000" y="303847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AD71C3-F5EC-433C-918C-2478A80578D7}"/>
              </a:ext>
            </a:extLst>
          </p:cNvPr>
          <p:cNvSpPr>
            <a:spLocks noGrp="1"/>
          </p:cNvSpPr>
          <p:nvPr/>
        </p:nvSpPr>
        <p:spPr>
          <a:xfrm>
            <a:off x="762000" y="310515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A5622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5622C"/>
                </a:solidFill>
                <a:latin typeface="Aptos"/>
                <a:ea typeface="Aptos"/>
                <a:cs typeface="Aptos"/>
              </a:rPr>
              <a:t>Custom CNN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CCC209-9BF7-4C31-8642-21AC9209DCE2}"/>
              </a:ext>
            </a:extLst>
          </p:cNvPr>
          <p:cNvSpPr>
            <a:spLocks noGrp="1"/>
          </p:cNvSpPr>
          <p:nvPr/>
        </p:nvSpPr>
        <p:spPr>
          <a:xfrm>
            <a:off x="2190750" y="31051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neutral -&gt; sad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67B6F4-611A-40BD-832D-48A16815828C}"/>
              </a:ext>
            </a:extLst>
          </p:cNvPr>
          <p:cNvSpPr>
            <a:spLocks noGrp="1"/>
          </p:cNvSpPr>
          <p:nvPr/>
        </p:nvSpPr>
        <p:spPr>
          <a:xfrm>
            <a:off x="4191000" y="310515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162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34E19F-9912-47EC-A870-909541762ABA}"/>
              </a:ext>
            </a:extLst>
          </p:cNvPr>
          <p:cNvSpPr>
            <a:spLocks noGrp="1"/>
          </p:cNvSpPr>
          <p:nvPr/>
        </p:nvSpPr>
        <p:spPr>
          <a:xfrm>
            <a:off x="4953000" y="31051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13.1%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469126-2374-436D-B16B-56D0F4FD0339}"/>
              </a:ext>
            </a:extLst>
          </p:cNvPr>
          <p:cNvSpPr>
            <a:spLocks noGrp="1"/>
          </p:cNvSpPr>
          <p:nvPr/>
        </p:nvSpPr>
        <p:spPr>
          <a:xfrm>
            <a:off x="762000" y="336232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EE341E-0867-4EAF-82FC-36C5EF263683}"/>
              </a:ext>
            </a:extLst>
          </p:cNvPr>
          <p:cNvSpPr>
            <a:spLocks noGrp="1"/>
          </p:cNvSpPr>
          <p:nvPr/>
        </p:nvSpPr>
        <p:spPr>
          <a:xfrm>
            <a:off x="762000" y="342900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E5F99"/>
                </a:solidFill>
                <a:latin typeface="Aptos"/>
                <a:ea typeface="Aptos"/>
                <a:cs typeface="Aptos"/>
              </a:rPr>
              <a:t>ResNet18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E88F5B-DC72-48BD-9A5E-7BC37248C0BD}"/>
              </a:ext>
            </a:extLst>
          </p:cNvPr>
          <p:cNvSpPr>
            <a:spLocks noGrp="1"/>
          </p:cNvSpPr>
          <p:nvPr/>
        </p:nvSpPr>
        <p:spPr>
          <a:xfrm>
            <a:off x="2190750" y="342900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 -&gt; neutral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2D631E-7E01-4ACD-8B1B-B520AB954462}"/>
              </a:ext>
            </a:extLst>
          </p:cNvPr>
          <p:cNvSpPr>
            <a:spLocks noGrp="1"/>
          </p:cNvSpPr>
          <p:nvPr/>
        </p:nvSpPr>
        <p:spPr>
          <a:xfrm>
            <a:off x="4191000" y="342900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200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517582-530E-4CA4-8925-A24B5ACB2EFF}"/>
              </a:ext>
            </a:extLst>
          </p:cNvPr>
          <p:cNvSpPr>
            <a:spLocks noGrp="1"/>
          </p:cNvSpPr>
          <p:nvPr/>
        </p:nvSpPr>
        <p:spPr>
          <a:xfrm>
            <a:off x="4953000" y="342900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16.0%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A94D4C5-C9B1-478F-BE95-F85CA8E79FBD}"/>
              </a:ext>
            </a:extLst>
          </p:cNvPr>
          <p:cNvSpPr>
            <a:spLocks noGrp="1"/>
          </p:cNvSpPr>
          <p:nvPr/>
        </p:nvSpPr>
        <p:spPr>
          <a:xfrm>
            <a:off x="762000" y="368617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0019A-0556-4488-BACD-004BB0D1504A}"/>
              </a:ext>
            </a:extLst>
          </p:cNvPr>
          <p:cNvSpPr>
            <a:spLocks noGrp="1"/>
          </p:cNvSpPr>
          <p:nvPr/>
        </p:nvSpPr>
        <p:spPr>
          <a:xfrm>
            <a:off x="762000" y="375285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E5F99"/>
                </a:solidFill>
                <a:latin typeface="Aptos"/>
                <a:ea typeface="Aptos"/>
                <a:cs typeface="Aptos"/>
              </a:rPr>
              <a:t>ResNet18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FC615F-622B-4311-9507-1BCB441A3331}"/>
              </a:ext>
            </a:extLst>
          </p:cNvPr>
          <p:cNvSpPr>
            <a:spLocks noGrp="1"/>
          </p:cNvSpPr>
          <p:nvPr/>
        </p:nvSpPr>
        <p:spPr>
          <a:xfrm>
            <a:off x="2190750" y="37528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fear -&gt; sad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771AD5A-CD39-4604-A157-F04AC4DF89CB}"/>
              </a:ext>
            </a:extLst>
          </p:cNvPr>
          <p:cNvSpPr>
            <a:spLocks noGrp="1"/>
          </p:cNvSpPr>
          <p:nvPr/>
        </p:nvSpPr>
        <p:spPr>
          <a:xfrm>
            <a:off x="4191000" y="375285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197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9032C0-C870-462D-A914-A15D4A53D676}"/>
              </a:ext>
            </a:extLst>
          </p:cNvPr>
          <p:cNvSpPr>
            <a:spLocks noGrp="1"/>
          </p:cNvSpPr>
          <p:nvPr/>
        </p:nvSpPr>
        <p:spPr>
          <a:xfrm>
            <a:off x="4953000" y="37528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19.2%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850A53-1749-4F25-B434-275C7A65BB76}"/>
              </a:ext>
            </a:extLst>
          </p:cNvPr>
          <p:cNvSpPr>
            <a:spLocks noGrp="1"/>
          </p:cNvSpPr>
          <p:nvPr/>
        </p:nvSpPr>
        <p:spPr>
          <a:xfrm>
            <a:off x="762000" y="401002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B8E71B-6445-473D-8F0D-444799D78697}"/>
              </a:ext>
            </a:extLst>
          </p:cNvPr>
          <p:cNvSpPr>
            <a:spLocks noGrp="1"/>
          </p:cNvSpPr>
          <p:nvPr/>
        </p:nvSpPr>
        <p:spPr>
          <a:xfrm>
            <a:off x="762000" y="407670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E5F99"/>
                </a:solidFill>
                <a:latin typeface="Aptos"/>
                <a:ea typeface="Aptos"/>
                <a:cs typeface="Aptos"/>
              </a:rPr>
              <a:t>ResNet18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35755C3-DE89-4C44-ABC2-B3327723111A}"/>
              </a:ext>
            </a:extLst>
          </p:cNvPr>
          <p:cNvSpPr>
            <a:spLocks noGrp="1"/>
          </p:cNvSpPr>
          <p:nvPr/>
        </p:nvSpPr>
        <p:spPr>
          <a:xfrm>
            <a:off x="2190750" y="407670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neutral -&gt; sad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F7229DC-B307-4164-8311-B5DC4C667B80}"/>
              </a:ext>
            </a:extLst>
          </p:cNvPr>
          <p:cNvSpPr>
            <a:spLocks noGrp="1"/>
          </p:cNvSpPr>
          <p:nvPr/>
        </p:nvSpPr>
        <p:spPr>
          <a:xfrm>
            <a:off x="4191000" y="407670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162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F7DBC6-2C42-491D-B3BB-C0CA608B6B6B}"/>
              </a:ext>
            </a:extLst>
          </p:cNvPr>
          <p:cNvSpPr>
            <a:spLocks noGrp="1"/>
          </p:cNvSpPr>
          <p:nvPr/>
        </p:nvSpPr>
        <p:spPr>
          <a:xfrm>
            <a:off x="4953000" y="407670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13.1%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9D22871-B262-4D62-A25A-8E04E1D4EFC4}"/>
              </a:ext>
            </a:extLst>
          </p:cNvPr>
          <p:cNvSpPr>
            <a:spLocks noGrp="1"/>
          </p:cNvSpPr>
          <p:nvPr/>
        </p:nvSpPr>
        <p:spPr>
          <a:xfrm>
            <a:off x="762000" y="433387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221FCFF-A421-4B59-8CF7-A0846086D19F}"/>
              </a:ext>
            </a:extLst>
          </p:cNvPr>
          <p:cNvSpPr>
            <a:spLocks noGrp="1"/>
          </p:cNvSpPr>
          <p:nvPr/>
        </p:nvSpPr>
        <p:spPr>
          <a:xfrm>
            <a:off x="762000" y="440055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57B72"/>
                </a:solidFill>
                <a:latin typeface="Aptos"/>
                <a:ea typeface="Aptos"/>
                <a:cs typeface="Aptos"/>
              </a:rPr>
              <a:t>EfficientNet-B0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11AD316-2FDE-4D8E-A36A-BBCC03EC95CF}"/>
              </a:ext>
            </a:extLst>
          </p:cNvPr>
          <p:cNvSpPr>
            <a:spLocks noGrp="1"/>
          </p:cNvSpPr>
          <p:nvPr/>
        </p:nvSpPr>
        <p:spPr>
          <a:xfrm>
            <a:off x="2190750" y="44005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 -&gt; neutral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5114EF6-BCBC-45AE-A4BE-31DA467DCD18}"/>
              </a:ext>
            </a:extLst>
          </p:cNvPr>
          <p:cNvSpPr>
            <a:spLocks noGrp="1"/>
          </p:cNvSpPr>
          <p:nvPr/>
        </p:nvSpPr>
        <p:spPr>
          <a:xfrm>
            <a:off x="4191000" y="440055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206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C8A2B3C-279C-407B-8605-4146DC248E3E}"/>
              </a:ext>
            </a:extLst>
          </p:cNvPr>
          <p:cNvSpPr>
            <a:spLocks noGrp="1"/>
          </p:cNvSpPr>
          <p:nvPr/>
        </p:nvSpPr>
        <p:spPr>
          <a:xfrm>
            <a:off x="4953000" y="44005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16.5%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1CD7D69-A0FE-4CA0-A791-23DAA611E26A}"/>
              </a:ext>
            </a:extLst>
          </p:cNvPr>
          <p:cNvSpPr>
            <a:spLocks noGrp="1"/>
          </p:cNvSpPr>
          <p:nvPr/>
        </p:nvSpPr>
        <p:spPr>
          <a:xfrm>
            <a:off x="762000" y="465772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568C78-735A-4D8B-BE57-8721AE0C8C01}"/>
              </a:ext>
            </a:extLst>
          </p:cNvPr>
          <p:cNvSpPr>
            <a:spLocks noGrp="1"/>
          </p:cNvSpPr>
          <p:nvPr/>
        </p:nvSpPr>
        <p:spPr>
          <a:xfrm>
            <a:off x="762000" y="472440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57B72"/>
                </a:solidFill>
                <a:latin typeface="Aptos"/>
                <a:ea typeface="Aptos"/>
                <a:cs typeface="Aptos"/>
              </a:rPr>
              <a:t>EfficientNet-B0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71D984-9FBA-4765-B924-F5E6AF206ADE}"/>
              </a:ext>
            </a:extLst>
          </p:cNvPr>
          <p:cNvSpPr>
            <a:spLocks noGrp="1"/>
          </p:cNvSpPr>
          <p:nvPr/>
        </p:nvSpPr>
        <p:spPr>
          <a:xfrm>
            <a:off x="2190750" y="472440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fear -&gt; sad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BC71354-FB8E-489A-B069-53ABC58A5A6B}"/>
              </a:ext>
            </a:extLst>
          </p:cNvPr>
          <p:cNvSpPr>
            <a:spLocks noGrp="1"/>
          </p:cNvSpPr>
          <p:nvPr/>
        </p:nvSpPr>
        <p:spPr>
          <a:xfrm>
            <a:off x="4191000" y="472440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163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0BC3D56-05F0-46C5-908B-372AEF7480FC}"/>
              </a:ext>
            </a:extLst>
          </p:cNvPr>
          <p:cNvSpPr>
            <a:spLocks noGrp="1"/>
          </p:cNvSpPr>
          <p:nvPr/>
        </p:nvSpPr>
        <p:spPr>
          <a:xfrm>
            <a:off x="4953000" y="472440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15.9%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5195A10-4844-4D5C-8835-0AFFBA2FA77D}"/>
              </a:ext>
            </a:extLst>
          </p:cNvPr>
          <p:cNvSpPr>
            <a:spLocks noGrp="1"/>
          </p:cNvSpPr>
          <p:nvPr/>
        </p:nvSpPr>
        <p:spPr>
          <a:xfrm>
            <a:off x="762000" y="498157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580EDE4-DD19-4A79-807E-87760A66FE74}"/>
              </a:ext>
            </a:extLst>
          </p:cNvPr>
          <p:cNvSpPr>
            <a:spLocks noGrp="1"/>
          </p:cNvSpPr>
          <p:nvPr/>
        </p:nvSpPr>
        <p:spPr>
          <a:xfrm>
            <a:off x="762000" y="5048250"/>
            <a:ext cx="13811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57B72"/>
                </a:solidFill>
                <a:latin typeface="Aptos"/>
                <a:ea typeface="Aptos"/>
                <a:cs typeface="Aptos"/>
              </a:rPr>
              <a:t>EfficientNet-B0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DCF7C5-27FE-48E2-A376-BBF74D8F6249}"/>
              </a:ext>
            </a:extLst>
          </p:cNvPr>
          <p:cNvSpPr>
            <a:spLocks noGrp="1"/>
          </p:cNvSpPr>
          <p:nvPr/>
        </p:nvSpPr>
        <p:spPr>
          <a:xfrm>
            <a:off x="2190750" y="5048250"/>
            <a:ext cx="19526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 -&gt; fear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F1A7F9A-2735-429D-B074-3B38E18F708B}"/>
              </a:ext>
            </a:extLst>
          </p:cNvPr>
          <p:cNvSpPr>
            <a:spLocks noGrp="1"/>
          </p:cNvSpPr>
          <p:nvPr/>
        </p:nvSpPr>
        <p:spPr>
          <a:xfrm>
            <a:off x="4191000" y="5048250"/>
            <a:ext cx="685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154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B8C3DB-B7B9-4AB9-B628-1B48B6EFAFA2}"/>
              </a:ext>
            </a:extLst>
          </p:cNvPr>
          <p:cNvSpPr>
            <a:spLocks noGrp="1"/>
          </p:cNvSpPr>
          <p:nvPr/>
        </p:nvSpPr>
        <p:spPr>
          <a:xfrm>
            <a:off x="4953000" y="5048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12.3%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7E51DDB-83FB-4E1B-BBBB-BC8B6021DCE0}"/>
              </a:ext>
            </a:extLst>
          </p:cNvPr>
          <p:cNvSpPr>
            <a:spLocks noGrp="1"/>
          </p:cNvSpPr>
          <p:nvPr/>
        </p:nvSpPr>
        <p:spPr>
          <a:xfrm>
            <a:off x="762000" y="5305425"/>
            <a:ext cx="5143500" cy="9525"/>
          </a:xfrm>
          <a:prstGeom prst="rect">
            <a:avLst/>
          </a:prstGeom>
          <a:solidFill>
            <a:srgbClr val="D8D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29500B-CE01-406E-8475-F947AEAC911C}"/>
              </a:ext>
            </a:extLst>
          </p:cNvPr>
          <p:cNvSpPr>
            <a:spLocks noGrp="1"/>
          </p:cNvSpPr>
          <p:nvPr/>
        </p:nvSpPr>
        <p:spPr>
          <a:xfrm>
            <a:off x="6667500" y="24955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09DBB57-A611-4D13-8119-2535B69C0F0D}"/>
              </a:ext>
            </a:extLst>
          </p:cNvPr>
          <p:cNvSpPr>
            <a:spLocks noGrp="1"/>
          </p:cNvSpPr>
          <p:nvPr/>
        </p:nvSpPr>
        <p:spPr>
          <a:xfrm>
            <a:off x="6915150" y="2400300"/>
            <a:ext cx="3848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Sad, fear, and neutral dominate the top mistakes.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2DFBEA3-776C-4E4E-BDB6-A81B02EB7835}"/>
              </a:ext>
            </a:extLst>
          </p:cNvPr>
          <p:cNvSpPr>
            <a:spLocks noGrp="1"/>
          </p:cNvSpPr>
          <p:nvPr/>
        </p:nvSpPr>
        <p:spPr>
          <a:xfrm>
            <a:off x="6667500" y="31623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7EB4E2A-DE00-40A8-BF51-851E08B57513}"/>
              </a:ext>
            </a:extLst>
          </p:cNvPr>
          <p:cNvSpPr>
            <a:spLocks noGrp="1"/>
          </p:cNvSpPr>
          <p:nvPr/>
        </p:nvSpPr>
        <p:spPr>
          <a:xfrm>
            <a:off x="6915150" y="3067050"/>
            <a:ext cx="3848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same error families appear across model architectures.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7C442A7-E769-400E-A51A-816E4F2CCA59}"/>
              </a:ext>
            </a:extLst>
          </p:cNvPr>
          <p:cNvSpPr>
            <a:spLocks noGrp="1"/>
          </p:cNvSpPr>
          <p:nvPr/>
        </p:nvSpPr>
        <p:spPr>
          <a:xfrm>
            <a:off x="6667500" y="38290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DF4513B-DE92-4496-BAC7-40871056C59E}"/>
              </a:ext>
            </a:extLst>
          </p:cNvPr>
          <p:cNvSpPr>
            <a:spLocks noGrp="1"/>
          </p:cNvSpPr>
          <p:nvPr/>
        </p:nvSpPr>
        <p:spPr>
          <a:xfrm>
            <a:off x="6915150" y="3733800"/>
            <a:ext cx="3848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supports the affect-circumplex interpretation: adjacent emotions are harder to separate.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6BA1544-046E-468A-8DEF-1F0229BE4CC3}"/>
              </a:ext>
            </a:extLst>
          </p:cNvPr>
          <p:cNvSpPr>
            <a:spLocks noGrp="1"/>
          </p:cNvSpPr>
          <p:nvPr/>
        </p:nvSpPr>
        <p:spPr>
          <a:xfrm>
            <a:off x="6667500" y="44958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BBD8A75-478D-4773-A516-90A5FADBE734}"/>
              </a:ext>
            </a:extLst>
          </p:cNvPr>
          <p:cNvSpPr>
            <a:spLocks noGrp="1"/>
          </p:cNvSpPr>
          <p:nvPr/>
        </p:nvSpPr>
        <p:spPr>
          <a:xfrm>
            <a:off x="6915150" y="4400550"/>
            <a:ext cx="3848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best model improves the score, but does not remove class ambiguity.</a:t>
            </a:r>
          </a:p>
        </p:txBody>
      </p:sp>
    </p:spTree>
    <p:extLst>
      <p:ext uri="{BB962C8B-B14F-4D97-AF65-F5344CB8AC3E}">
        <p14:creationId xmlns:p14="http://schemas.microsoft.com/office/powerpoint/2010/main" val="927504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6A2B69-820A-4DC8-B169-E8337DB3A2DE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COMPARISON AGAINST BASELINES AND STATE OF THE ART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7D13C8-862E-488E-B409-10BA07E5ECD1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FER2013 and CK+ comparisons show both improvement and domain shift.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11A80-45D0-41D7-8221-26923B25DD59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49782A-338D-4DB5-B5F7-6F1C497DF634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19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mparison grid"/>
          <p:cNvSpPr/>
          <p:nvPr/>
        </p:nvSpPr>
        <p:spPr>
          <a:xfrm>
            <a:off x="952500" y="363855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/>
          <p:nvPr/>
        </p:nvSpPr>
        <p:spPr>
          <a:xfrm>
            <a:off x="666750" y="356235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0.50</a:t>
            </a:r>
          </a:p>
        </p:txBody>
      </p:sp>
      <p:sp>
        <p:nvSpPr>
          <p:cNvPr id="8" name="comparison grid"/>
          <p:cNvSpPr/>
          <p:nvPr/>
        </p:nvSpPr>
        <p:spPr>
          <a:xfrm>
            <a:off x="952500" y="335661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9"/>
          <p:cNvSpPr/>
          <p:nvPr/>
        </p:nvSpPr>
        <p:spPr>
          <a:xfrm>
            <a:off x="666750" y="328041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0.55</a:t>
            </a:r>
          </a:p>
        </p:txBody>
      </p:sp>
      <p:sp>
        <p:nvSpPr>
          <p:cNvPr id="10" name="comparison grid"/>
          <p:cNvSpPr/>
          <p:nvPr/>
        </p:nvSpPr>
        <p:spPr>
          <a:xfrm>
            <a:off x="952500" y="307467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/>
          <p:nvPr/>
        </p:nvSpPr>
        <p:spPr>
          <a:xfrm>
            <a:off x="666750" y="299847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0.60</a:t>
            </a:r>
          </a:p>
        </p:txBody>
      </p:sp>
      <p:sp>
        <p:nvSpPr>
          <p:cNvPr id="12" name="comparison grid"/>
          <p:cNvSpPr/>
          <p:nvPr/>
        </p:nvSpPr>
        <p:spPr>
          <a:xfrm>
            <a:off x="952500" y="279273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3"/>
          <p:cNvSpPr/>
          <p:nvPr/>
        </p:nvSpPr>
        <p:spPr>
          <a:xfrm>
            <a:off x="666750" y="271653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0.65</a:t>
            </a:r>
          </a:p>
        </p:txBody>
      </p:sp>
      <p:sp>
        <p:nvSpPr>
          <p:cNvPr id="14" name="comparison grid"/>
          <p:cNvSpPr/>
          <p:nvPr/>
        </p:nvSpPr>
        <p:spPr>
          <a:xfrm>
            <a:off x="952500" y="251079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5"/>
          <p:cNvSpPr/>
          <p:nvPr/>
        </p:nvSpPr>
        <p:spPr>
          <a:xfrm>
            <a:off x="666750" y="243459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0.70</a:t>
            </a:r>
          </a:p>
        </p:txBody>
      </p:sp>
      <p:sp>
        <p:nvSpPr>
          <p:cNvPr id="16" name="comparison grid"/>
          <p:cNvSpPr/>
          <p:nvPr/>
        </p:nvSpPr>
        <p:spPr>
          <a:xfrm>
            <a:off x="952500" y="2228850"/>
            <a:ext cx="3429000" cy="9525"/>
          </a:xfrm>
          <a:prstGeom prst="rect">
            <a:avLst/>
          </a:prstGeom>
          <a:solidFill>
            <a:srgbClr val="E6E2DA"/>
          </a:solidFill>
          <a:ln>
            <a:solidFill>
              <a:srgbClr val="E6E2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7"/>
          <p:cNvSpPr/>
          <p:nvPr/>
        </p:nvSpPr>
        <p:spPr>
          <a:xfrm>
            <a:off x="666750" y="215265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r"/>
            <a:r>
              <a:rPr lang="en-US" sz="800">
                <a:solidFill>
                  <a:srgbClr val="566172"/>
                </a:solidFill>
                <a:latin typeface="Aptos"/>
              </a:rPr>
              <a:t>0.75</a:t>
            </a:r>
          </a:p>
        </p:txBody>
      </p:sp>
      <p:sp>
        <p:nvSpPr>
          <p:cNvPr id="18" name="comparison axis"/>
          <p:cNvSpPr/>
          <p:nvPr/>
        </p:nvSpPr>
        <p:spPr>
          <a:xfrm>
            <a:off x="952500" y="3638550"/>
            <a:ext cx="3429000" cy="14288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comparison bar"/>
          <p:cNvSpPr/>
          <p:nvPr/>
        </p:nvSpPr>
        <p:spPr>
          <a:xfrm>
            <a:off x="1098550" y="2794107"/>
            <a:ext cx="152400" cy="844443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0"/>
          <p:cNvSpPr/>
          <p:nvPr/>
        </p:nvSpPr>
        <p:spPr>
          <a:xfrm>
            <a:off x="927100" y="2660757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1E5F99"/>
                </a:solidFill>
                <a:latin typeface="Aptos"/>
              </a:rPr>
              <a:t>0.654</a:t>
            </a:r>
          </a:p>
        </p:txBody>
      </p:sp>
      <p:sp>
        <p:nvSpPr>
          <p:cNvPr id="21" name="comparison bar"/>
          <p:cNvSpPr/>
          <p:nvPr/>
        </p:nvSpPr>
        <p:spPr>
          <a:xfrm>
            <a:off x="1289050" y="2707573"/>
            <a:ext cx="152400" cy="930977"/>
          </a:xfrm>
          <a:prstGeom prst="rect">
            <a:avLst/>
          </a:prstGeom>
          <a:solidFill>
            <a:srgbClr val="A5622C"/>
          </a:solidFill>
          <a:ln>
            <a:solidFill>
              <a:srgbClr val="A5622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2"/>
          <p:cNvSpPr/>
          <p:nvPr/>
        </p:nvSpPr>
        <p:spPr>
          <a:xfrm>
            <a:off x="1117600" y="2574223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A5622C"/>
                </a:solidFill>
                <a:latin typeface="Aptos"/>
              </a:rPr>
              <a:t>0.670</a:t>
            </a:r>
          </a:p>
        </p:txBody>
      </p:sp>
      <p:sp>
        <p:nvSpPr>
          <p:cNvPr id="23" name="text 23"/>
          <p:cNvSpPr/>
          <p:nvPr/>
        </p:nvSpPr>
        <p:spPr>
          <a:xfrm>
            <a:off x="685800" y="3705225"/>
            <a:ext cx="1168400" cy="4381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50">
                <a:solidFill>
                  <a:srgbClr val="151922"/>
                </a:solidFill>
                <a:latin typeface="Aptos"/>
              </a:rPr>
              <a:t>Custom</a:t>
            </a:r>
          </a:p>
          <a:p>
            <a:pPr algn="ctr"/>
            <a:r>
              <a:rPr lang="en-US" sz="850">
                <a:solidFill>
                  <a:srgbClr val="151922"/>
                </a:solidFill>
                <a:latin typeface="Aptos"/>
              </a:rPr>
              <a:t>CNN</a:t>
            </a:r>
          </a:p>
        </p:txBody>
      </p:sp>
      <p:sp>
        <p:nvSpPr>
          <p:cNvPr id="24" name="comparison bar"/>
          <p:cNvSpPr/>
          <p:nvPr/>
        </p:nvSpPr>
        <p:spPr>
          <a:xfrm>
            <a:off x="2343150" y="2638974"/>
            <a:ext cx="152400" cy="999576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5"/>
          <p:cNvSpPr/>
          <p:nvPr/>
        </p:nvSpPr>
        <p:spPr>
          <a:xfrm>
            <a:off x="2171700" y="2505624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1E5F99"/>
                </a:solidFill>
                <a:latin typeface="Aptos"/>
              </a:rPr>
              <a:t>0.682</a:t>
            </a:r>
          </a:p>
        </p:txBody>
      </p:sp>
      <p:sp>
        <p:nvSpPr>
          <p:cNvPr id="26" name="comparison bar"/>
          <p:cNvSpPr/>
          <p:nvPr/>
        </p:nvSpPr>
        <p:spPr>
          <a:xfrm>
            <a:off x="2533650" y="2502817"/>
            <a:ext cx="152400" cy="1135733"/>
          </a:xfrm>
          <a:prstGeom prst="rect">
            <a:avLst/>
          </a:prstGeom>
          <a:solidFill>
            <a:srgbClr val="A5622C"/>
          </a:solidFill>
          <a:ln>
            <a:solidFill>
              <a:srgbClr val="A5622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7"/>
          <p:cNvSpPr/>
          <p:nvPr/>
        </p:nvSpPr>
        <p:spPr>
          <a:xfrm>
            <a:off x="2362200" y="2369467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A5622C"/>
                </a:solidFill>
                <a:latin typeface="Aptos"/>
              </a:rPr>
              <a:t>0.707</a:t>
            </a:r>
          </a:p>
        </p:txBody>
      </p:sp>
      <p:sp>
        <p:nvSpPr>
          <p:cNvPr id="28" name="text 28"/>
          <p:cNvSpPr/>
          <p:nvPr/>
        </p:nvSpPr>
        <p:spPr>
          <a:xfrm>
            <a:off x="1930400" y="3705225"/>
            <a:ext cx="1168400" cy="4381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50">
                <a:solidFill>
                  <a:srgbClr val="151922"/>
                </a:solidFill>
                <a:latin typeface="Aptos"/>
              </a:rPr>
              <a:t>ResNet18</a:t>
            </a:r>
          </a:p>
        </p:txBody>
      </p:sp>
      <p:sp>
        <p:nvSpPr>
          <p:cNvPr id="29" name="comparison bar"/>
          <p:cNvSpPr/>
          <p:nvPr/>
        </p:nvSpPr>
        <p:spPr>
          <a:xfrm>
            <a:off x="3587750" y="2622541"/>
            <a:ext cx="152400" cy="1016009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30"/>
          <p:cNvSpPr/>
          <p:nvPr/>
        </p:nvSpPr>
        <p:spPr>
          <a:xfrm>
            <a:off x="3416300" y="2489191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1E5F99"/>
                </a:solidFill>
                <a:latin typeface="Aptos"/>
              </a:rPr>
              <a:t>0.685</a:t>
            </a:r>
          </a:p>
        </p:txBody>
      </p:sp>
      <p:sp>
        <p:nvSpPr>
          <p:cNvPr id="31" name="comparison bar"/>
          <p:cNvSpPr/>
          <p:nvPr/>
        </p:nvSpPr>
        <p:spPr>
          <a:xfrm>
            <a:off x="3778250" y="3330007"/>
            <a:ext cx="152400" cy="308543"/>
          </a:xfrm>
          <a:prstGeom prst="rect">
            <a:avLst/>
          </a:prstGeom>
          <a:solidFill>
            <a:srgbClr val="A5622C"/>
          </a:solidFill>
          <a:ln>
            <a:solidFill>
              <a:srgbClr val="A5622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2"/>
          <p:cNvSpPr/>
          <p:nvPr/>
        </p:nvSpPr>
        <p:spPr>
          <a:xfrm>
            <a:off x="3606800" y="3196657"/>
            <a:ext cx="514350" cy="11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20" b="1">
                <a:solidFill>
                  <a:srgbClr val="A5622C"/>
                </a:solidFill>
                <a:latin typeface="Aptos"/>
              </a:rPr>
              <a:t>0.556</a:t>
            </a:r>
          </a:p>
        </p:txBody>
      </p:sp>
      <p:sp>
        <p:nvSpPr>
          <p:cNvPr id="33" name="text 33"/>
          <p:cNvSpPr/>
          <p:nvPr/>
        </p:nvSpPr>
        <p:spPr>
          <a:xfrm>
            <a:off x="3175000" y="3705225"/>
            <a:ext cx="1168400" cy="4381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850">
                <a:solidFill>
                  <a:srgbClr val="151922"/>
                </a:solidFill>
                <a:latin typeface="Aptos"/>
              </a:rPr>
              <a:t>EfficientNet</a:t>
            </a:r>
          </a:p>
          <a:p>
            <a:pPr algn="ctr"/>
            <a:r>
              <a:rPr lang="en-US" sz="850">
                <a:solidFill>
                  <a:srgbClr val="151922"/>
                </a:solidFill>
                <a:latin typeface="Aptos"/>
              </a:rPr>
              <a:t>-B0</a:t>
            </a:r>
          </a:p>
        </p:txBody>
      </p:sp>
      <p:sp>
        <p:nvSpPr>
          <p:cNvPr id="34" name="legend FER"/>
          <p:cNvSpPr/>
          <p:nvPr/>
        </p:nvSpPr>
        <p:spPr>
          <a:xfrm>
            <a:off x="2781300" y="2133600"/>
            <a:ext cx="76200" cy="76200"/>
          </a:xfrm>
          <a:prstGeom prst="rect">
            <a:avLst/>
          </a:prstGeom>
          <a:solidFill>
            <a:srgbClr val="1E5F99"/>
          </a:solidFill>
          <a:ln>
            <a:solidFill>
              <a:srgbClr val="1E5F9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5"/>
          <p:cNvSpPr/>
          <p:nvPr/>
        </p:nvSpPr>
        <p:spPr>
          <a:xfrm>
            <a:off x="2895600" y="2095500"/>
            <a:ext cx="5524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900">
                <a:solidFill>
                  <a:srgbClr val="566172"/>
                </a:solidFill>
                <a:latin typeface="Aptos"/>
              </a:rPr>
              <a:t>FER2013</a:t>
            </a:r>
          </a:p>
        </p:txBody>
      </p:sp>
      <p:sp>
        <p:nvSpPr>
          <p:cNvPr id="36" name="legend CK"/>
          <p:cNvSpPr/>
          <p:nvPr/>
        </p:nvSpPr>
        <p:spPr>
          <a:xfrm>
            <a:off x="3543300" y="2133600"/>
            <a:ext cx="76200" cy="76200"/>
          </a:xfrm>
          <a:prstGeom prst="rect">
            <a:avLst/>
          </a:prstGeom>
          <a:solidFill>
            <a:srgbClr val="A5622C"/>
          </a:solidFill>
          <a:ln>
            <a:solidFill>
              <a:srgbClr val="A5622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7"/>
          <p:cNvSpPr/>
          <p:nvPr/>
        </p:nvSpPr>
        <p:spPr>
          <a:xfrm>
            <a:off x="3657600" y="2095500"/>
            <a:ext cx="4762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900">
                <a:solidFill>
                  <a:srgbClr val="566172"/>
                </a:solidFill>
                <a:latin typeface="Aptos"/>
              </a:rPr>
              <a:t>CK+</a:t>
            </a:r>
          </a:p>
        </p:txBody>
      </p:sp>
      <p:sp>
        <p:nvSpPr>
          <p:cNvPr id="38" name="text 38"/>
          <p:cNvSpPr/>
          <p:nvPr/>
        </p:nvSpPr>
        <p:spPr>
          <a:xfrm>
            <a:off x="4629150" y="2152650"/>
            <a:ext cx="2000250" cy="419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150">
                <a:solidFill>
                  <a:srgbClr val="151922"/>
                </a:solidFill>
                <a:latin typeface="Aptos"/>
              </a:rPr>
              <a:t>Baseline CNN uses the selected crop/TenCrop CE 80-epoch checkpoint.</a:t>
            </a:r>
          </a:p>
        </p:txBody>
      </p:sp>
      <p:sp>
        <p:nvSpPr>
          <p:cNvPr id="39" name="text 39"/>
          <p:cNvSpPr/>
          <p:nvPr/>
        </p:nvSpPr>
        <p:spPr>
          <a:xfrm>
            <a:off x="4629150" y="2819400"/>
            <a:ext cx="2000250" cy="514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150">
                <a:solidFill>
                  <a:srgbClr val="151922"/>
                </a:solidFill>
                <a:latin typeface="Aptos"/>
              </a:rPr>
              <a:t>CK+ confirms strong happy/surprise transfer but weaker fear and disgust generalization.</a:t>
            </a:r>
          </a:p>
        </p:txBody>
      </p:sp>
      <p:sp>
        <p:nvSpPr>
          <p:cNvPr id="40" name="text 40"/>
          <p:cNvSpPr/>
          <p:nvPr/>
        </p:nvSpPr>
        <p:spPr>
          <a:xfrm>
            <a:off x="6858000" y="1866900"/>
            <a:ext cx="1428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950" b="1">
                <a:solidFill>
                  <a:srgbClr val="A5622C"/>
                </a:solidFill>
                <a:latin typeface="Aptos"/>
              </a:rPr>
              <a:t>Custom CNN CK+</a:t>
            </a:r>
          </a:p>
        </p:txBody>
      </p:sp>
      <p:sp>
        <p:nvSpPr>
          <p:cNvPr id="41" name="baseline cm bg"/>
          <p:cNvSpPr/>
          <p:nvPr/>
        </p:nvSpPr>
        <p:spPr>
          <a:xfrm>
            <a:off x="6810375" y="2009775"/>
            <a:ext cx="1485900" cy="125730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2" name="baseline CK+ confusion matrix" descr="baseline CK+ confusion matrix"/>
          <p:cNvPicPr/>
          <p:nvPr/>
        </p:nvPicPr>
        <p:blipFill>
          <a:blip r:embed="rId3"/>
          <a:stretch>
            <a:fillRect/>
          </a:stretch>
        </p:blipFill>
        <p:spPr>
          <a:xfrm>
            <a:off x="6858000" y="2057400"/>
            <a:ext cx="1390650" cy="1162050"/>
          </a:xfrm>
          <a:prstGeom prst="rect">
            <a:avLst/>
          </a:prstGeom>
        </p:spPr>
      </p:pic>
      <p:sp>
        <p:nvSpPr>
          <p:cNvPr id="43" name="text 43"/>
          <p:cNvSpPr/>
          <p:nvPr/>
        </p:nvSpPr>
        <p:spPr>
          <a:xfrm>
            <a:off x="8524875" y="1866900"/>
            <a:ext cx="1428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950" b="1">
                <a:solidFill>
                  <a:srgbClr val="1E5F99"/>
                </a:solidFill>
                <a:latin typeface="Aptos"/>
              </a:rPr>
              <a:t>ResNet18 CK+</a:t>
            </a:r>
          </a:p>
        </p:txBody>
      </p:sp>
      <p:sp>
        <p:nvSpPr>
          <p:cNvPr id="44" name="resnet cm bg"/>
          <p:cNvSpPr/>
          <p:nvPr/>
        </p:nvSpPr>
        <p:spPr>
          <a:xfrm>
            <a:off x="8477250" y="2009775"/>
            <a:ext cx="1485900" cy="125730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5" name="resnet CK+ confusion matrix" descr="resnet CK+ confusion matrix"/>
          <p:cNvPicPr/>
          <p:nvPr/>
        </p:nvPicPr>
        <p:blipFill>
          <a:blip r:embed="rId4"/>
          <a:stretch>
            <a:fillRect/>
          </a:stretch>
        </p:blipFill>
        <p:spPr>
          <a:xfrm>
            <a:off x="8524875" y="2057400"/>
            <a:ext cx="1390650" cy="1162050"/>
          </a:xfrm>
          <a:prstGeom prst="rect">
            <a:avLst/>
          </a:prstGeom>
        </p:spPr>
      </p:pic>
      <p:sp>
        <p:nvSpPr>
          <p:cNvPr id="46" name="text 46"/>
          <p:cNvSpPr/>
          <p:nvPr/>
        </p:nvSpPr>
        <p:spPr>
          <a:xfrm>
            <a:off x="10191750" y="1866900"/>
            <a:ext cx="1428750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950" b="1">
                <a:solidFill>
                  <a:srgbClr val="257B72"/>
                </a:solidFill>
                <a:latin typeface="Aptos"/>
              </a:rPr>
              <a:t>EfficientNet-B0 CK+</a:t>
            </a:r>
          </a:p>
        </p:txBody>
      </p:sp>
      <p:sp>
        <p:nvSpPr>
          <p:cNvPr id="47" name="efficient cm bg"/>
          <p:cNvSpPr/>
          <p:nvPr/>
        </p:nvSpPr>
        <p:spPr>
          <a:xfrm>
            <a:off x="10144125" y="2009775"/>
            <a:ext cx="1485900" cy="1257300"/>
          </a:xfrm>
          <a:prstGeom prst="rect">
            <a:avLst/>
          </a:prstGeom>
          <a:solidFill>
            <a:srgbClr val="FFFFFF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8" name="efficient CK+ confusion matrix" descr="efficient CK+ confusion matrix"/>
          <p:cNvPicPr/>
          <p:nvPr/>
        </p:nvPicPr>
        <p:blipFill>
          <a:blip r:embed="rId5"/>
          <a:stretch>
            <a:fillRect/>
          </a:stretch>
        </p:blipFill>
        <p:spPr>
          <a:xfrm>
            <a:off x="10191750" y="2057400"/>
            <a:ext cx="1390650" cy="1162050"/>
          </a:xfrm>
          <a:prstGeom prst="rect">
            <a:avLst/>
          </a:prstGeom>
        </p:spPr>
      </p:pic>
      <p:sp>
        <p:nvSpPr>
          <p:cNvPr id="49" name="text 49"/>
          <p:cNvSpPr/>
          <p:nvPr/>
        </p:nvSpPr>
        <p:spPr>
          <a:xfrm>
            <a:off x="647700" y="5219700"/>
            <a:ext cx="31432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50" b="1">
                <a:solidFill>
                  <a:srgbClr val="A5622C"/>
                </a:solidFill>
                <a:latin typeface="Aptos"/>
              </a:rPr>
              <a:t>CK+ Custom CNN per-class F1</a:t>
            </a:r>
          </a:p>
        </p:txBody>
      </p:sp>
      <p:sp>
        <p:nvSpPr>
          <p:cNvPr id="50" name="f1 top"/>
          <p:cNvSpPr/>
          <p:nvPr/>
        </p:nvSpPr>
        <p:spPr>
          <a:xfrm>
            <a:off x="647700" y="544830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1"/>
          <p:cNvSpPr/>
          <p:nvPr/>
        </p:nvSpPr>
        <p:spPr>
          <a:xfrm>
            <a:off x="64770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52" name="text 52"/>
          <p:cNvSpPr/>
          <p:nvPr/>
        </p:nvSpPr>
        <p:spPr>
          <a:xfrm>
            <a:off x="64770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0.48</a:t>
            </a:r>
          </a:p>
        </p:txBody>
      </p:sp>
      <p:sp>
        <p:nvSpPr>
          <p:cNvPr id="53" name="text 53"/>
          <p:cNvSpPr/>
          <p:nvPr/>
        </p:nvSpPr>
        <p:spPr>
          <a:xfrm>
            <a:off x="117157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54" name="text 54"/>
          <p:cNvSpPr/>
          <p:nvPr/>
        </p:nvSpPr>
        <p:spPr>
          <a:xfrm>
            <a:off x="117157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0.71</a:t>
            </a:r>
          </a:p>
        </p:txBody>
      </p:sp>
      <p:sp>
        <p:nvSpPr>
          <p:cNvPr id="55" name="text 55"/>
          <p:cNvSpPr/>
          <p:nvPr/>
        </p:nvSpPr>
        <p:spPr>
          <a:xfrm>
            <a:off x="169545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56" name="text 56"/>
          <p:cNvSpPr/>
          <p:nvPr/>
        </p:nvSpPr>
        <p:spPr>
          <a:xfrm>
            <a:off x="169545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0.43</a:t>
            </a:r>
          </a:p>
        </p:txBody>
      </p:sp>
      <p:sp>
        <p:nvSpPr>
          <p:cNvPr id="57" name="text 57"/>
          <p:cNvSpPr/>
          <p:nvPr/>
        </p:nvSpPr>
        <p:spPr>
          <a:xfrm>
            <a:off x="221932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58" name="text 58"/>
          <p:cNvSpPr/>
          <p:nvPr/>
        </p:nvSpPr>
        <p:spPr>
          <a:xfrm>
            <a:off x="221932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0.97</a:t>
            </a:r>
          </a:p>
        </p:txBody>
      </p:sp>
      <p:sp>
        <p:nvSpPr>
          <p:cNvPr id="59" name="text 59"/>
          <p:cNvSpPr/>
          <p:nvPr/>
        </p:nvSpPr>
        <p:spPr>
          <a:xfrm>
            <a:off x="274320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60" name="text 60"/>
          <p:cNvSpPr/>
          <p:nvPr/>
        </p:nvSpPr>
        <p:spPr>
          <a:xfrm>
            <a:off x="274320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0.49</a:t>
            </a:r>
          </a:p>
        </p:txBody>
      </p:sp>
      <p:sp>
        <p:nvSpPr>
          <p:cNvPr id="61" name="text 61"/>
          <p:cNvSpPr/>
          <p:nvPr/>
        </p:nvSpPr>
        <p:spPr>
          <a:xfrm>
            <a:off x="326707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62" name="text 62"/>
          <p:cNvSpPr/>
          <p:nvPr/>
        </p:nvSpPr>
        <p:spPr>
          <a:xfrm>
            <a:off x="326707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0.95</a:t>
            </a:r>
          </a:p>
        </p:txBody>
      </p:sp>
      <p:sp>
        <p:nvSpPr>
          <p:cNvPr id="63" name="f1 bottom"/>
          <p:cNvSpPr/>
          <p:nvPr/>
        </p:nvSpPr>
        <p:spPr>
          <a:xfrm>
            <a:off x="647700" y="596265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4"/>
          <p:cNvSpPr/>
          <p:nvPr/>
        </p:nvSpPr>
        <p:spPr>
          <a:xfrm>
            <a:off x="4362450" y="5219700"/>
            <a:ext cx="31432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50" b="1">
                <a:solidFill>
                  <a:srgbClr val="1E5F99"/>
                </a:solidFill>
                <a:latin typeface="Aptos"/>
              </a:rPr>
              <a:t>CK+ ResNet18 per-class F1</a:t>
            </a:r>
          </a:p>
        </p:txBody>
      </p:sp>
      <p:sp>
        <p:nvSpPr>
          <p:cNvPr id="65" name="f1 top"/>
          <p:cNvSpPr/>
          <p:nvPr/>
        </p:nvSpPr>
        <p:spPr>
          <a:xfrm>
            <a:off x="4362450" y="544830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6"/>
          <p:cNvSpPr/>
          <p:nvPr/>
        </p:nvSpPr>
        <p:spPr>
          <a:xfrm>
            <a:off x="436245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67" name="text 67"/>
          <p:cNvSpPr/>
          <p:nvPr/>
        </p:nvSpPr>
        <p:spPr>
          <a:xfrm>
            <a:off x="436245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0.57</a:t>
            </a:r>
          </a:p>
        </p:txBody>
      </p:sp>
      <p:sp>
        <p:nvSpPr>
          <p:cNvPr id="68" name="text 68"/>
          <p:cNvSpPr/>
          <p:nvPr/>
        </p:nvSpPr>
        <p:spPr>
          <a:xfrm>
            <a:off x="488632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69" name="text 69"/>
          <p:cNvSpPr/>
          <p:nvPr/>
        </p:nvSpPr>
        <p:spPr>
          <a:xfrm>
            <a:off x="488632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0.66</a:t>
            </a:r>
          </a:p>
        </p:txBody>
      </p:sp>
      <p:sp>
        <p:nvSpPr>
          <p:cNvPr id="70" name="text 70"/>
          <p:cNvSpPr/>
          <p:nvPr/>
        </p:nvSpPr>
        <p:spPr>
          <a:xfrm>
            <a:off x="541020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71" name="text 71"/>
          <p:cNvSpPr/>
          <p:nvPr/>
        </p:nvSpPr>
        <p:spPr>
          <a:xfrm>
            <a:off x="541020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0.41</a:t>
            </a:r>
          </a:p>
        </p:txBody>
      </p:sp>
      <p:sp>
        <p:nvSpPr>
          <p:cNvPr id="72" name="text 72"/>
          <p:cNvSpPr/>
          <p:nvPr/>
        </p:nvSpPr>
        <p:spPr>
          <a:xfrm>
            <a:off x="593407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73" name="text 73"/>
          <p:cNvSpPr/>
          <p:nvPr/>
        </p:nvSpPr>
        <p:spPr>
          <a:xfrm>
            <a:off x="593407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0.96</a:t>
            </a:r>
          </a:p>
        </p:txBody>
      </p:sp>
      <p:sp>
        <p:nvSpPr>
          <p:cNvPr id="74" name="text 74"/>
          <p:cNvSpPr/>
          <p:nvPr/>
        </p:nvSpPr>
        <p:spPr>
          <a:xfrm>
            <a:off x="645795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75" name="text 75"/>
          <p:cNvSpPr/>
          <p:nvPr/>
        </p:nvSpPr>
        <p:spPr>
          <a:xfrm>
            <a:off x="645795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0.69</a:t>
            </a:r>
          </a:p>
        </p:txBody>
      </p:sp>
      <p:sp>
        <p:nvSpPr>
          <p:cNvPr id="76" name="text 76"/>
          <p:cNvSpPr/>
          <p:nvPr/>
        </p:nvSpPr>
        <p:spPr>
          <a:xfrm>
            <a:off x="698182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77" name="text 77"/>
          <p:cNvSpPr/>
          <p:nvPr/>
        </p:nvSpPr>
        <p:spPr>
          <a:xfrm>
            <a:off x="698182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0.94</a:t>
            </a:r>
          </a:p>
        </p:txBody>
      </p:sp>
      <p:sp>
        <p:nvSpPr>
          <p:cNvPr id="78" name="f1 bottom"/>
          <p:cNvSpPr/>
          <p:nvPr/>
        </p:nvSpPr>
        <p:spPr>
          <a:xfrm>
            <a:off x="4362450" y="596265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9"/>
          <p:cNvSpPr/>
          <p:nvPr/>
        </p:nvSpPr>
        <p:spPr>
          <a:xfrm>
            <a:off x="8077200" y="5219700"/>
            <a:ext cx="314325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050" b="1">
                <a:solidFill>
                  <a:srgbClr val="257B72"/>
                </a:solidFill>
                <a:latin typeface="Aptos"/>
              </a:rPr>
              <a:t>CK+ EfficientNet-B0 per-class F1</a:t>
            </a:r>
          </a:p>
        </p:txBody>
      </p:sp>
      <p:sp>
        <p:nvSpPr>
          <p:cNvPr id="80" name="f1 top"/>
          <p:cNvSpPr/>
          <p:nvPr/>
        </p:nvSpPr>
        <p:spPr>
          <a:xfrm>
            <a:off x="8077200" y="544830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81"/>
          <p:cNvSpPr/>
          <p:nvPr/>
        </p:nvSpPr>
        <p:spPr>
          <a:xfrm>
            <a:off x="807720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angry</a:t>
            </a:r>
          </a:p>
        </p:txBody>
      </p:sp>
      <p:sp>
        <p:nvSpPr>
          <p:cNvPr id="82" name="text 82"/>
          <p:cNvSpPr/>
          <p:nvPr/>
        </p:nvSpPr>
        <p:spPr>
          <a:xfrm>
            <a:off x="807720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0.42</a:t>
            </a:r>
          </a:p>
        </p:txBody>
      </p:sp>
      <p:sp>
        <p:nvSpPr>
          <p:cNvPr id="83" name="text 83"/>
          <p:cNvSpPr/>
          <p:nvPr/>
        </p:nvSpPr>
        <p:spPr>
          <a:xfrm>
            <a:off x="860107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disgust</a:t>
            </a:r>
          </a:p>
        </p:txBody>
      </p:sp>
      <p:sp>
        <p:nvSpPr>
          <p:cNvPr id="84" name="text 84"/>
          <p:cNvSpPr/>
          <p:nvPr/>
        </p:nvSpPr>
        <p:spPr>
          <a:xfrm>
            <a:off x="860107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0.28</a:t>
            </a:r>
          </a:p>
        </p:txBody>
      </p:sp>
      <p:sp>
        <p:nvSpPr>
          <p:cNvPr id="85" name="text 85"/>
          <p:cNvSpPr/>
          <p:nvPr/>
        </p:nvSpPr>
        <p:spPr>
          <a:xfrm>
            <a:off x="912495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fear</a:t>
            </a:r>
          </a:p>
        </p:txBody>
      </p:sp>
      <p:sp>
        <p:nvSpPr>
          <p:cNvPr id="86" name="text 86"/>
          <p:cNvSpPr/>
          <p:nvPr/>
        </p:nvSpPr>
        <p:spPr>
          <a:xfrm>
            <a:off x="912495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0.26</a:t>
            </a:r>
          </a:p>
        </p:txBody>
      </p:sp>
      <p:sp>
        <p:nvSpPr>
          <p:cNvPr id="87" name="text 87"/>
          <p:cNvSpPr/>
          <p:nvPr/>
        </p:nvSpPr>
        <p:spPr>
          <a:xfrm>
            <a:off x="964882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happy</a:t>
            </a:r>
          </a:p>
        </p:txBody>
      </p:sp>
      <p:sp>
        <p:nvSpPr>
          <p:cNvPr id="88" name="text 88"/>
          <p:cNvSpPr/>
          <p:nvPr/>
        </p:nvSpPr>
        <p:spPr>
          <a:xfrm>
            <a:off x="964882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0.96</a:t>
            </a:r>
          </a:p>
        </p:txBody>
      </p:sp>
      <p:sp>
        <p:nvSpPr>
          <p:cNvPr id="89" name="text 89"/>
          <p:cNvSpPr/>
          <p:nvPr/>
        </p:nvSpPr>
        <p:spPr>
          <a:xfrm>
            <a:off x="10172700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sad</a:t>
            </a:r>
          </a:p>
        </p:txBody>
      </p:sp>
      <p:sp>
        <p:nvSpPr>
          <p:cNvPr id="90" name="text 90"/>
          <p:cNvSpPr/>
          <p:nvPr/>
        </p:nvSpPr>
        <p:spPr>
          <a:xfrm>
            <a:off x="10172700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A5622C"/>
                </a:solidFill>
                <a:latin typeface="Aptos"/>
              </a:rPr>
              <a:t>0.51</a:t>
            </a:r>
          </a:p>
        </p:txBody>
      </p:sp>
      <p:sp>
        <p:nvSpPr>
          <p:cNvPr id="91" name="text 91"/>
          <p:cNvSpPr/>
          <p:nvPr/>
        </p:nvSpPr>
        <p:spPr>
          <a:xfrm>
            <a:off x="10696575" y="5514975"/>
            <a:ext cx="504825" cy="1333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650" b="1">
                <a:solidFill>
                  <a:srgbClr val="566172"/>
                </a:solidFill>
                <a:latin typeface="Aptos"/>
              </a:rPr>
              <a:t>surprise</a:t>
            </a:r>
          </a:p>
        </p:txBody>
      </p:sp>
      <p:sp>
        <p:nvSpPr>
          <p:cNvPr id="92" name="text 92"/>
          <p:cNvSpPr/>
          <p:nvPr/>
        </p:nvSpPr>
        <p:spPr>
          <a:xfrm>
            <a:off x="10696575" y="5743575"/>
            <a:ext cx="504825" cy="152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100" b="1">
                <a:solidFill>
                  <a:srgbClr val="1E5F99"/>
                </a:solidFill>
                <a:latin typeface="Aptos"/>
              </a:rPr>
              <a:t>0.91</a:t>
            </a:r>
          </a:p>
        </p:txBody>
      </p:sp>
      <p:sp>
        <p:nvSpPr>
          <p:cNvPr id="93" name="f1 bottom"/>
          <p:cNvSpPr/>
          <p:nvPr/>
        </p:nvSpPr>
        <p:spPr>
          <a:xfrm>
            <a:off x="8077200" y="5962650"/>
            <a:ext cx="3143250" cy="9525"/>
          </a:xfrm>
          <a:prstGeom prst="rect">
            <a:avLst/>
          </a:prstGeom>
          <a:solidFill>
            <a:srgbClr val="CFCBC1"/>
          </a:solidFill>
          <a:ln>
            <a:solidFill>
              <a:srgbClr val="CFCBC1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9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6DDF3AB-D044-47AE-A633-43C7371113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741E05-263D-4343-8400-86EB207E3999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DISCUSSION OF LIMITATIONS AND OBSERVATIONS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8BA3BD-D954-452A-9D4A-C598DEBFBF8A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Limitations concentrate in weak classes and confidence behavior.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1F8ED9-1C54-4770-9E03-53C5DAA32F9D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D94FC-1236-4C31-9DEE-392FE693FA7D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20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742E50-CBD0-4F06-88D9-FCB9AC710708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4486275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5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2960237"/>
            <a:ext cx="4333875" cy="937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713B859-AA74-40E0-A90A-164D8E50106F}"/>
              </a:ext>
            </a:extLst>
          </p:cNvPr>
          <p:cNvSpPr>
            <a:spLocks noGrp="1"/>
          </p:cNvSpPr>
          <p:nvPr/>
        </p:nvSpPr>
        <p:spPr>
          <a:xfrm>
            <a:off x="5905500" y="22288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648778-5549-43D1-9572-091783ACBB01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4705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Weak classes remain: fear, sad, angry, and neutral are harder to separate.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0259D1-F241-4EBB-BA7C-20DDB07341BB}"/>
              </a:ext>
            </a:extLst>
          </p:cNvPr>
          <p:cNvSpPr>
            <a:spLocks noGrp="1"/>
          </p:cNvSpPr>
          <p:nvPr/>
        </p:nvSpPr>
        <p:spPr>
          <a:xfrm>
            <a:off x="5905500" y="28194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2DD51-8B2D-44FF-8704-2C68ED295239}"/>
              </a:ext>
            </a:extLst>
          </p:cNvPr>
          <p:cNvSpPr>
            <a:spLocks noGrp="1"/>
          </p:cNvSpPr>
          <p:nvPr/>
        </p:nvSpPr>
        <p:spPr>
          <a:xfrm>
            <a:off x="6153150" y="2724150"/>
            <a:ext cx="4705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Low resolution and ambiguous labels limit the ceiling of model performance.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41E0FD-84C4-46BB-AF71-92DA60BFA499}"/>
              </a:ext>
            </a:extLst>
          </p:cNvPr>
          <p:cNvSpPr>
            <a:spLocks noGrp="1"/>
          </p:cNvSpPr>
          <p:nvPr/>
        </p:nvSpPr>
        <p:spPr>
          <a:xfrm>
            <a:off x="5905500" y="34099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5AE4B5-BB1C-45E8-879B-4FB6847A879F}"/>
              </a:ext>
            </a:extLst>
          </p:cNvPr>
          <p:cNvSpPr>
            <a:spLocks noGrp="1"/>
          </p:cNvSpPr>
          <p:nvPr/>
        </p:nvSpPr>
        <p:spPr>
          <a:xfrm>
            <a:off x="6153150" y="3314700"/>
            <a:ext cx="4705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imbalance is reduced but not removed by sampler and loss choices.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BD31D4-1674-4926-8C62-695BDD0F02F7}"/>
              </a:ext>
            </a:extLst>
          </p:cNvPr>
          <p:cNvSpPr>
            <a:spLocks noGrp="1"/>
          </p:cNvSpPr>
          <p:nvPr/>
        </p:nvSpPr>
        <p:spPr>
          <a:xfrm>
            <a:off x="5905500" y="400050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B68C37-E6E9-430F-8422-00792AB7DC85}"/>
              </a:ext>
            </a:extLst>
          </p:cNvPr>
          <p:cNvSpPr>
            <a:spLocks noGrp="1"/>
          </p:cNvSpPr>
          <p:nvPr/>
        </p:nvSpPr>
        <p:spPr>
          <a:xfrm>
            <a:off x="6153150" y="3905250"/>
            <a:ext cx="4705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 analysis is useful for identifying high-confidence mistakes.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0775C-EDCB-48A5-972F-02BEFBEA1CBF}"/>
              </a:ext>
            </a:extLst>
          </p:cNvPr>
          <p:cNvSpPr>
            <a:spLocks noGrp="1"/>
          </p:cNvSpPr>
          <p:nvPr/>
        </p:nvSpPr>
        <p:spPr>
          <a:xfrm>
            <a:off x="5905500" y="4591050"/>
            <a:ext cx="66675" cy="66675"/>
          </a:xfrm>
          <a:prstGeom prst="rect">
            <a:avLst/>
          </a:prstGeom>
          <a:solidFill>
            <a:srgbClr val="A562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E7D1B8-5C43-4236-B58D-E271395ED2FA}"/>
              </a:ext>
            </a:extLst>
          </p:cNvPr>
          <p:cNvSpPr>
            <a:spLocks noGrp="1"/>
          </p:cNvSpPr>
          <p:nvPr/>
        </p:nvSpPr>
        <p:spPr>
          <a:xfrm>
            <a:off x="6153150" y="4495800"/>
            <a:ext cx="470535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No explicit face alignment pipeline was included.</a:t>
            </a:r>
          </a:p>
        </p:txBody>
      </p:sp>
    </p:spTree>
    <p:extLst>
      <p:ext uri="{BB962C8B-B14F-4D97-AF65-F5344CB8AC3E}">
        <p14:creationId xmlns:p14="http://schemas.microsoft.com/office/powerpoint/2010/main" val="69419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0A07641-E171-483C-8156-DAF1D3738F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EAD90-9D84-4CC5-82A7-4ABF3CC0793C}"/>
              </a:ext>
            </a:extLst>
          </p:cNvPr>
          <p:cNvSpPr>
            <a:spLocks noGrp="1"/>
          </p:cNvSpPr>
          <p:nvPr/>
        </p:nvSpPr>
        <p:spPr>
          <a:xfrm>
            <a:off x="647700" y="3619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CONCLUSIONS AND FUTURE 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92E2B4-B714-4C53-9AA5-1D4E09C1A685}"/>
              </a:ext>
            </a:extLst>
          </p:cNvPr>
          <p:cNvSpPr>
            <a:spLocks noGrp="1"/>
          </p:cNvSpPr>
          <p:nvPr/>
        </p:nvSpPr>
        <p:spPr>
          <a:xfrm>
            <a:off x="647700" y="723900"/>
            <a:ext cx="10287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project improves balanced FER2013 recognition while showing where it still fails.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EF845F-BBA7-4DD9-8246-803788F20F38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9906000" cy="14288"/>
          </a:xfrm>
          <a:prstGeom prst="rect">
            <a:avLst/>
          </a:prstGeom>
          <a:solidFill>
            <a:srgbClr val="CFCBC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ABCB6F-7C01-48BF-A13C-547A921E45D5}"/>
              </a:ext>
            </a:extLst>
          </p:cNvPr>
          <p:cNvSpPr>
            <a:spLocks noGrp="1"/>
          </p:cNvSpPr>
          <p:nvPr/>
        </p:nvSpPr>
        <p:spPr>
          <a:xfrm>
            <a:off x="10972800" y="615315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566172"/>
                </a:solidFill>
                <a:latin typeface="Aptos"/>
                <a:ea typeface="Aptos"/>
                <a:cs typeface="Aptos"/>
              </a:defRPr>
            </a:pPr>
            <a:r>
              <a:rPr lang="en-US" sz="750" b="0">
                <a:solidFill>
                  <a:srgbClr val="566172"/>
                </a:solidFill>
                <a:latin typeface="Aptos"/>
                <a:ea typeface="Aptos"/>
                <a:cs typeface="Aptos"/>
              </a:rPr>
              <a:t>21</a:t>
            </a:r>
            <a:endParaRPr sz="750" b="0">
              <a:solidFill>
                <a:srgbClr val="56617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B3E535-6F84-4E44-9D6B-46ECD72906BF}"/>
              </a:ext>
            </a:extLst>
          </p:cNvPr>
          <p:cNvSpPr>
            <a:spLocks noGrp="1"/>
          </p:cNvSpPr>
          <p:nvPr/>
        </p:nvSpPr>
        <p:spPr>
          <a:xfrm>
            <a:off x="800100" y="21526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E5F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E5F99"/>
                </a:solidFill>
                <a:latin typeface="Aptos"/>
                <a:ea typeface="Aptos"/>
                <a:cs typeface="Aptos"/>
              </a:rPr>
              <a:t>CONCLUSIONS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03DFE8-F0F0-4FE1-83A1-2EE4F9072253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3429000" cy="14288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DEFC83-32E6-4655-BF78-F7B9F76FEA18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9BEAB2-D80D-4D36-865A-829344994326}"/>
              </a:ext>
            </a:extLst>
          </p:cNvPr>
          <p:cNvSpPr>
            <a:spLocks noGrp="1"/>
          </p:cNvSpPr>
          <p:nvPr/>
        </p:nvSpPr>
        <p:spPr>
          <a:xfrm>
            <a:off x="1104900" y="26860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Transfer learning clearly improves over the custom CNN baseline.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D5EEF0-0644-4B67-B0F8-F2CFE3AA89CA}"/>
              </a:ext>
            </a:extLst>
          </p:cNvPr>
          <p:cNvSpPr>
            <a:spLocks noGrp="1"/>
          </p:cNvSpPr>
          <p:nvPr/>
        </p:nvSpPr>
        <p:spPr>
          <a:xfrm>
            <a:off x="857250" y="35052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3485E0-7BEC-4ECE-B195-8CD351E61417}"/>
              </a:ext>
            </a:extLst>
          </p:cNvPr>
          <p:cNvSpPr>
            <a:spLocks noGrp="1"/>
          </p:cNvSpPr>
          <p:nvPr/>
        </p:nvSpPr>
        <p:spPr>
          <a:xfrm>
            <a:off x="1104900" y="34099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 dirty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EfficientNet-B0 and ResNet18 are close on FER2013 after crop/TenCrop.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7BA1B7-2B27-4626-BEA4-A7FED842F5FA}"/>
              </a:ext>
            </a:extLst>
          </p:cNvPr>
          <p:cNvSpPr>
            <a:spLocks noGrp="1"/>
          </p:cNvSpPr>
          <p:nvPr/>
        </p:nvSpPr>
        <p:spPr>
          <a:xfrm>
            <a:off x="857250" y="4229100"/>
            <a:ext cx="66675" cy="66675"/>
          </a:xfrm>
          <a:prstGeom prst="rect">
            <a:avLst/>
          </a:prstGeom>
          <a:solidFill>
            <a:srgbClr val="1E5F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C472CF-B52B-4668-B46D-F3DD07527632}"/>
              </a:ext>
            </a:extLst>
          </p:cNvPr>
          <p:cNvSpPr>
            <a:spLocks noGrp="1"/>
          </p:cNvSpPr>
          <p:nvPr/>
        </p:nvSpPr>
        <p:spPr>
          <a:xfrm>
            <a:off x="1104900" y="41338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Per-class analysis is essential because weak classes remain hidden in aggregate scores.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E1CCFB-A7C6-4A8C-9106-8E4D4442D9A3}"/>
              </a:ext>
            </a:extLst>
          </p:cNvPr>
          <p:cNvSpPr>
            <a:spLocks noGrp="1"/>
          </p:cNvSpPr>
          <p:nvPr/>
        </p:nvSpPr>
        <p:spPr>
          <a:xfrm>
            <a:off x="6477000" y="215265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7B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7B72"/>
                </a:solidFill>
                <a:latin typeface="Aptos"/>
                <a:ea typeface="Aptos"/>
                <a:cs typeface="Aptos"/>
              </a:rPr>
              <a:t>FUTURE 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AE47A-5593-4363-82F5-D298EEF4EFA6}"/>
              </a:ext>
            </a:extLst>
          </p:cNvPr>
          <p:cNvSpPr>
            <a:spLocks noGrp="1"/>
          </p:cNvSpPr>
          <p:nvPr/>
        </p:nvSpPr>
        <p:spPr>
          <a:xfrm>
            <a:off x="6477000" y="2381250"/>
            <a:ext cx="3429000" cy="14288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31087-BE19-4585-91A7-C676B5978FDC}"/>
              </a:ext>
            </a:extLst>
          </p:cNvPr>
          <p:cNvSpPr>
            <a:spLocks noGrp="1"/>
          </p:cNvSpPr>
          <p:nvPr/>
        </p:nvSpPr>
        <p:spPr>
          <a:xfrm>
            <a:off x="6534150" y="27813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6A9C98-1102-4595-BB8E-9CA4A610B676}"/>
              </a:ext>
            </a:extLst>
          </p:cNvPr>
          <p:cNvSpPr>
            <a:spLocks noGrp="1"/>
          </p:cNvSpPr>
          <p:nvPr/>
        </p:nvSpPr>
        <p:spPr>
          <a:xfrm>
            <a:off x="6781800" y="26860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Add face alignment and stronger crop consistency.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1B3816-3E69-47C2-8862-8FD2104002EB}"/>
              </a:ext>
            </a:extLst>
          </p:cNvPr>
          <p:cNvSpPr>
            <a:spLocks noGrp="1"/>
          </p:cNvSpPr>
          <p:nvPr/>
        </p:nvSpPr>
        <p:spPr>
          <a:xfrm>
            <a:off x="6534150" y="33909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0A7D1F-C86E-4EF2-87D9-2BADBA3E5029}"/>
              </a:ext>
            </a:extLst>
          </p:cNvPr>
          <p:cNvSpPr>
            <a:spLocks noGrp="1"/>
          </p:cNvSpPr>
          <p:nvPr/>
        </p:nvSpPr>
        <p:spPr>
          <a:xfrm>
            <a:off x="6781800" y="32956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Handle label noise or ambiguous labels explicitly.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4EDFED6-DC89-4650-B581-F4C43E3DA8C7}"/>
              </a:ext>
            </a:extLst>
          </p:cNvPr>
          <p:cNvSpPr>
            <a:spLocks noGrp="1"/>
          </p:cNvSpPr>
          <p:nvPr/>
        </p:nvSpPr>
        <p:spPr>
          <a:xfrm>
            <a:off x="6534150" y="40005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9A2A66-6665-4D99-80E1-9DC7EC957115}"/>
              </a:ext>
            </a:extLst>
          </p:cNvPr>
          <p:cNvSpPr>
            <a:spLocks noGrp="1"/>
          </p:cNvSpPr>
          <p:nvPr/>
        </p:nvSpPr>
        <p:spPr>
          <a:xfrm>
            <a:off x="6781800" y="39052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Test stronger backbones, attention, transformers, or ensembles.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3FD01E-CD51-4935-91CC-F72FD7063C7F}"/>
              </a:ext>
            </a:extLst>
          </p:cNvPr>
          <p:cNvSpPr>
            <a:spLocks noGrp="1"/>
          </p:cNvSpPr>
          <p:nvPr/>
        </p:nvSpPr>
        <p:spPr>
          <a:xfrm>
            <a:off x="6534150" y="4610100"/>
            <a:ext cx="66675" cy="66675"/>
          </a:xfrm>
          <a:prstGeom prst="rect">
            <a:avLst/>
          </a:prstGeom>
          <a:solidFill>
            <a:srgbClr val="25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4664D2-C853-4E13-B877-0B32A4A280E7}"/>
              </a:ext>
            </a:extLst>
          </p:cNvPr>
          <p:cNvSpPr>
            <a:spLocks noGrp="1"/>
          </p:cNvSpPr>
          <p:nvPr/>
        </p:nvSpPr>
        <p:spPr>
          <a:xfrm>
            <a:off x="6781800" y="4514850"/>
            <a:ext cx="4229100" cy="53435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 confidence calibration and targeted review of high-error classes.</a:t>
            </a:r>
          </a:p>
        </p:txBody>
      </p:sp>
    </p:spTree>
    <p:extLst>
      <p:ext uri="{BB962C8B-B14F-4D97-AF65-F5344CB8AC3E}">
        <p14:creationId xmlns:p14="http://schemas.microsoft.com/office/powerpoint/2010/main" val="82025931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1746</Words>
  <Application>Microsoft Office PowerPoint</Application>
  <DocSecurity>0</DocSecurity>
  <PresentationFormat>Widescreen</PresentationFormat>
  <Paragraphs>480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SHAOYA ZHANG</cp:lastModifiedBy>
  <cp:revision>11</cp:revision>
  <dcterms:created xsi:type="dcterms:W3CDTF">2026-05-31T07:58:58Z</dcterms:created>
  <dcterms:modified xsi:type="dcterms:W3CDTF">2026-05-31T20:11:02Z</dcterms:modified>
</cp:coreProperties>
</file>