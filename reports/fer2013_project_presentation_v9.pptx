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-540" y="-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FD69710-E547-4379-9C84-97FAF05E46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861100-0CA9-4162-8123-33FB0104FB62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9906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Facial Expression Recognition on FER2013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1ABC9-D049-4BF3-91EF-6CE07E5ED324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Controlled experiments with a custom CNN, ResNet18, EfficientNet-B0, and CK+ external validation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54A305-42EB-4A97-82E5-1431D157FC54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8096250" cy="19050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B14F5D-3696-4FD9-B768-CA88C1DDC965}"/>
              </a:ext>
            </a:extLst>
          </p:cNvPr>
          <p:cNvSpPr>
            <a:spLocks noGrp="1"/>
          </p:cNvSpPr>
          <p:nvPr/>
        </p:nvSpPr>
        <p:spPr>
          <a:xfrm>
            <a:off x="723900" y="32766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2262F9-67A3-4751-8AB9-BEC6DBE6A653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49A3D3-6334-40A8-8632-66D0B667A046}"/>
              </a:ext>
            </a:extLst>
          </p:cNvPr>
          <p:cNvSpPr>
            <a:spLocks noGrp="1"/>
          </p:cNvSpPr>
          <p:nvPr/>
        </p:nvSpPr>
        <p:spPr>
          <a:xfrm>
            <a:off x="3619500" y="327660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8C7EB0-2AFE-4730-A7F2-5C4E3AF7F608}"/>
              </a:ext>
            </a:extLst>
          </p:cNvPr>
          <p:cNvSpPr>
            <a:spLocks noGrp="1"/>
          </p:cNvSpPr>
          <p:nvPr/>
        </p:nvSpPr>
        <p:spPr>
          <a:xfrm>
            <a:off x="3619500" y="35623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393E4B-6971-4F52-A01F-369339CABC01}"/>
              </a:ext>
            </a:extLst>
          </p:cNvPr>
          <p:cNvSpPr>
            <a:spLocks noGrp="1"/>
          </p:cNvSpPr>
          <p:nvPr/>
        </p:nvSpPr>
        <p:spPr>
          <a:xfrm>
            <a:off x="6572250" y="3276600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External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291BC8-5F8C-4F76-A326-CAD5ED01020A}"/>
              </a:ext>
            </a:extLst>
          </p:cNvPr>
          <p:cNvSpPr>
            <a:spLocks noGrp="1"/>
          </p:cNvSpPr>
          <p:nvPr/>
        </p:nvSpPr>
        <p:spPr>
          <a:xfrm>
            <a:off x="6572250" y="35623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</p:spTree>
    <p:extLst>
      <p:ext uri="{BB962C8B-B14F-4D97-AF65-F5344CB8AC3E}">
        <p14:creationId xmlns:p14="http://schemas.microsoft.com/office/powerpoint/2010/main" val="1233085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F14A3F1-CEC5-42A3-ACB5-084D3E292F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9A0C78-C5B5-4366-9BFA-A4EA9BE2AC8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86A6AD-7914-46C3-B5C4-00E329F3D064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Presentation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9430DD-5BC1-4001-BA1F-BEF681875EF9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27B310-7C60-4519-869B-B6C2EEEE483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02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3DE963-0AF1-4034-8A47-A495CD0CEE30}"/>
              </a:ext>
            </a:extLst>
          </p:cNvPr>
          <p:cNvSpPr>
            <a:spLocks noGrp="1"/>
          </p:cNvSpPr>
          <p:nvPr/>
        </p:nvSpPr>
        <p:spPr>
          <a:xfrm>
            <a:off x="914400" y="20764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1. Introduction and motivation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7ED9E9-F67B-4310-8D4D-E0FA79247F9D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2. Related work / state of the art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96784A-1BA2-41D1-A515-7F68F738ADCA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3. Dataset and preprocessing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4D1568-46FC-47FD-A69C-8D8E5B131B4A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4. Methodology and implemented models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D17F9-8A15-41A1-B45E-790F529422F3}"/>
              </a:ext>
            </a:extLst>
          </p:cNvPr>
          <p:cNvSpPr>
            <a:spLocks noGrp="1"/>
          </p:cNvSpPr>
          <p:nvPr/>
        </p:nvSpPr>
        <p:spPr>
          <a:xfrm>
            <a:off x="914400" y="38290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5. Experiments and evaluated configurations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AB1E3E-F71F-49D1-A6F3-DA8C539A0F58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6. Results and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E8BFE3-0D9E-4A69-84EF-552FCE608906}"/>
              </a:ext>
            </a:extLst>
          </p:cNvPr>
          <p:cNvSpPr>
            <a:spLocks noGrp="1"/>
          </p:cNvSpPr>
          <p:nvPr/>
        </p:nvSpPr>
        <p:spPr>
          <a:xfrm>
            <a:off x="914400" y="47053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7. Comparison against baselines and state-of-the-art approaches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D4FE7A-1F66-48E2-9F7D-94D2C43AC4AC}"/>
              </a:ext>
            </a:extLst>
          </p:cNvPr>
          <p:cNvSpPr>
            <a:spLocks noGrp="1"/>
          </p:cNvSpPr>
          <p:nvPr/>
        </p:nvSpPr>
        <p:spPr>
          <a:xfrm>
            <a:off x="914400" y="51435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8. Discussion of limitations and observations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A06738-D0B0-4923-81D5-4A2621A0B959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9. Conclusions and future work</a:t>
            </a:r>
          </a:p>
        </p:txBody>
      </p:sp>
    </p:spTree>
    <p:extLst>
      <p:ext uri="{BB962C8B-B14F-4D97-AF65-F5344CB8AC3E}">
        <p14:creationId xmlns:p14="http://schemas.microsoft.com/office/powerpoint/2010/main" val="1481166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67E64D0-90C3-441B-A4E2-A72591FC3A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D166B0-BE20-4ECD-934A-F5649A9CBBC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INTRODUCTION AND MOTIVATION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A00B1C-756B-4E5A-8717-CC4FB498FEC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Expression recognition is useful, but FER2013 makes it hard.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62262B-E50B-4747-93DC-436E5FB55C7E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3868EA-5F8F-4A86-A527-F0F59C037BFC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03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CF713-7912-4AF7-99F7-0A5A25E92683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439AC6-184F-4276-8AA0-BC06BE38F27F}"/>
              </a:ext>
            </a:extLst>
          </p:cNvPr>
          <p:cNvSpPr>
            <a:spLocks noGrp="1"/>
          </p:cNvSpPr>
          <p:nvPr/>
        </p:nvSpPr>
        <p:spPr>
          <a:xfrm>
            <a:off x="1123950" y="21907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Facial expressions are useful for affective computing and human-computer interaction.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85F0B1-7482-43D2-BBF4-7BE95D3FFE4E}"/>
              </a:ext>
            </a:extLst>
          </p:cNvPr>
          <p:cNvSpPr>
            <a:spLocks noGrp="1"/>
          </p:cNvSpPr>
          <p:nvPr/>
        </p:nvSpPr>
        <p:spPr>
          <a:xfrm>
            <a:off x="876300" y="29718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9402A-28D4-496B-B07F-8092A9D1386D}"/>
              </a:ext>
            </a:extLst>
          </p:cNvPr>
          <p:cNvSpPr>
            <a:spLocks noGrp="1"/>
          </p:cNvSpPr>
          <p:nvPr/>
        </p:nvSpPr>
        <p:spPr>
          <a:xfrm>
            <a:off x="1123950" y="28765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 images are low-resolution 48x48 grayscale face crops.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4B3782-3A40-42CC-8F06-FC7DB9A7A9F3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826588-4C05-44A6-B094-1F06C260A2E0}"/>
              </a:ext>
            </a:extLst>
          </p:cNvPr>
          <p:cNvSpPr>
            <a:spLocks noGrp="1"/>
          </p:cNvSpPr>
          <p:nvPr/>
        </p:nvSpPr>
        <p:spPr>
          <a:xfrm>
            <a:off x="1123950" y="35623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Expressions can be visually ambiguous; several emotions occupy nearby affective regions.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2020C5-FE1E-4215-B19B-92471550F903}"/>
              </a:ext>
            </a:extLst>
          </p:cNvPr>
          <p:cNvSpPr>
            <a:spLocks noGrp="1"/>
          </p:cNvSpPr>
          <p:nvPr/>
        </p:nvSpPr>
        <p:spPr>
          <a:xfrm>
            <a:off x="876300" y="43434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A5BE7-5642-41EA-A822-F7DDCE9A4BCF}"/>
              </a:ext>
            </a:extLst>
          </p:cNvPr>
          <p:cNvSpPr>
            <a:spLocks noGrp="1"/>
          </p:cNvSpPr>
          <p:nvPr/>
        </p:nvSpPr>
        <p:spPr>
          <a:xfrm>
            <a:off x="1123950" y="4248150"/>
            <a:ext cx="7562850" cy="607219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imbalance makes macro F1 and per-class analysis more appropriate than accuracy alone.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2E5D1A-AF3C-4136-9526-9D18E55EFE32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2190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Research question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523DA9-0E28-4B3D-9471-FEDC3BB3F807}"/>
              </a:ext>
            </a:extLst>
          </p:cNvPr>
          <p:cNvSpPr>
            <a:spLocks noGrp="1"/>
          </p:cNvSpPr>
          <p:nvPr/>
        </p:nvSpPr>
        <p:spPr>
          <a:xfrm>
            <a:off x="8858250" y="2952750"/>
            <a:ext cx="2476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Which modeling choices improve balanced recognition and generalization?</a:t>
            </a:r>
          </a:p>
        </p:txBody>
      </p:sp>
    </p:spTree>
    <p:extLst>
      <p:ext uri="{BB962C8B-B14F-4D97-AF65-F5344CB8AC3E}">
        <p14:creationId xmlns:p14="http://schemas.microsoft.com/office/powerpoint/2010/main" val="142460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92CBC59-C66E-4E28-9BF1-5027A07FFA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5EC69-B197-4D8D-8CE2-7557C996A0C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RELATED WORK / STATE OF THE 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266CB-DFED-4920-A334-CD1D9414800E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FER systems evolved from handcrafted features to deep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A8D7C8-2112-4AA2-BC7F-F78252B1DC6A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0663FD-FE61-4758-8A9E-12DCE0DC5103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04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00F11D-E073-4A1E-96DC-73920D96E737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CLASSICAL FER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18BD61-6DAE-404C-9749-CC3328456794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3429000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4B60AD-EBB1-4C95-AF0F-BE5081363F36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A00ACE-9515-486D-8815-ED4F046135FC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40386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Handcrafted descriptors plus shallow classifiers were common historically.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7084BD-3DC8-46D7-B971-087AE9BA09E1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AA54D-202D-4D84-88C8-C06B8EB07A9B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40386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They are less robust to pose, lighting, and dataset noise.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F428CE-A7B7-48A2-8A48-368EA1355440}"/>
              </a:ext>
            </a:extLst>
          </p:cNvPr>
          <p:cNvSpPr>
            <a:spLocks noGrp="1"/>
          </p:cNvSpPr>
          <p:nvPr/>
        </p:nvSpPr>
        <p:spPr>
          <a:xfrm>
            <a:off x="619125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DEEP FER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704380-ED25-40C2-99EF-15BB0EA80B27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1F9B14-A1B4-41B8-BB47-C12CD96B5E7E}"/>
              </a:ext>
            </a:extLst>
          </p:cNvPr>
          <p:cNvSpPr>
            <a:spLocks noGrp="1"/>
          </p:cNvSpPr>
          <p:nvPr/>
        </p:nvSpPr>
        <p:spPr>
          <a:xfrm>
            <a:off x="6248400" y="27813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2C3931-9F04-49C2-A58D-58B31079F2F6}"/>
              </a:ext>
            </a:extLst>
          </p:cNvPr>
          <p:cNvSpPr>
            <a:spLocks noGrp="1"/>
          </p:cNvSpPr>
          <p:nvPr/>
        </p:nvSpPr>
        <p:spPr>
          <a:xfrm>
            <a:off x="6496050" y="2686050"/>
            <a:ext cx="45148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CNNs learn expression features directly from pixels.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03A0ED-DDC5-4E2E-9FD0-6EC545327361}"/>
              </a:ext>
            </a:extLst>
          </p:cNvPr>
          <p:cNvSpPr>
            <a:spLocks noGrp="1"/>
          </p:cNvSpPr>
          <p:nvPr/>
        </p:nvSpPr>
        <p:spPr>
          <a:xfrm>
            <a:off x="6248400" y="3429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E81BEC-371A-42C7-A35F-77900F9B09B9}"/>
              </a:ext>
            </a:extLst>
          </p:cNvPr>
          <p:cNvSpPr>
            <a:spLocks noGrp="1"/>
          </p:cNvSpPr>
          <p:nvPr/>
        </p:nvSpPr>
        <p:spPr>
          <a:xfrm>
            <a:off x="6496050" y="3333750"/>
            <a:ext cx="45148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ImageNet-pretrained backbones such as ResNet and EfficientNet are practical baselines.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487F8A-4486-4C9F-AC6A-999D62664E59}"/>
              </a:ext>
            </a:extLst>
          </p:cNvPr>
          <p:cNvSpPr>
            <a:spLocks noGrp="1"/>
          </p:cNvSpPr>
          <p:nvPr/>
        </p:nvSpPr>
        <p:spPr>
          <a:xfrm>
            <a:off x="6248400" y="40767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07CF79-FA2C-407F-ABBA-7ADB494B343B}"/>
              </a:ext>
            </a:extLst>
          </p:cNvPr>
          <p:cNvSpPr>
            <a:spLocks noGrp="1"/>
          </p:cNvSpPr>
          <p:nvPr/>
        </p:nvSpPr>
        <p:spPr>
          <a:xfrm>
            <a:off x="6496050" y="3981450"/>
            <a:ext cx="45148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Recent state-of-the-art systems often add alignment, attention, transformers, ensembles, or larger datasets.</a:t>
            </a:r>
          </a:p>
        </p:txBody>
      </p:sp>
    </p:spTree>
    <p:extLst>
      <p:ext uri="{BB962C8B-B14F-4D97-AF65-F5344CB8AC3E}">
        <p14:creationId xmlns:p14="http://schemas.microsoft.com/office/powerpoint/2010/main" val="1895360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1152F7-8609-4C0F-BF96-0BBB8AE900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47300-6988-4599-958B-973CEEF9BCF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3F712F-1FD9-4555-8D52-27F19AC729B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Sample images reveal ambiguity and low resolution.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CC1472-A01A-4DED-A683-235B0346A3FC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8315A-F978-4DC2-9800-C5C1D1A925C6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05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2F4C53-E630-47D0-A149-6FBD7163A149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41529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92080" y="2133600"/>
            <a:ext cx="2378439" cy="3238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991D48-BC22-4BD8-9CDA-35ED841EBEE9}"/>
              </a:ext>
            </a:extLst>
          </p:cNvPr>
          <p:cNvSpPr>
            <a:spLocks noGrp="1"/>
          </p:cNvSpPr>
          <p:nvPr/>
        </p:nvSpPr>
        <p:spPr>
          <a:xfrm>
            <a:off x="5619750" y="25717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32DE7E-8772-4F0D-A067-0EFA15D568B3}"/>
              </a:ext>
            </a:extLst>
          </p:cNvPr>
          <p:cNvSpPr>
            <a:spLocks noGrp="1"/>
          </p:cNvSpPr>
          <p:nvPr/>
        </p:nvSpPr>
        <p:spPr>
          <a:xfrm>
            <a:off x="5867400" y="2476500"/>
            <a:ext cx="4705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Faces are small, grayscale, and sometimes poorly aligned.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376DD3-DB97-4ACE-BE47-4585ED193A9D}"/>
              </a:ext>
            </a:extLst>
          </p:cNvPr>
          <p:cNvSpPr>
            <a:spLocks noGrp="1"/>
          </p:cNvSpPr>
          <p:nvPr/>
        </p:nvSpPr>
        <p:spPr>
          <a:xfrm>
            <a:off x="5619750" y="32956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36296B-F226-4EE0-BD36-25A013C1F99C}"/>
              </a:ext>
            </a:extLst>
          </p:cNvPr>
          <p:cNvSpPr>
            <a:spLocks noGrp="1"/>
          </p:cNvSpPr>
          <p:nvPr/>
        </p:nvSpPr>
        <p:spPr>
          <a:xfrm>
            <a:off x="5867400" y="3200400"/>
            <a:ext cx="4705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Several classes differ by subtle mouth, eye, or eyebrow cues.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4654B8-5E29-4DF1-99CE-CD8D8F5D6EB9}"/>
              </a:ext>
            </a:extLst>
          </p:cNvPr>
          <p:cNvSpPr>
            <a:spLocks noGrp="1"/>
          </p:cNvSpPr>
          <p:nvPr/>
        </p:nvSpPr>
        <p:spPr>
          <a:xfrm>
            <a:off x="5619750" y="4019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C2DCE-93EB-4D41-8540-AF2582B26609}"/>
              </a:ext>
            </a:extLst>
          </p:cNvPr>
          <p:cNvSpPr>
            <a:spLocks noGrp="1"/>
          </p:cNvSpPr>
          <p:nvPr/>
        </p:nvSpPr>
        <p:spPr>
          <a:xfrm>
            <a:off x="5867400" y="3924300"/>
            <a:ext cx="4705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Human-visible ambiguity justifies evaluating more than a single aggregate score.</a:t>
            </a:r>
          </a:p>
        </p:txBody>
      </p:sp>
    </p:spTree>
    <p:extLst>
      <p:ext uri="{BB962C8B-B14F-4D97-AF65-F5344CB8AC3E}">
        <p14:creationId xmlns:p14="http://schemas.microsoft.com/office/powerpoint/2010/main" val="1823242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54F0F98-4BC8-4BB6-883B-BF3CE7D99C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7034F9-00BA-4727-8B65-BC9933E1AAC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36BD73-FA1D-4D17-85B5-2B2712DBADEE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Class imbalance and affect proximity explain why this dataset is difficult.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AE7F2F-119D-46C6-92A6-6305B1723142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494B2-6733-4C4A-A659-F22B8B8E6F6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06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2A840B-FCD4-4A42-8DB6-C221730E8B51}"/>
              </a:ext>
            </a:extLst>
          </p:cNvPr>
          <p:cNvSpPr>
            <a:spLocks noGrp="1"/>
          </p:cNvSpPr>
          <p:nvPr/>
        </p:nvSpPr>
        <p:spPr>
          <a:xfrm>
            <a:off x="647700" y="2076450"/>
            <a:ext cx="462915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6480" y="2152650"/>
            <a:ext cx="4311589" cy="2667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3AA9B1-7AED-4688-B9DB-414E6C1DCA91}"/>
              </a:ext>
            </a:extLst>
          </p:cNvPr>
          <p:cNvSpPr>
            <a:spLocks noGrp="1"/>
          </p:cNvSpPr>
          <p:nvPr/>
        </p:nvSpPr>
        <p:spPr>
          <a:xfrm>
            <a:off x="5676900" y="2076450"/>
            <a:ext cx="3295650" cy="2819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753100" y="2164184"/>
            <a:ext cx="3143250" cy="26439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51DE9F-F40D-4376-BA5E-FD0092E5181C}"/>
              </a:ext>
            </a:extLst>
          </p:cNvPr>
          <p:cNvSpPr>
            <a:spLocks noGrp="1"/>
          </p:cNvSpPr>
          <p:nvPr/>
        </p:nvSpPr>
        <p:spPr>
          <a:xfrm>
            <a:off x="9372600" y="22479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Dataset size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A9568F-E3BB-4292-BCA1-1D78805723E2}"/>
              </a:ext>
            </a:extLst>
          </p:cNvPr>
          <p:cNvSpPr>
            <a:spLocks noGrp="1"/>
          </p:cNvSpPr>
          <p:nvPr/>
        </p:nvSpPr>
        <p:spPr>
          <a:xfrm>
            <a:off x="9372600" y="25336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28,709 train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00486-C763-4B61-9E26-EDD6702BF54F}"/>
              </a:ext>
            </a:extLst>
          </p:cNvPr>
          <p:cNvSpPr>
            <a:spLocks noGrp="1"/>
          </p:cNvSpPr>
          <p:nvPr/>
        </p:nvSpPr>
        <p:spPr>
          <a:xfrm>
            <a:off x="9372600" y="29146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7,178 test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2E01C2-88C8-4E6C-8872-427CC28A281A}"/>
              </a:ext>
            </a:extLst>
          </p:cNvPr>
          <p:cNvSpPr>
            <a:spLocks noGrp="1"/>
          </p:cNvSpPr>
          <p:nvPr/>
        </p:nvSpPr>
        <p:spPr>
          <a:xfrm>
            <a:off x="781050" y="53149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4E89E5-CF5A-4040-A3BF-3CD67FB3083E}"/>
              </a:ext>
            </a:extLst>
          </p:cNvPr>
          <p:cNvSpPr>
            <a:spLocks noGrp="1"/>
          </p:cNvSpPr>
          <p:nvPr/>
        </p:nvSpPr>
        <p:spPr>
          <a:xfrm>
            <a:off x="1028700" y="5219700"/>
            <a:ext cx="908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Happy has much more support than minority classes such as disgust.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A9F297-9891-44FA-8DD0-6D6E7A4DC9EF}"/>
              </a:ext>
            </a:extLst>
          </p:cNvPr>
          <p:cNvSpPr>
            <a:spLocks noGrp="1"/>
          </p:cNvSpPr>
          <p:nvPr/>
        </p:nvSpPr>
        <p:spPr>
          <a:xfrm>
            <a:off x="781050" y="57150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3FED16-8733-4C38-85D4-80FCFFC12C6F}"/>
              </a:ext>
            </a:extLst>
          </p:cNvPr>
          <p:cNvSpPr>
            <a:spLocks noGrp="1"/>
          </p:cNvSpPr>
          <p:nvPr/>
        </p:nvSpPr>
        <p:spPr>
          <a:xfrm>
            <a:off x="1028700" y="5619750"/>
            <a:ext cx="908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Nearby affective states help explain confusions such as sad, fear, angry, and neutral.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ECA92F-93EA-4A95-9693-FCDB0B1BCC7C}"/>
              </a:ext>
            </a:extLst>
          </p:cNvPr>
          <p:cNvSpPr>
            <a:spLocks noGrp="1"/>
          </p:cNvSpPr>
          <p:nvPr/>
        </p:nvSpPr>
        <p:spPr>
          <a:xfrm>
            <a:off x="781050" y="61150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0D59C5-F3CE-4E61-B92A-04349CF824F2}"/>
              </a:ext>
            </a:extLst>
          </p:cNvPr>
          <p:cNvSpPr>
            <a:spLocks noGrp="1"/>
          </p:cNvSpPr>
          <p:nvPr/>
        </p:nvSpPr>
        <p:spPr>
          <a:xfrm>
            <a:off x="1028700" y="6019800"/>
            <a:ext cx="908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This motivates macro F1, per-class F1, and confusion analysis.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E1011-05AE-42CB-30BA-F5CC577B9AAB}"/>
              </a:ext>
            </a:extLst>
          </p:cNvPr>
          <p:cNvSpPr txBox="1"/>
          <p:nvPr/>
        </p:nvSpPr>
        <p:spPr>
          <a:xfrm>
            <a:off x="914400" y="7848600"/>
            <a:ext cx="13208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1E5F72"/>
                </a:solidFill>
                <a:latin typeface="Aptos" panose="020B0004020202020204" pitchFamily="34" charset="0"/>
              </a:rPr>
              <a:t>Takeaway: FER2013 requires augmentation, imbalance handling, macro/per-class F1, and confusion analysis.</a:t>
            </a:r>
          </a:p>
        </p:txBody>
      </p:sp>
    </p:spTree>
    <p:extLst>
      <p:ext uri="{BB962C8B-B14F-4D97-AF65-F5344CB8AC3E}">
        <p14:creationId xmlns:p14="http://schemas.microsoft.com/office/powerpoint/2010/main" val="18329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3471376-3F9E-4AF5-8A89-4D5BE0AE72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4A629E-F55B-48A3-A734-483442ED6B2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DF5259-E5A0-47AF-B5B8-10C3E0C47B1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split is fixed, and validation is created from the training folder.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20311D-C390-415E-839E-B70648206763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6DF8D4-28EA-4039-AA73-0CCF5B63B54A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07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2A368B-CC38-44FE-96F5-953FB36E7DBF}"/>
              </a:ext>
            </a:extLst>
          </p:cNvPr>
          <p:cNvSpPr>
            <a:spLocks noGrp="1"/>
          </p:cNvSpPr>
          <p:nvPr/>
        </p:nvSpPr>
        <p:spPr>
          <a:xfrm>
            <a:off x="85725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CFA5AD-8755-4603-9832-97CE2E315AF0}"/>
              </a:ext>
            </a:extLst>
          </p:cNvPr>
          <p:cNvSpPr>
            <a:spLocks noGrp="1"/>
          </p:cNvSpPr>
          <p:nvPr/>
        </p:nvSpPr>
        <p:spPr>
          <a:xfrm>
            <a:off x="95250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 train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ABE74D-1DDB-42E3-B101-A51C0BBF2FA0}"/>
              </a:ext>
            </a:extLst>
          </p:cNvPr>
          <p:cNvSpPr>
            <a:spLocks noGrp="1"/>
          </p:cNvSpPr>
          <p:nvPr/>
        </p:nvSpPr>
        <p:spPr>
          <a:xfrm>
            <a:off x="2571750" y="2552700"/>
            <a:ext cx="25400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30A579-C31C-4CFD-A901-C31194288ED4}"/>
              </a:ext>
            </a:extLst>
          </p:cNvPr>
          <p:cNvSpPr>
            <a:spLocks noGrp="1"/>
          </p:cNvSpPr>
          <p:nvPr/>
        </p:nvSpPr>
        <p:spPr>
          <a:xfrm>
            <a:off x="292100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18BB72-0D11-4020-AAB3-94BB911D724A}"/>
              </a:ext>
            </a:extLst>
          </p:cNvPr>
          <p:cNvSpPr>
            <a:spLocks noGrp="1"/>
          </p:cNvSpPr>
          <p:nvPr/>
        </p:nvSpPr>
        <p:spPr>
          <a:xfrm>
            <a:off x="301625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fixed seed shuffle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96E083-9F5A-4559-B797-964CC9B32683}"/>
              </a:ext>
            </a:extLst>
          </p:cNvPr>
          <p:cNvSpPr>
            <a:spLocks noGrp="1"/>
          </p:cNvSpPr>
          <p:nvPr/>
        </p:nvSpPr>
        <p:spPr>
          <a:xfrm>
            <a:off x="4635500" y="2552700"/>
            <a:ext cx="25400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A83E46-93AC-47F3-A748-2EC4407289D1}"/>
              </a:ext>
            </a:extLst>
          </p:cNvPr>
          <p:cNvSpPr>
            <a:spLocks noGrp="1"/>
          </p:cNvSpPr>
          <p:nvPr/>
        </p:nvSpPr>
        <p:spPr>
          <a:xfrm>
            <a:off x="498475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B5C987-C755-4C9C-B24E-8B29E7A39D81}"/>
              </a:ext>
            </a:extLst>
          </p:cNvPr>
          <p:cNvSpPr>
            <a:spLocks noGrp="1"/>
          </p:cNvSpPr>
          <p:nvPr/>
        </p:nvSpPr>
        <p:spPr>
          <a:xfrm>
            <a:off x="508000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90% train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D97800-00B1-4252-9CAF-2CAEA1375CA0}"/>
              </a:ext>
            </a:extLst>
          </p:cNvPr>
          <p:cNvSpPr>
            <a:spLocks noGrp="1"/>
          </p:cNvSpPr>
          <p:nvPr/>
        </p:nvSpPr>
        <p:spPr>
          <a:xfrm>
            <a:off x="6699250" y="2552700"/>
            <a:ext cx="25400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AD08AF-0CBE-4DB7-8A5E-B829AB33415E}"/>
              </a:ext>
            </a:extLst>
          </p:cNvPr>
          <p:cNvSpPr>
            <a:spLocks noGrp="1"/>
          </p:cNvSpPr>
          <p:nvPr/>
        </p:nvSpPr>
        <p:spPr>
          <a:xfrm>
            <a:off x="7048500" y="23050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F2448D-0BBF-4F1E-9F1E-8A4CDE5EE3BD}"/>
              </a:ext>
            </a:extLst>
          </p:cNvPr>
          <p:cNvSpPr>
            <a:spLocks noGrp="1"/>
          </p:cNvSpPr>
          <p:nvPr/>
        </p:nvSpPr>
        <p:spPr>
          <a:xfrm>
            <a:off x="7143750" y="24003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10% validation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4BB591-4181-4DEC-9A27-9ACDBE94F60E}"/>
              </a:ext>
            </a:extLst>
          </p:cNvPr>
          <p:cNvSpPr>
            <a:spLocks noGrp="1"/>
          </p:cNvSpPr>
          <p:nvPr/>
        </p:nvSpPr>
        <p:spPr>
          <a:xfrm>
            <a:off x="857250" y="34861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CCA573-8C6E-4590-8CC0-C46E5A8A6076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FER2013 test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67A3DC-6206-4FA3-A4C6-B56AF73B7F51}"/>
              </a:ext>
            </a:extLst>
          </p:cNvPr>
          <p:cNvSpPr>
            <a:spLocks noGrp="1"/>
          </p:cNvSpPr>
          <p:nvPr/>
        </p:nvSpPr>
        <p:spPr>
          <a:xfrm>
            <a:off x="2571750" y="3733800"/>
            <a:ext cx="333375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91A2F1-581A-4EC2-A65D-A5146A260670}"/>
              </a:ext>
            </a:extLst>
          </p:cNvPr>
          <p:cNvSpPr>
            <a:spLocks noGrp="1"/>
          </p:cNvSpPr>
          <p:nvPr/>
        </p:nvSpPr>
        <p:spPr>
          <a:xfrm>
            <a:off x="3000375" y="34861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26FABD-6D5D-4D7D-A1F0-E4BAAE4F1883}"/>
              </a:ext>
            </a:extLst>
          </p:cNvPr>
          <p:cNvSpPr>
            <a:spLocks noGrp="1"/>
          </p:cNvSpPr>
          <p:nvPr/>
        </p:nvSpPr>
        <p:spPr>
          <a:xfrm>
            <a:off x="3095625" y="35814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stratified test indices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0C1938-1CEB-49D4-820E-9E7A0EA35D61}"/>
              </a:ext>
            </a:extLst>
          </p:cNvPr>
          <p:cNvSpPr>
            <a:spLocks noGrp="1"/>
          </p:cNvSpPr>
          <p:nvPr/>
        </p:nvSpPr>
        <p:spPr>
          <a:xfrm>
            <a:off x="4714875" y="3733800"/>
            <a:ext cx="333375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C130F6-DA3E-46F7-BF60-A575E98C15B4}"/>
              </a:ext>
            </a:extLst>
          </p:cNvPr>
          <p:cNvSpPr>
            <a:spLocks noGrp="1"/>
          </p:cNvSpPr>
          <p:nvPr/>
        </p:nvSpPr>
        <p:spPr>
          <a:xfrm>
            <a:off x="5143500" y="3486150"/>
            <a:ext cx="16192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11C108-51A9-44DF-846C-98948CA27220}"/>
              </a:ext>
            </a:extLst>
          </p:cNvPr>
          <p:cNvSpPr>
            <a:spLocks noGrp="1"/>
          </p:cNvSpPr>
          <p:nvPr/>
        </p:nvSpPr>
        <p:spPr>
          <a:xfrm>
            <a:off x="5238750" y="3581400"/>
            <a:ext cx="1428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held-out test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60C6F2-8CBE-415B-AD86-F16B7214A382}"/>
              </a:ext>
            </a:extLst>
          </p:cNvPr>
          <p:cNvSpPr>
            <a:spLocks noGrp="1"/>
          </p:cNvSpPr>
          <p:nvPr/>
        </p:nvSpPr>
        <p:spPr>
          <a:xfrm>
            <a:off x="8858250" y="234315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Sizes used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1F52E5-5096-444A-8064-7F42FFD82ED1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train folder: 28,709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9CCD16-A025-4125-9DB7-799338C5800E}"/>
              </a:ext>
            </a:extLst>
          </p:cNvPr>
          <p:cNvSpPr>
            <a:spLocks noGrp="1"/>
          </p:cNvSpPr>
          <p:nvPr/>
        </p:nvSpPr>
        <p:spPr>
          <a:xfrm>
            <a:off x="8858250" y="29908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test folder: 7,178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C026F-AD89-4DC0-B57E-1613735594E8}"/>
              </a:ext>
            </a:extLst>
          </p:cNvPr>
          <p:cNvSpPr>
            <a:spLocks noGrp="1"/>
          </p:cNvSpPr>
          <p:nvPr/>
        </p:nvSpPr>
        <p:spPr>
          <a:xfrm>
            <a:off x="8858250" y="333375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validation: 10% of train folder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1BFB93-74D7-492F-96BD-95B66D474849}"/>
              </a:ext>
            </a:extLst>
          </p:cNvPr>
          <p:cNvSpPr>
            <a:spLocks noGrp="1"/>
          </p:cNvSpPr>
          <p:nvPr/>
        </p:nvSpPr>
        <p:spPr>
          <a:xfrm>
            <a:off x="876300" y="49149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83A62E-78CF-4FF8-9634-0C2F24523122}"/>
              </a:ext>
            </a:extLst>
          </p:cNvPr>
          <p:cNvSpPr>
            <a:spLocks noGrp="1"/>
          </p:cNvSpPr>
          <p:nvPr/>
        </p:nvSpPr>
        <p:spPr>
          <a:xfrm>
            <a:off x="1123950" y="4819650"/>
            <a:ext cx="832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train/validation split is reproducible with seed 42.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A05A50-5DE5-479C-B610-5C6B668268BD}"/>
              </a:ext>
            </a:extLst>
          </p:cNvPr>
          <p:cNvSpPr>
            <a:spLocks noGrp="1"/>
          </p:cNvSpPr>
          <p:nvPr/>
        </p:nvSpPr>
        <p:spPr>
          <a:xfrm>
            <a:off x="876300" y="53530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B6F593F-E230-4A25-9B64-699FBF28DC1B}"/>
              </a:ext>
            </a:extLst>
          </p:cNvPr>
          <p:cNvSpPr>
            <a:spLocks noGrp="1"/>
          </p:cNvSpPr>
          <p:nvPr/>
        </p:nvSpPr>
        <p:spPr>
          <a:xfrm>
            <a:off x="1123950" y="5257800"/>
            <a:ext cx="832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Smoke-test subsets, when used, are class-stratified.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A736E9-63DE-4FD1-AF4C-A6514043C1CF}"/>
              </a:ext>
            </a:extLst>
          </p:cNvPr>
          <p:cNvSpPr>
            <a:spLocks noGrp="1"/>
          </p:cNvSpPr>
          <p:nvPr/>
        </p:nvSpPr>
        <p:spPr>
          <a:xfrm>
            <a:off x="876300" y="5791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43A006-4CFB-4714-88D9-CFB946A08E6B}"/>
              </a:ext>
            </a:extLst>
          </p:cNvPr>
          <p:cNvSpPr>
            <a:spLocks noGrp="1"/>
          </p:cNvSpPr>
          <p:nvPr/>
        </p:nvSpPr>
        <p:spPr>
          <a:xfrm>
            <a:off x="1123950" y="5695950"/>
            <a:ext cx="83248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Weighted sampling and oversampling are applied only to the training subset.</a:t>
            </a:r>
          </a:p>
        </p:txBody>
      </p:sp>
    </p:spTree>
    <p:extLst>
      <p:ext uri="{BB962C8B-B14F-4D97-AF65-F5344CB8AC3E}">
        <p14:creationId xmlns:p14="http://schemas.microsoft.com/office/powerpoint/2010/main" val="202661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0C02B02-64EF-47FD-B260-5F392D89B6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18C914-3CA6-4882-A3A0-F41962956532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DATASET AND PREPROCESSING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2F7A04-1F83-4D82-B416-09DE90E388E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Input preprocessing depends on whether the model is trained from scratch or pretrained.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5757F0-1C50-4214-AF8C-20EE897437F6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BAEBA2-A995-4076-B731-A2088A36DC6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08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0AF09C-0EAB-46C6-804A-C279804F971C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2E1172-7692-4986-9640-EFB42986B366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28F5AF-C7F7-4970-A2DB-7D7D3BCDE4F6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BC5B44-0DC7-4CB8-BBBC-5C7048E8F64F}"/>
              </a:ext>
            </a:extLst>
          </p:cNvPr>
          <p:cNvSpPr>
            <a:spLocks noGrp="1"/>
          </p:cNvSpPr>
          <p:nvPr/>
        </p:nvSpPr>
        <p:spPr>
          <a:xfrm>
            <a:off x="1028700" y="26670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48x48 grayscale input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16836-6961-40D3-94CB-88C3D5111147}"/>
              </a:ext>
            </a:extLst>
          </p:cNvPr>
          <p:cNvSpPr>
            <a:spLocks noGrp="1"/>
          </p:cNvSpPr>
          <p:nvPr/>
        </p:nvSpPr>
        <p:spPr>
          <a:xfrm>
            <a:off x="781050" y="3257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C4165-FE28-4BD5-BB3B-771021B0744E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random crop and horizontal flip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0D4ABB-E821-4CE7-9044-3AF95E407EF9}"/>
              </a:ext>
            </a:extLst>
          </p:cNvPr>
          <p:cNvSpPr>
            <a:spLocks noGrp="1"/>
          </p:cNvSpPr>
          <p:nvPr/>
        </p:nvSpPr>
        <p:spPr>
          <a:xfrm>
            <a:off x="781050" y="37528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F2368E-0421-4D0C-BE2B-D48B7F060A9D}"/>
              </a:ext>
            </a:extLst>
          </p:cNvPr>
          <p:cNvSpPr>
            <a:spLocks noGrp="1"/>
          </p:cNvSpPr>
          <p:nvPr/>
        </p:nvSpPr>
        <p:spPr>
          <a:xfrm>
            <a:off x="1028700" y="3657600"/>
            <a:ext cx="3467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mean 0.5 / std 0.5 normalization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814144-444B-4D44-AB7C-2A207C34DEB7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RESNET18 AND EFFICIENTNET-B0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C11F9E-259A-4A31-9EDC-AD41CA906AD5}"/>
              </a:ext>
            </a:extLst>
          </p:cNvPr>
          <p:cNvSpPr>
            <a:spLocks noGrp="1"/>
          </p:cNvSpPr>
          <p:nvPr/>
        </p:nvSpPr>
        <p:spPr>
          <a:xfrm>
            <a:off x="723900" y="4800600"/>
            <a:ext cx="3429000" cy="14288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AEDEF9-7FD5-4E64-9F5D-DCDC0CF28B8E}"/>
              </a:ext>
            </a:extLst>
          </p:cNvPr>
          <p:cNvSpPr>
            <a:spLocks noGrp="1"/>
          </p:cNvSpPr>
          <p:nvPr/>
        </p:nvSpPr>
        <p:spPr>
          <a:xfrm>
            <a:off x="781050" y="52006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1B665B-1973-456B-9B2C-252765C2BBFD}"/>
              </a:ext>
            </a:extLst>
          </p:cNvPr>
          <p:cNvSpPr>
            <a:spLocks noGrp="1"/>
          </p:cNvSpPr>
          <p:nvPr/>
        </p:nvSpPr>
        <p:spPr>
          <a:xfrm>
            <a:off x="1028700" y="5105400"/>
            <a:ext cx="4705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same transfer preprocessing for both pretrained backbones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572347-223E-4C09-AB3F-8E4AA24908F5}"/>
              </a:ext>
            </a:extLst>
          </p:cNvPr>
          <p:cNvSpPr>
            <a:spLocks noGrp="1"/>
          </p:cNvSpPr>
          <p:nvPr/>
        </p:nvSpPr>
        <p:spPr>
          <a:xfrm>
            <a:off x="781050" y="55626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A8008F-ED69-4A2B-AAAB-0D3CCB92B4D2}"/>
              </a:ext>
            </a:extLst>
          </p:cNvPr>
          <p:cNvSpPr>
            <a:spLocks noGrp="1"/>
          </p:cNvSpPr>
          <p:nvPr/>
        </p:nvSpPr>
        <p:spPr>
          <a:xfrm>
            <a:off x="1028700" y="5467350"/>
            <a:ext cx="4705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resize to 224x224 and replicate grayscale to 3 channels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584A23-22E5-4A02-BFDE-E2080BD20F9A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FEFD62-6426-4C82-A162-FF47965E207D}"/>
              </a:ext>
            </a:extLst>
          </p:cNvPr>
          <p:cNvSpPr>
            <a:spLocks noGrp="1"/>
          </p:cNvSpPr>
          <p:nvPr/>
        </p:nvSpPr>
        <p:spPr>
          <a:xfrm>
            <a:off x="1028700" y="5829300"/>
            <a:ext cx="4705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ImageNet normalization to match pretrained weights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B69C2FE-306C-4108-AD38-11EE80830C11}"/>
              </a:ext>
            </a:extLst>
          </p:cNvPr>
          <p:cNvSpPr>
            <a:spLocks noGrp="1"/>
          </p:cNvSpPr>
          <p:nvPr/>
        </p:nvSpPr>
        <p:spPr>
          <a:xfrm>
            <a:off x="6115050" y="2324100"/>
            <a:ext cx="4629150" cy="27241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0" y="2581065"/>
            <a:ext cx="4476750" cy="221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42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0C41C89-ABC4-4F29-BFAD-204D7794CB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7F921A-0A3D-4836-9F7A-4B73F5D8D1A8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95DC7C-CCC4-49E0-8F25-AB6BD2D8CEF7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methodology is built around controlled experiments.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F4A51-90C7-4657-A8E8-09F8E104E716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F278F7-756A-4FFF-B783-84A0AA1E11CF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09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4F709-D268-493F-A0F0-72059D3D08EE}"/>
              </a:ext>
            </a:extLst>
          </p:cNvPr>
          <p:cNvSpPr>
            <a:spLocks noGrp="1"/>
          </p:cNvSpPr>
          <p:nvPr/>
        </p:nvSpPr>
        <p:spPr>
          <a:xfrm>
            <a:off x="781050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391F66-CC47-4B8B-A4C3-5D4AA2C68A13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Fix split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18B42F-FF02-49D6-A808-E7C4CC189DCC}"/>
              </a:ext>
            </a:extLst>
          </p:cNvPr>
          <p:cNvSpPr>
            <a:spLocks noGrp="1"/>
          </p:cNvSpPr>
          <p:nvPr/>
        </p:nvSpPr>
        <p:spPr>
          <a:xfrm>
            <a:off x="2400300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CF0FC9-E444-4DD8-A21B-3CFFA3301D2A}"/>
              </a:ext>
            </a:extLst>
          </p:cNvPr>
          <p:cNvSpPr>
            <a:spLocks noGrp="1"/>
          </p:cNvSpPr>
          <p:nvPr/>
        </p:nvSpPr>
        <p:spPr>
          <a:xfrm>
            <a:off x="2733675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7F928B-01A5-4520-84AB-13199B24E6CC}"/>
              </a:ext>
            </a:extLst>
          </p:cNvPr>
          <p:cNvSpPr>
            <a:spLocks noGrp="1"/>
          </p:cNvSpPr>
          <p:nvPr/>
        </p:nvSpPr>
        <p:spPr>
          <a:xfrm>
            <a:off x="2828925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Change one factor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44700E-BE3A-4830-8786-BDC387578A24}"/>
              </a:ext>
            </a:extLst>
          </p:cNvPr>
          <p:cNvSpPr>
            <a:spLocks noGrp="1"/>
          </p:cNvSpPr>
          <p:nvPr/>
        </p:nvSpPr>
        <p:spPr>
          <a:xfrm>
            <a:off x="4352925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7BFAE1-7D50-4A9D-8997-F3D2BD84D7EF}"/>
              </a:ext>
            </a:extLst>
          </p:cNvPr>
          <p:cNvSpPr>
            <a:spLocks noGrp="1"/>
          </p:cNvSpPr>
          <p:nvPr/>
        </p:nvSpPr>
        <p:spPr>
          <a:xfrm>
            <a:off x="4686300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EDF0ED-C13B-4731-9F8B-CF6C8AD30284}"/>
              </a:ext>
            </a:extLst>
          </p:cNvPr>
          <p:cNvSpPr>
            <a:spLocks noGrp="1"/>
          </p:cNvSpPr>
          <p:nvPr/>
        </p:nvSpPr>
        <p:spPr>
          <a:xfrm>
            <a:off x="478155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Train / select checkpoint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FB95E-E12A-4E08-BF03-5359993FAD81}"/>
              </a:ext>
            </a:extLst>
          </p:cNvPr>
          <p:cNvSpPr>
            <a:spLocks noGrp="1"/>
          </p:cNvSpPr>
          <p:nvPr/>
        </p:nvSpPr>
        <p:spPr>
          <a:xfrm>
            <a:off x="6305550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07E3B7-B604-4204-8CE7-0C537CDA61E7}"/>
              </a:ext>
            </a:extLst>
          </p:cNvPr>
          <p:cNvSpPr>
            <a:spLocks noGrp="1"/>
          </p:cNvSpPr>
          <p:nvPr/>
        </p:nvSpPr>
        <p:spPr>
          <a:xfrm>
            <a:off x="6638925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D16512-4E5A-4795-8AC0-C28443E3A043}"/>
              </a:ext>
            </a:extLst>
          </p:cNvPr>
          <p:cNvSpPr>
            <a:spLocks noGrp="1"/>
          </p:cNvSpPr>
          <p:nvPr/>
        </p:nvSpPr>
        <p:spPr>
          <a:xfrm>
            <a:off x="6734175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Evaluate same metrics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C0CA1B-D0A4-4965-B391-A9182660079F}"/>
              </a:ext>
            </a:extLst>
          </p:cNvPr>
          <p:cNvSpPr>
            <a:spLocks noGrp="1"/>
          </p:cNvSpPr>
          <p:nvPr/>
        </p:nvSpPr>
        <p:spPr>
          <a:xfrm>
            <a:off x="8258175" y="2495550"/>
            <a:ext cx="238125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7EB839-5528-4F5E-BDC9-6F2C69D56BD5}"/>
              </a:ext>
            </a:extLst>
          </p:cNvPr>
          <p:cNvSpPr>
            <a:spLocks noGrp="1"/>
          </p:cNvSpPr>
          <p:nvPr/>
        </p:nvSpPr>
        <p:spPr>
          <a:xfrm>
            <a:off x="8591550" y="2247900"/>
            <a:ext cx="1524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5C9C97-45B9-4199-B9DF-6E2073162D04}"/>
              </a:ext>
            </a:extLst>
          </p:cNvPr>
          <p:cNvSpPr>
            <a:spLocks noGrp="1"/>
          </p:cNvSpPr>
          <p:nvPr/>
        </p:nvSpPr>
        <p:spPr>
          <a:xfrm>
            <a:off x="8686800" y="2343150"/>
            <a:ext cx="133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Analyze errors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9D9E41-7932-4E02-B1BA-13F7161FC643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F7B451-A0B2-4ADB-9A6C-AF676E65FC39}"/>
              </a:ext>
            </a:extLst>
          </p:cNvPr>
          <p:cNvSpPr>
            <a:spLocks noGrp="1"/>
          </p:cNvSpPr>
          <p:nvPr/>
        </p:nvSpPr>
        <p:spPr>
          <a:xfrm>
            <a:off x="1123950" y="3600450"/>
            <a:ext cx="8896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experiment compares model families under consistent train/validation/test logic.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43427D-915D-4CFC-9497-08E07FBB74A6}"/>
              </a:ext>
            </a:extLst>
          </p:cNvPr>
          <p:cNvSpPr>
            <a:spLocks noGrp="1"/>
          </p:cNvSpPr>
          <p:nvPr/>
        </p:nvSpPr>
        <p:spPr>
          <a:xfrm>
            <a:off x="876300" y="4400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D3D301-7553-4F00-82F4-C419C90D83E8}"/>
              </a:ext>
            </a:extLst>
          </p:cNvPr>
          <p:cNvSpPr>
            <a:spLocks noGrp="1"/>
          </p:cNvSpPr>
          <p:nvPr/>
        </p:nvSpPr>
        <p:spPr>
          <a:xfrm>
            <a:off x="1123950" y="4305300"/>
            <a:ext cx="8896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Variables include architecture, imbalance handling, loss function, optimizer, fine-tuning depth, and crop/TenCrop evaluation.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B306F0-E9B9-435B-AA3F-4AC695FA57E9}"/>
              </a:ext>
            </a:extLst>
          </p:cNvPr>
          <p:cNvSpPr>
            <a:spLocks noGrp="1"/>
          </p:cNvSpPr>
          <p:nvPr/>
        </p:nvSpPr>
        <p:spPr>
          <a:xfrm>
            <a:off x="876300" y="51054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EF33706-C028-40FD-B6A8-BA0E14216FF0}"/>
              </a:ext>
            </a:extLst>
          </p:cNvPr>
          <p:cNvSpPr>
            <a:spLocks noGrp="1"/>
          </p:cNvSpPr>
          <p:nvPr/>
        </p:nvSpPr>
        <p:spPr>
          <a:xfrm>
            <a:off x="1123950" y="5010150"/>
            <a:ext cx="8896350" cy="58293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same evidence types are reported: macro F1, weighted F1, per-class F1, loss curves, and confusion matrices.</a:t>
            </a:r>
          </a:p>
        </p:txBody>
      </p:sp>
    </p:spTree>
    <p:extLst>
      <p:ext uri="{BB962C8B-B14F-4D97-AF65-F5344CB8AC3E}">
        <p14:creationId xmlns:p14="http://schemas.microsoft.com/office/powerpoint/2010/main" val="1598589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4CB95BC-0227-46BE-A4DA-B84B155C37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E91556-1D1D-4ECA-9768-8E85A4970211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FEFA3E-0B83-4E04-A956-3D2967213506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Architecture: custom CNN baseline trained from scratch.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D8B683-A0B1-4879-B9D4-F7996EE03857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636FCD-0B74-45C5-89FC-DA995A1974EF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10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19F5C8-8DDF-4E53-A170-7E09CBB4746A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AD24EC-C0AD-4C9B-927D-D50E27682CB2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48x48x1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728183-755F-4BB3-926B-424ECDD8DC57}"/>
              </a:ext>
            </a:extLst>
          </p:cNvPr>
          <p:cNvSpPr>
            <a:spLocks noGrp="1"/>
          </p:cNvSpPr>
          <p:nvPr/>
        </p:nvSpPr>
        <p:spPr>
          <a:xfrm>
            <a:off x="1733550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E8508D-EB94-4DFF-93D3-BC108BD8C1F0}"/>
              </a:ext>
            </a:extLst>
          </p:cNvPr>
          <p:cNvSpPr>
            <a:spLocks noGrp="1"/>
          </p:cNvSpPr>
          <p:nvPr/>
        </p:nvSpPr>
        <p:spPr>
          <a:xfrm>
            <a:off x="1807369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BCC4C5-DEFD-4CCC-BAC6-282588CCDF9D}"/>
              </a:ext>
            </a:extLst>
          </p:cNvPr>
          <p:cNvSpPr>
            <a:spLocks noGrp="1"/>
          </p:cNvSpPr>
          <p:nvPr/>
        </p:nvSpPr>
        <p:spPr>
          <a:xfrm>
            <a:off x="1902619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conv 32 x2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5AEBF9-57F4-418B-AD1D-2BF83AFCF845}"/>
              </a:ext>
            </a:extLst>
          </p:cNvPr>
          <p:cNvSpPr>
            <a:spLocks noGrp="1"/>
          </p:cNvSpPr>
          <p:nvPr/>
        </p:nvSpPr>
        <p:spPr>
          <a:xfrm>
            <a:off x="2874169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0A669D-3475-422A-83E7-36E3ADC919CE}"/>
              </a:ext>
            </a:extLst>
          </p:cNvPr>
          <p:cNvSpPr>
            <a:spLocks noGrp="1"/>
          </p:cNvSpPr>
          <p:nvPr/>
        </p:nvSpPr>
        <p:spPr>
          <a:xfrm>
            <a:off x="2947988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07ABF4-DC98-4B82-8821-8613E26DBC55}"/>
              </a:ext>
            </a:extLst>
          </p:cNvPr>
          <p:cNvSpPr>
            <a:spLocks noGrp="1"/>
          </p:cNvSpPr>
          <p:nvPr/>
        </p:nvSpPr>
        <p:spPr>
          <a:xfrm>
            <a:off x="3043238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MaxPool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5599B3-661D-4749-B7C8-C6F6DAA02AB9}"/>
              </a:ext>
            </a:extLst>
          </p:cNvPr>
          <p:cNvSpPr>
            <a:spLocks noGrp="1"/>
          </p:cNvSpPr>
          <p:nvPr/>
        </p:nvSpPr>
        <p:spPr>
          <a:xfrm>
            <a:off x="4014788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AE00B2-AC37-4B70-81FA-5FA7858784E4}"/>
              </a:ext>
            </a:extLst>
          </p:cNvPr>
          <p:cNvSpPr>
            <a:spLocks noGrp="1"/>
          </p:cNvSpPr>
          <p:nvPr/>
        </p:nvSpPr>
        <p:spPr>
          <a:xfrm>
            <a:off x="4088606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6B8FAE-DC26-410E-8831-9BAD9B726487}"/>
              </a:ext>
            </a:extLst>
          </p:cNvPr>
          <p:cNvSpPr>
            <a:spLocks noGrp="1"/>
          </p:cNvSpPr>
          <p:nvPr/>
        </p:nvSpPr>
        <p:spPr>
          <a:xfrm>
            <a:off x="4183856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conv 64 x2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7BA1DA-AC2D-41F4-B5BA-FC35F02C51B0}"/>
              </a:ext>
            </a:extLst>
          </p:cNvPr>
          <p:cNvSpPr>
            <a:spLocks noGrp="1"/>
          </p:cNvSpPr>
          <p:nvPr/>
        </p:nvSpPr>
        <p:spPr>
          <a:xfrm>
            <a:off x="5155406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C58827-EEBF-4BB6-879C-8FFFADFEFD50}"/>
              </a:ext>
            </a:extLst>
          </p:cNvPr>
          <p:cNvSpPr>
            <a:spLocks noGrp="1"/>
          </p:cNvSpPr>
          <p:nvPr/>
        </p:nvSpPr>
        <p:spPr>
          <a:xfrm>
            <a:off x="5229225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262979-F3EB-4D57-99DC-E963377AACFB}"/>
              </a:ext>
            </a:extLst>
          </p:cNvPr>
          <p:cNvSpPr>
            <a:spLocks noGrp="1"/>
          </p:cNvSpPr>
          <p:nvPr/>
        </p:nvSpPr>
        <p:spPr>
          <a:xfrm>
            <a:off x="5324475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MaxPool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20E966-95FD-4EB4-96A8-AAD0CC4E2972}"/>
              </a:ext>
            </a:extLst>
          </p:cNvPr>
          <p:cNvSpPr>
            <a:spLocks noGrp="1"/>
          </p:cNvSpPr>
          <p:nvPr/>
        </p:nvSpPr>
        <p:spPr>
          <a:xfrm>
            <a:off x="6296025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A75690-A7FC-404E-ABFE-AC99E8DC6169}"/>
              </a:ext>
            </a:extLst>
          </p:cNvPr>
          <p:cNvSpPr>
            <a:spLocks noGrp="1"/>
          </p:cNvSpPr>
          <p:nvPr/>
        </p:nvSpPr>
        <p:spPr>
          <a:xfrm>
            <a:off x="6369844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DF6611-3050-439F-93D5-8038BE4E441E}"/>
              </a:ext>
            </a:extLst>
          </p:cNvPr>
          <p:cNvSpPr>
            <a:spLocks noGrp="1"/>
          </p:cNvSpPr>
          <p:nvPr/>
        </p:nvSpPr>
        <p:spPr>
          <a:xfrm>
            <a:off x="6465094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conv 128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A04210-F58A-4200-AF21-27515EBD5F7B}"/>
              </a:ext>
            </a:extLst>
          </p:cNvPr>
          <p:cNvSpPr>
            <a:spLocks noGrp="1"/>
          </p:cNvSpPr>
          <p:nvPr/>
        </p:nvSpPr>
        <p:spPr>
          <a:xfrm>
            <a:off x="7436644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88C891-DD93-46C7-8755-C2E883E51852}"/>
              </a:ext>
            </a:extLst>
          </p:cNvPr>
          <p:cNvSpPr>
            <a:spLocks noGrp="1"/>
          </p:cNvSpPr>
          <p:nvPr/>
        </p:nvSpPr>
        <p:spPr>
          <a:xfrm>
            <a:off x="7510463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789EE2-6FFB-4B93-B916-A7D958E17CAB}"/>
              </a:ext>
            </a:extLst>
          </p:cNvPr>
          <p:cNvSpPr>
            <a:spLocks noGrp="1"/>
          </p:cNvSpPr>
          <p:nvPr/>
        </p:nvSpPr>
        <p:spPr>
          <a:xfrm>
            <a:off x="7605713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MaxPool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119E0B-0BAC-4FB5-815C-B433828734A5}"/>
              </a:ext>
            </a:extLst>
          </p:cNvPr>
          <p:cNvSpPr>
            <a:spLocks noGrp="1"/>
          </p:cNvSpPr>
          <p:nvPr/>
        </p:nvSpPr>
        <p:spPr>
          <a:xfrm>
            <a:off x="8577263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CBBFC3-98A5-4F94-B502-E2F9267E41CA}"/>
              </a:ext>
            </a:extLst>
          </p:cNvPr>
          <p:cNvSpPr>
            <a:spLocks noGrp="1"/>
          </p:cNvSpPr>
          <p:nvPr/>
        </p:nvSpPr>
        <p:spPr>
          <a:xfrm>
            <a:off x="8651081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3416CF-D303-4769-9A70-5D49F63C9465}"/>
              </a:ext>
            </a:extLst>
          </p:cNvPr>
          <p:cNvSpPr>
            <a:spLocks noGrp="1"/>
          </p:cNvSpPr>
          <p:nvPr/>
        </p:nvSpPr>
        <p:spPr>
          <a:xfrm>
            <a:off x="8746331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FC 256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6CA3B6-EBA4-4220-BE54-4A08CCA4AE3B}"/>
              </a:ext>
            </a:extLst>
          </p:cNvPr>
          <p:cNvSpPr>
            <a:spLocks noGrp="1"/>
          </p:cNvSpPr>
          <p:nvPr/>
        </p:nvSpPr>
        <p:spPr>
          <a:xfrm>
            <a:off x="9717881" y="262890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0418FC-5938-4B3E-ADBB-588DF3E044A6}"/>
              </a:ext>
            </a:extLst>
          </p:cNvPr>
          <p:cNvSpPr>
            <a:spLocks noGrp="1"/>
          </p:cNvSpPr>
          <p:nvPr/>
        </p:nvSpPr>
        <p:spPr>
          <a:xfrm>
            <a:off x="9791700" y="2381250"/>
            <a:ext cx="97155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E86AB3-D043-43BB-83FC-B61857F00CF9}"/>
              </a:ext>
            </a:extLst>
          </p:cNvPr>
          <p:cNvSpPr>
            <a:spLocks noGrp="1"/>
          </p:cNvSpPr>
          <p:nvPr/>
        </p:nvSpPr>
        <p:spPr>
          <a:xfrm>
            <a:off x="9886950" y="2476500"/>
            <a:ext cx="781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 logits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60B5DA-AB71-4563-B739-173B24D1A06A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BaselineCNN implementation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2EF71E-BBBC-4348-B393-7E3E10A9E0E0}"/>
              </a:ext>
            </a:extLst>
          </p:cNvPr>
          <p:cNvSpPr>
            <a:spLocks noGrp="1"/>
          </p:cNvSpPr>
          <p:nvPr/>
        </p:nvSpPr>
        <p:spPr>
          <a:xfrm>
            <a:off x="914400" y="40195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AE314B-5263-4224-B46C-7EFCB62B87F2}"/>
              </a:ext>
            </a:extLst>
          </p:cNvPr>
          <p:cNvSpPr>
            <a:spLocks noGrp="1"/>
          </p:cNvSpPr>
          <p:nvPr/>
        </p:nvSpPr>
        <p:spPr>
          <a:xfrm>
            <a:off x="1162050" y="392430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Feature channels: 32, 64, 128.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462A84-E66D-4174-A4D5-142CE7232097}"/>
              </a:ext>
            </a:extLst>
          </p:cNvPr>
          <p:cNvSpPr>
            <a:spLocks noGrp="1"/>
          </p:cNvSpPr>
          <p:nvPr/>
        </p:nvSpPr>
        <p:spPr>
          <a:xfrm>
            <a:off x="914400" y="45339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C66382F-1E99-4400-A28B-2DA2B48B7E79}"/>
              </a:ext>
            </a:extLst>
          </p:cNvPr>
          <p:cNvSpPr>
            <a:spLocks noGrp="1"/>
          </p:cNvSpPr>
          <p:nvPr/>
        </p:nvSpPr>
        <p:spPr>
          <a:xfrm>
            <a:off x="1162050" y="443865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Convolution filters: 3x3, padding 1; block depths: 2, 2, 1.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209E5B8-A99B-4926-87D4-A4CD4AB5EB44}"/>
              </a:ext>
            </a:extLst>
          </p:cNvPr>
          <p:cNvSpPr>
            <a:spLocks noGrp="1"/>
          </p:cNvSpPr>
          <p:nvPr/>
        </p:nvSpPr>
        <p:spPr>
          <a:xfrm>
            <a:off x="914400" y="50482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1ED5C72-0907-443D-83B5-1F90F0BCC66D}"/>
              </a:ext>
            </a:extLst>
          </p:cNvPr>
          <p:cNvSpPr>
            <a:spLocks noGrp="1"/>
          </p:cNvSpPr>
          <p:nvPr/>
        </p:nvSpPr>
        <p:spPr>
          <a:xfrm>
            <a:off x="1162050" y="495300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Dropout2d after early pooling blocks; dropout before classifier output.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5979EA-95D7-4104-98C3-82B66C4A1A29}"/>
              </a:ext>
            </a:extLst>
          </p:cNvPr>
          <p:cNvSpPr>
            <a:spLocks noGrp="1"/>
          </p:cNvSpPr>
          <p:nvPr/>
        </p:nvSpPr>
        <p:spPr>
          <a:xfrm>
            <a:off x="914400" y="5562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8FE89B1-5419-4D39-AA22-5634441BF75C}"/>
              </a:ext>
            </a:extLst>
          </p:cNvPr>
          <p:cNvSpPr>
            <a:spLocks noGrp="1"/>
          </p:cNvSpPr>
          <p:nvPr/>
        </p:nvSpPr>
        <p:spPr>
          <a:xfrm>
            <a:off x="1162050" y="5467350"/>
            <a:ext cx="8705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Purpose: establish a reproducible from-scratch baseline.</a:t>
            </a:r>
          </a:p>
        </p:txBody>
      </p:sp>
    </p:spTree>
    <p:extLst>
      <p:ext uri="{BB962C8B-B14F-4D97-AF65-F5344CB8AC3E}">
        <p14:creationId xmlns:p14="http://schemas.microsoft.com/office/powerpoint/2010/main" val="2538436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BE5EA2E-CDEC-4B0E-8DEF-CF8D425CA7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CF154D-FF26-4644-9BDB-048F8CA86DE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56A361-3355-4064-8741-B3A5524ECA5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Architecture: ResNet18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4F0C03-36FD-4B8B-9811-7A7CBE0C0366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F4B766-CF06-40B1-BB3C-548579515C63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11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246166-9874-4026-AE01-2CD4C79237A7}"/>
              </a:ext>
            </a:extLst>
          </p:cNvPr>
          <p:cNvSpPr>
            <a:spLocks noGrp="1"/>
          </p:cNvSpPr>
          <p:nvPr/>
        </p:nvSpPr>
        <p:spPr>
          <a:xfrm>
            <a:off x="8572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8F3014-F231-4FE3-957E-A090E64B2D67}"/>
              </a:ext>
            </a:extLst>
          </p:cNvPr>
          <p:cNvSpPr>
            <a:spLocks noGrp="1"/>
          </p:cNvSpPr>
          <p:nvPr/>
        </p:nvSpPr>
        <p:spPr>
          <a:xfrm>
            <a:off x="9525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224x224x3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C0F25B-1A75-45DF-871E-4E7A05AE471F}"/>
              </a:ext>
            </a:extLst>
          </p:cNvPr>
          <p:cNvSpPr>
            <a:spLocks noGrp="1"/>
          </p:cNvSpPr>
          <p:nvPr/>
        </p:nvSpPr>
        <p:spPr>
          <a:xfrm>
            <a:off x="20193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BD7270-4A0E-45B3-BACA-036AA76055F5}"/>
              </a:ext>
            </a:extLst>
          </p:cNvPr>
          <p:cNvSpPr>
            <a:spLocks noGrp="1"/>
          </p:cNvSpPr>
          <p:nvPr/>
        </p:nvSpPr>
        <p:spPr>
          <a:xfrm>
            <a:off x="20383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B7B91E-9F10-4CDA-9AB7-3CD77C9CDDFD}"/>
              </a:ext>
            </a:extLst>
          </p:cNvPr>
          <p:cNvSpPr>
            <a:spLocks noGrp="1"/>
          </p:cNvSpPr>
          <p:nvPr/>
        </p:nvSpPr>
        <p:spPr>
          <a:xfrm>
            <a:off x="21336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7x7 stem conv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DF9851-FC6D-408E-B1C8-6308A6C53B10}"/>
              </a:ext>
            </a:extLst>
          </p:cNvPr>
          <p:cNvSpPr>
            <a:spLocks noGrp="1"/>
          </p:cNvSpPr>
          <p:nvPr/>
        </p:nvSpPr>
        <p:spPr>
          <a:xfrm>
            <a:off x="32004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BEC9C-2908-4934-BCE6-464CE38CA9BA}"/>
              </a:ext>
            </a:extLst>
          </p:cNvPr>
          <p:cNvSpPr>
            <a:spLocks noGrp="1"/>
          </p:cNvSpPr>
          <p:nvPr/>
        </p:nvSpPr>
        <p:spPr>
          <a:xfrm>
            <a:off x="32194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A382D9-4833-423E-B8E2-534E4BDD42DC}"/>
              </a:ext>
            </a:extLst>
          </p:cNvPr>
          <p:cNvSpPr>
            <a:spLocks noGrp="1"/>
          </p:cNvSpPr>
          <p:nvPr/>
        </p:nvSpPr>
        <p:spPr>
          <a:xfrm>
            <a:off x="33147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residual blocks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120E97-AC4C-48D9-849D-5FA73238AE5E}"/>
              </a:ext>
            </a:extLst>
          </p:cNvPr>
          <p:cNvSpPr>
            <a:spLocks noGrp="1"/>
          </p:cNvSpPr>
          <p:nvPr/>
        </p:nvSpPr>
        <p:spPr>
          <a:xfrm>
            <a:off x="43815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7FD247-08D6-44E7-9ECF-3988C7251D2B}"/>
              </a:ext>
            </a:extLst>
          </p:cNvPr>
          <p:cNvSpPr>
            <a:spLocks noGrp="1"/>
          </p:cNvSpPr>
          <p:nvPr/>
        </p:nvSpPr>
        <p:spPr>
          <a:xfrm>
            <a:off x="44005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252135-3985-43E7-80AE-9D7D13918669}"/>
              </a:ext>
            </a:extLst>
          </p:cNvPr>
          <p:cNvSpPr>
            <a:spLocks noGrp="1"/>
          </p:cNvSpPr>
          <p:nvPr/>
        </p:nvSpPr>
        <p:spPr>
          <a:xfrm>
            <a:off x="44958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1D7A42-AB31-43E5-904E-AE3C7C394C39}"/>
              </a:ext>
            </a:extLst>
          </p:cNvPr>
          <p:cNvSpPr>
            <a:spLocks noGrp="1"/>
          </p:cNvSpPr>
          <p:nvPr/>
        </p:nvSpPr>
        <p:spPr>
          <a:xfrm>
            <a:off x="55626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4885F9B-B104-4005-8EFF-025035765333}"/>
              </a:ext>
            </a:extLst>
          </p:cNvPr>
          <p:cNvSpPr>
            <a:spLocks noGrp="1"/>
          </p:cNvSpPr>
          <p:nvPr/>
        </p:nvSpPr>
        <p:spPr>
          <a:xfrm>
            <a:off x="55816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33960B-0ABB-4697-9C72-8F87138674EE}"/>
              </a:ext>
            </a:extLst>
          </p:cNvPr>
          <p:cNvSpPr>
            <a:spLocks noGrp="1"/>
          </p:cNvSpPr>
          <p:nvPr/>
        </p:nvSpPr>
        <p:spPr>
          <a:xfrm>
            <a:off x="56769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B32406-03AE-4E08-985D-5C4D555E3C67}"/>
              </a:ext>
            </a:extLst>
          </p:cNvPr>
          <p:cNvSpPr>
            <a:spLocks noGrp="1"/>
          </p:cNvSpPr>
          <p:nvPr/>
        </p:nvSpPr>
        <p:spPr>
          <a:xfrm>
            <a:off x="67437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EEB58F-1F65-4C1D-9423-693A99CA5C26}"/>
              </a:ext>
            </a:extLst>
          </p:cNvPr>
          <p:cNvSpPr>
            <a:spLocks noGrp="1"/>
          </p:cNvSpPr>
          <p:nvPr/>
        </p:nvSpPr>
        <p:spPr>
          <a:xfrm>
            <a:off x="67627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EC384B-63F6-4A2E-994F-B78122516350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CB7F23-30B7-4E42-9AFC-0C18CBFAF925}"/>
              </a:ext>
            </a:extLst>
          </p:cNvPr>
          <p:cNvSpPr>
            <a:spLocks noGrp="1"/>
          </p:cNvSpPr>
          <p:nvPr/>
        </p:nvSpPr>
        <p:spPr>
          <a:xfrm>
            <a:off x="79248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052317-7762-4033-808B-69705CE710EA}"/>
              </a:ext>
            </a:extLst>
          </p:cNvPr>
          <p:cNvSpPr>
            <a:spLocks noGrp="1"/>
          </p:cNvSpPr>
          <p:nvPr/>
        </p:nvSpPr>
        <p:spPr>
          <a:xfrm>
            <a:off x="79438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B3AD9F-97D7-41B6-9368-85DF16CF1DC3}"/>
              </a:ext>
            </a:extLst>
          </p:cNvPr>
          <p:cNvSpPr>
            <a:spLocks noGrp="1"/>
          </p:cNvSpPr>
          <p:nvPr/>
        </p:nvSpPr>
        <p:spPr>
          <a:xfrm>
            <a:off x="80391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FC head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E24D4A2-E0FD-4679-98DD-3879C0C6BB1B}"/>
              </a:ext>
            </a:extLst>
          </p:cNvPr>
          <p:cNvSpPr>
            <a:spLocks noGrp="1"/>
          </p:cNvSpPr>
          <p:nvPr/>
        </p:nvSpPr>
        <p:spPr>
          <a:xfrm>
            <a:off x="91059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245C2A-AF76-4BCF-9A3E-5164E6C4DC23}"/>
              </a:ext>
            </a:extLst>
          </p:cNvPr>
          <p:cNvSpPr>
            <a:spLocks noGrp="1"/>
          </p:cNvSpPr>
          <p:nvPr/>
        </p:nvSpPr>
        <p:spPr>
          <a:xfrm>
            <a:off x="9124950" y="2362200"/>
            <a:ext cx="10668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35736C-8089-47B0-B020-B43187998932}"/>
              </a:ext>
            </a:extLst>
          </p:cNvPr>
          <p:cNvSpPr>
            <a:spLocks noGrp="1"/>
          </p:cNvSpPr>
          <p:nvPr/>
        </p:nvSpPr>
        <p:spPr>
          <a:xfrm>
            <a:off x="9220200" y="245745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 logits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CFAC9A-2A6B-4B0D-88A8-F9265F19B3C3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Fine-tuning design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3C2C3D-88F0-479C-B067-CEB50FC8B5B4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7DBAEA-AFA7-4431-9D73-2615210F14F8}"/>
              </a:ext>
            </a:extLst>
          </p:cNvPr>
          <p:cNvSpPr>
            <a:spLocks noGrp="1"/>
          </p:cNvSpPr>
          <p:nvPr/>
        </p:nvSpPr>
        <p:spPr>
          <a:xfrm>
            <a:off x="1162050" y="39433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Why this model: common transfer baseline, residual blocks, moderate size, easy to fine-tune systematically.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63DC02B-5910-4F11-BF3E-C9C4C912FF93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84FA45A-7144-437D-8CFF-C7FDFBD86465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Classifier head is replaced with a 7-class FER2013 output; earlier layers keep ImageNet visual features.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1188763-9BB7-4A5C-8F27-96A37D550704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8E0AE7-1FA5-4D92-9070-ECC8A3ED7C9F}"/>
              </a:ext>
            </a:extLst>
          </p:cNvPr>
          <p:cNvSpPr>
            <a:spLocks noGrp="1"/>
          </p:cNvSpPr>
          <p:nvPr/>
        </p:nvSpPr>
        <p:spPr>
          <a:xfrm>
            <a:off x="1162050" y="52387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Experiment path: frozen FC -&gt; layer4 -&gt; layer3 -&gt; class weights -&gt; focal loss -&gt; SGD plateau -&gt; crop/TenCrop.</a:t>
            </a:r>
          </a:p>
        </p:txBody>
      </p:sp>
    </p:spTree>
    <p:extLst>
      <p:ext uri="{BB962C8B-B14F-4D97-AF65-F5344CB8AC3E}">
        <p14:creationId xmlns:p14="http://schemas.microsoft.com/office/powerpoint/2010/main" val="289079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AEE169B-C508-4BCE-8835-281C7BCC10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0EF107-603F-4C9F-B496-54A382F6A8F4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2F4DCA-8CB0-4020-924A-59A097DB6B3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Architecture: EfficientNet-B0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FE9801-2458-4824-9D3F-6D2C395DA38D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BE9E1-8A6E-46BE-9331-4DFD3BC64306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12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97DD35-8999-42D0-A4C2-47EE9A47C2D7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F67682-E3D0-4DD3-A509-ECA533C451BD}"/>
              </a:ext>
            </a:extLst>
          </p:cNvPr>
          <p:cNvSpPr>
            <a:spLocks noGrp="1"/>
          </p:cNvSpPr>
          <p:nvPr/>
        </p:nvSpPr>
        <p:spPr>
          <a:xfrm>
            <a:off x="10477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224x224x3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234E3-327E-4C10-AAD2-3223119A8168}"/>
              </a:ext>
            </a:extLst>
          </p:cNvPr>
          <p:cNvSpPr>
            <a:spLocks noGrp="1"/>
          </p:cNvSpPr>
          <p:nvPr/>
        </p:nvSpPr>
        <p:spPr>
          <a:xfrm>
            <a:off x="219075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6F4C79-48C5-4756-9FE3-CF8188F3E7D3}"/>
              </a:ext>
            </a:extLst>
          </p:cNvPr>
          <p:cNvSpPr>
            <a:spLocks noGrp="1"/>
          </p:cNvSpPr>
          <p:nvPr/>
        </p:nvSpPr>
        <p:spPr>
          <a:xfrm>
            <a:off x="225425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5DBD9C-7720-4D28-ACCA-C97E5B9E5B5B}"/>
              </a:ext>
            </a:extLst>
          </p:cNvPr>
          <p:cNvSpPr>
            <a:spLocks noGrp="1"/>
          </p:cNvSpPr>
          <p:nvPr/>
        </p:nvSpPr>
        <p:spPr>
          <a:xfrm>
            <a:off x="23495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3x3 stem conv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DF54D6-8927-4C15-A03C-88659E38E0C2}"/>
              </a:ext>
            </a:extLst>
          </p:cNvPr>
          <p:cNvSpPr>
            <a:spLocks noGrp="1"/>
          </p:cNvSpPr>
          <p:nvPr/>
        </p:nvSpPr>
        <p:spPr>
          <a:xfrm>
            <a:off x="34925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A474CD-A398-4C7C-8484-A221590FAD45}"/>
              </a:ext>
            </a:extLst>
          </p:cNvPr>
          <p:cNvSpPr>
            <a:spLocks noGrp="1"/>
          </p:cNvSpPr>
          <p:nvPr/>
        </p:nvSpPr>
        <p:spPr>
          <a:xfrm>
            <a:off x="35560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37CCF4-E3A7-414B-8FAC-3D0F228A6A58}"/>
              </a:ext>
            </a:extLst>
          </p:cNvPr>
          <p:cNvSpPr>
            <a:spLocks noGrp="1"/>
          </p:cNvSpPr>
          <p:nvPr/>
        </p:nvSpPr>
        <p:spPr>
          <a:xfrm>
            <a:off x="36512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MBConv 1-5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721CAD-DC90-4683-8E7A-A6F23F188FA8}"/>
              </a:ext>
            </a:extLst>
          </p:cNvPr>
          <p:cNvSpPr>
            <a:spLocks noGrp="1"/>
          </p:cNvSpPr>
          <p:nvPr/>
        </p:nvSpPr>
        <p:spPr>
          <a:xfrm>
            <a:off x="479425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FDF043-A3BB-4747-A257-49A7D91F1754}"/>
              </a:ext>
            </a:extLst>
          </p:cNvPr>
          <p:cNvSpPr>
            <a:spLocks noGrp="1"/>
          </p:cNvSpPr>
          <p:nvPr/>
        </p:nvSpPr>
        <p:spPr>
          <a:xfrm>
            <a:off x="485775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856D18-DAC1-41E0-84C5-E342BD241885}"/>
              </a:ext>
            </a:extLst>
          </p:cNvPr>
          <p:cNvSpPr>
            <a:spLocks noGrp="1"/>
          </p:cNvSpPr>
          <p:nvPr/>
        </p:nvSpPr>
        <p:spPr>
          <a:xfrm>
            <a:off x="49530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last MBConv blocks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9E84E8-1FDD-4A3F-9E84-B21F811D84C3}"/>
              </a:ext>
            </a:extLst>
          </p:cNvPr>
          <p:cNvSpPr>
            <a:spLocks noGrp="1"/>
          </p:cNvSpPr>
          <p:nvPr/>
        </p:nvSpPr>
        <p:spPr>
          <a:xfrm>
            <a:off x="60960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0EB576-5151-4493-9BEA-E00632CEE7F7}"/>
              </a:ext>
            </a:extLst>
          </p:cNvPr>
          <p:cNvSpPr>
            <a:spLocks noGrp="1"/>
          </p:cNvSpPr>
          <p:nvPr/>
        </p:nvSpPr>
        <p:spPr>
          <a:xfrm>
            <a:off x="61595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288D754-0AAF-43AD-9347-FD25A5608CDA}"/>
              </a:ext>
            </a:extLst>
          </p:cNvPr>
          <p:cNvSpPr>
            <a:spLocks noGrp="1"/>
          </p:cNvSpPr>
          <p:nvPr/>
        </p:nvSpPr>
        <p:spPr>
          <a:xfrm>
            <a:off x="62547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pooling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6B951A-D721-464D-A925-AF392D1BEDEB}"/>
              </a:ext>
            </a:extLst>
          </p:cNvPr>
          <p:cNvSpPr>
            <a:spLocks noGrp="1"/>
          </p:cNvSpPr>
          <p:nvPr/>
        </p:nvSpPr>
        <p:spPr>
          <a:xfrm>
            <a:off x="739775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FE264D-B6E6-4DD3-9FDC-A1DB1BCCCB2B}"/>
              </a:ext>
            </a:extLst>
          </p:cNvPr>
          <p:cNvSpPr>
            <a:spLocks noGrp="1"/>
          </p:cNvSpPr>
          <p:nvPr/>
        </p:nvSpPr>
        <p:spPr>
          <a:xfrm>
            <a:off x="746125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FAF7C6-EDF5-471F-86BD-D2942D9130F8}"/>
              </a:ext>
            </a:extLst>
          </p:cNvPr>
          <p:cNvSpPr>
            <a:spLocks noGrp="1"/>
          </p:cNvSpPr>
          <p:nvPr/>
        </p:nvSpPr>
        <p:spPr>
          <a:xfrm>
            <a:off x="755650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FC head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3B9539-3BF3-4A86-9EE8-429C848B85A8}"/>
              </a:ext>
            </a:extLst>
          </p:cNvPr>
          <p:cNvSpPr>
            <a:spLocks noGrp="1"/>
          </p:cNvSpPr>
          <p:nvPr/>
        </p:nvSpPr>
        <p:spPr>
          <a:xfrm>
            <a:off x="8699500" y="2609850"/>
            <a:ext cx="95250" cy="14288"/>
          </a:xfrm>
          <a:prstGeom prst="rect">
            <a:avLst/>
          </a:prstGeom>
          <a:solidFill>
            <a:srgbClr val="5661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F15BA88-C0A4-4EBF-B3D6-83E59AB1755D}"/>
              </a:ext>
            </a:extLst>
          </p:cNvPr>
          <p:cNvSpPr>
            <a:spLocks noGrp="1"/>
          </p:cNvSpPr>
          <p:nvPr/>
        </p:nvSpPr>
        <p:spPr>
          <a:xfrm>
            <a:off x="8763000" y="2362200"/>
            <a:ext cx="1143000" cy="495300"/>
          </a:xfrm>
          <a:prstGeom prst="rect">
            <a:avLst/>
          </a:prstGeom>
          <a:solidFill>
            <a:srgbClr val="F1F3F3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B052BE1-207C-4CC3-B606-77E48269FA3F}"/>
              </a:ext>
            </a:extLst>
          </p:cNvPr>
          <p:cNvSpPr>
            <a:spLocks noGrp="1"/>
          </p:cNvSpPr>
          <p:nvPr/>
        </p:nvSpPr>
        <p:spPr>
          <a:xfrm>
            <a:off x="8858250" y="2457450"/>
            <a:ext cx="95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51922"/>
                </a:solidFill>
                <a:latin typeface="Aptos"/>
                <a:ea typeface="Aptos"/>
                <a:cs typeface="Aptos"/>
              </a:rPr>
              <a:t>7 logits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DB12BA-6CA1-448D-AA9F-C8C3991473F4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Why include it?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20C16D-9CF1-4F6F-BA4F-CF774D6F81E4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8E3A8D-B35A-4090-9A21-C315B2D16B83}"/>
              </a:ext>
            </a:extLst>
          </p:cNvPr>
          <p:cNvSpPr>
            <a:spLocks noGrp="1"/>
          </p:cNvSpPr>
          <p:nvPr/>
        </p:nvSpPr>
        <p:spPr>
          <a:xfrm>
            <a:off x="1162050" y="39433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Why this model: lightweight ImageNet backbone with compound scaling and efficient MBConv blocks.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1094465-70B8-450B-8730-2EFAD1DCF620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2CB47F3-C4E8-468C-B43E-7979AD4E5B77}"/>
              </a:ext>
            </a:extLst>
          </p:cNvPr>
          <p:cNvSpPr>
            <a:spLocks noGrp="1"/>
          </p:cNvSpPr>
          <p:nvPr/>
        </p:nvSpPr>
        <p:spPr>
          <a:xfrm>
            <a:off x="1162050" y="45910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It tests whether a smaller model can match ResNet18 after comparable fine-tuning.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92C36D-1D2D-498B-84D3-72906D6327E7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900034C-D81F-46F7-960F-D6F88866B87B}"/>
              </a:ext>
            </a:extLst>
          </p:cNvPr>
          <p:cNvSpPr>
            <a:spLocks noGrp="1"/>
          </p:cNvSpPr>
          <p:nvPr/>
        </p:nvSpPr>
        <p:spPr>
          <a:xfrm>
            <a:off x="1162050" y="5238750"/>
            <a:ext cx="87058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Experiment path: classifier only -&gt; last block -&gt; last two blocks -&gt; last three blocks -&gt; sampler + SGD plateau -&gt; crop/TenCrop.</a:t>
            </a:r>
          </a:p>
        </p:txBody>
      </p:sp>
    </p:spTree>
    <p:extLst>
      <p:ext uri="{BB962C8B-B14F-4D97-AF65-F5344CB8AC3E}">
        <p14:creationId xmlns:p14="http://schemas.microsoft.com/office/powerpoint/2010/main" val="81987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6206722-DE95-4C31-BBE4-46D7979FDD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6AB1A6-EC40-4F0C-B096-AEA73EE5CD8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EXPERIMENTS AND EVALUATED CONFIGURATIONS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7D470A-83EA-49A4-9A60-1A0CADEF033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Each strategy tests a specific hypothesis.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FF26C5-66C8-4D1A-9431-8C405CD717DF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3B525E-34EE-4672-AC1F-63C04ED8EB99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13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3D781C-63C0-49A2-BAB1-2604B3983B8E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STRATEGIES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17C6FB-4CF5-46C9-96DC-3783CB3111F2}"/>
              </a:ext>
            </a:extLst>
          </p:cNvPr>
          <p:cNvSpPr>
            <a:spLocks noGrp="1"/>
          </p:cNvSpPr>
          <p:nvPr/>
        </p:nvSpPr>
        <p:spPr>
          <a:xfrm>
            <a:off x="800100" y="232410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C6C7D6-1DA7-4940-AFB7-2D1487724C6C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2DBCF-6FE1-4AFF-95EC-D21EDC293473}"/>
              </a:ext>
            </a:extLst>
          </p:cNvPr>
          <p:cNvSpPr>
            <a:spLocks noGrp="1"/>
          </p:cNvSpPr>
          <p:nvPr/>
        </p:nvSpPr>
        <p:spPr>
          <a:xfrm>
            <a:off x="1104900" y="262890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Augmentation: improve robustness to small face shifts and flips.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995D4D-8EAB-4EB8-94C2-D120402B2A6B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40CE8A-3EAF-4E28-BDF1-10CD6A33B276}"/>
              </a:ext>
            </a:extLst>
          </p:cNvPr>
          <p:cNvSpPr>
            <a:spLocks noGrp="1"/>
          </p:cNvSpPr>
          <p:nvPr/>
        </p:nvSpPr>
        <p:spPr>
          <a:xfrm>
            <a:off x="1104900" y="318135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weights / weighted sampler / oversampling: reduce class imbalance effects.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2F5203-C86B-4CF9-9A9D-8C114AC87B8D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6E1DB0-DD95-4827-954A-2DE7D1271300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Focal loss: focus learning on hard examples.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66A10D-2F21-4EA5-A622-38C0ADDD779D}"/>
              </a:ext>
            </a:extLst>
          </p:cNvPr>
          <p:cNvSpPr>
            <a:spLocks noGrp="1"/>
          </p:cNvSpPr>
          <p:nvPr/>
        </p:nvSpPr>
        <p:spPr>
          <a:xfrm>
            <a:off x="857250" y="43815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B07E02-A491-47F7-AC54-67C84ABC3776}"/>
              </a:ext>
            </a:extLst>
          </p:cNvPr>
          <p:cNvSpPr>
            <a:spLocks noGrp="1"/>
          </p:cNvSpPr>
          <p:nvPr/>
        </p:nvSpPr>
        <p:spPr>
          <a:xfrm>
            <a:off x="1104900" y="428625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SGD + LR plateau: stabilize final fine-tuning.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978EC6-09A2-4483-A299-5298E2337D65}"/>
              </a:ext>
            </a:extLst>
          </p:cNvPr>
          <p:cNvSpPr>
            <a:spLocks noGrp="1"/>
          </p:cNvSpPr>
          <p:nvPr/>
        </p:nvSpPr>
        <p:spPr>
          <a:xfrm>
            <a:off x="857250" y="49339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D99E60-AAED-472B-ADBA-C0F634DAA414}"/>
              </a:ext>
            </a:extLst>
          </p:cNvPr>
          <p:cNvSpPr>
            <a:spLocks noGrp="1"/>
          </p:cNvSpPr>
          <p:nvPr/>
        </p:nvSpPr>
        <p:spPr>
          <a:xfrm>
            <a:off x="1104900" y="4838700"/>
            <a:ext cx="46101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Crop/TenCrop: test whether inference-time crops improve robustness.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87B056-349C-4851-9784-2A45547AE869}"/>
              </a:ext>
            </a:extLst>
          </p:cNvPr>
          <p:cNvSpPr>
            <a:spLocks noGrp="1"/>
          </p:cNvSpPr>
          <p:nvPr/>
        </p:nvSpPr>
        <p:spPr>
          <a:xfrm>
            <a:off x="6572250" y="20955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CONFIGURATIONS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83F9E8-D113-4594-8F8D-D0677B207B7E}"/>
              </a:ext>
            </a:extLst>
          </p:cNvPr>
          <p:cNvSpPr>
            <a:spLocks noGrp="1"/>
          </p:cNvSpPr>
          <p:nvPr/>
        </p:nvSpPr>
        <p:spPr>
          <a:xfrm>
            <a:off x="6572250" y="2324100"/>
            <a:ext cx="3429000" cy="14288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2EB0B7E-357A-4701-AAAB-2310435BF718}"/>
              </a:ext>
            </a:extLst>
          </p:cNvPr>
          <p:cNvSpPr>
            <a:spLocks noGrp="1"/>
          </p:cNvSpPr>
          <p:nvPr/>
        </p:nvSpPr>
        <p:spPr>
          <a:xfrm>
            <a:off x="6629400" y="27241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889E03-A6F9-4D97-A170-75047787192D}"/>
              </a:ext>
            </a:extLst>
          </p:cNvPr>
          <p:cNvSpPr>
            <a:spLocks noGrp="1"/>
          </p:cNvSpPr>
          <p:nvPr/>
        </p:nvSpPr>
        <p:spPr>
          <a:xfrm>
            <a:off x="6877050" y="262890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Custom CNN: basic, augmented, imbalance-aware, deeper 80-epoch run.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911329-C9D8-4852-B14D-D236932D5AAB}"/>
              </a:ext>
            </a:extLst>
          </p:cNvPr>
          <p:cNvSpPr>
            <a:spLocks noGrp="1"/>
          </p:cNvSpPr>
          <p:nvPr/>
        </p:nvSpPr>
        <p:spPr>
          <a:xfrm>
            <a:off x="6629400" y="34480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53E09B-A6B6-4324-8890-9470BC25A699}"/>
              </a:ext>
            </a:extLst>
          </p:cNvPr>
          <p:cNvSpPr>
            <a:spLocks noGrp="1"/>
          </p:cNvSpPr>
          <p:nvPr/>
        </p:nvSpPr>
        <p:spPr>
          <a:xfrm>
            <a:off x="6877050" y="335280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ResNet18: feature extraction, layer4/layer3 unfreeze, imbalance and loss variants.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EB3E65-5747-4155-A43F-28625A64E574}"/>
              </a:ext>
            </a:extLst>
          </p:cNvPr>
          <p:cNvSpPr>
            <a:spLocks noGrp="1"/>
          </p:cNvSpPr>
          <p:nvPr/>
        </p:nvSpPr>
        <p:spPr>
          <a:xfrm>
            <a:off x="6629400" y="41719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4FB099-5F18-47A1-8CF8-FC22FABA2C1A}"/>
              </a:ext>
            </a:extLst>
          </p:cNvPr>
          <p:cNvSpPr>
            <a:spLocks noGrp="1"/>
          </p:cNvSpPr>
          <p:nvPr/>
        </p:nvSpPr>
        <p:spPr>
          <a:xfrm>
            <a:off x="6877050" y="407670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EfficientNet-B0: classifier variants, last-block fine-tuning, weighted sampler, crop/TenCrop.</a:t>
            </a:r>
          </a:p>
        </p:txBody>
      </p:sp>
    </p:spTree>
    <p:extLst>
      <p:ext uri="{BB962C8B-B14F-4D97-AF65-F5344CB8AC3E}">
        <p14:creationId xmlns:p14="http://schemas.microsoft.com/office/powerpoint/2010/main" val="1800912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70420AF1-F3A5-4255-860B-2153ABDEB4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965A0F-8320-45FB-AE18-D95C094D55B3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3DE726-A964-4181-BAEE-A02B2B82AF3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evaluation uses complementary metrics, not only one score.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366568-E6CF-472F-AFE5-3C1DFF3F0FC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0654E9-12A1-4948-8789-725913EBE8FC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14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98AED-AFA0-4720-9775-8E5EF8673EBA}"/>
              </a:ext>
            </a:extLst>
          </p:cNvPr>
          <p:cNvSpPr>
            <a:spLocks noGrp="1"/>
          </p:cNvSpPr>
          <p:nvPr/>
        </p:nvSpPr>
        <p:spPr>
          <a:xfrm>
            <a:off x="8001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MAIN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6EAFB6-B489-4069-9286-0D4C5205C4E7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3B1D11-C36F-455E-B011-4F6168D17C42}"/>
              </a:ext>
            </a:extLst>
          </p:cNvPr>
          <p:cNvSpPr>
            <a:spLocks noGrp="1"/>
          </p:cNvSpPr>
          <p:nvPr/>
        </p:nvSpPr>
        <p:spPr>
          <a:xfrm>
            <a:off x="857250" y="2743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679883-375E-415C-B90D-D74ADE14B382}"/>
              </a:ext>
            </a:extLst>
          </p:cNvPr>
          <p:cNvSpPr>
            <a:spLocks noGrp="1"/>
          </p:cNvSpPr>
          <p:nvPr/>
        </p:nvSpPr>
        <p:spPr>
          <a:xfrm>
            <a:off x="1104900" y="26479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Macro F1: primary metric because all classes count equally.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0C84D-9106-459D-9634-8B44308E3535}"/>
              </a:ext>
            </a:extLst>
          </p:cNvPr>
          <p:cNvSpPr>
            <a:spLocks noGrp="1"/>
          </p:cNvSpPr>
          <p:nvPr/>
        </p:nvSpPr>
        <p:spPr>
          <a:xfrm>
            <a:off x="857250" y="34290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F7F25D-E7C4-4A86-B969-9AB404BC32C6}"/>
              </a:ext>
            </a:extLst>
          </p:cNvPr>
          <p:cNvSpPr>
            <a:spLocks noGrp="1"/>
          </p:cNvSpPr>
          <p:nvPr/>
        </p:nvSpPr>
        <p:spPr>
          <a:xfrm>
            <a:off x="1104900" y="33337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Weighted F1: reflects performance under the real class distribution.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771FE9-C5E9-4C36-AC43-04E0F9B715CF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5DAD74-870F-4D97-9F46-2F3365CD5F43}"/>
              </a:ext>
            </a:extLst>
          </p:cNvPr>
          <p:cNvSpPr>
            <a:spLocks noGrp="1"/>
          </p:cNvSpPr>
          <p:nvPr/>
        </p:nvSpPr>
        <p:spPr>
          <a:xfrm>
            <a:off x="1104900" y="4019550"/>
            <a:ext cx="4324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Precision and recall: show whether each class is over- or under-predicted.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0DB9C2-E300-42CA-A2CF-E70BC63F8847}"/>
              </a:ext>
            </a:extLst>
          </p:cNvPr>
          <p:cNvSpPr>
            <a:spLocks noGrp="1"/>
          </p:cNvSpPr>
          <p:nvPr/>
        </p:nvSpPr>
        <p:spPr>
          <a:xfrm>
            <a:off x="6477000" y="21145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SUPPORTING EVIDENCE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F160A7-BBAF-4DBE-ADFF-1D2345411740}"/>
              </a:ext>
            </a:extLst>
          </p:cNvPr>
          <p:cNvSpPr>
            <a:spLocks noGrp="1"/>
          </p:cNvSpPr>
          <p:nvPr/>
        </p:nvSpPr>
        <p:spPr>
          <a:xfrm>
            <a:off x="6477000" y="2343150"/>
            <a:ext cx="3429000" cy="1428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A21FE-3DB2-4E06-A9B0-5562EFCBEC0D}"/>
              </a:ext>
            </a:extLst>
          </p:cNvPr>
          <p:cNvSpPr>
            <a:spLocks noGrp="1"/>
          </p:cNvSpPr>
          <p:nvPr/>
        </p:nvSpPr>
        <p:spPr>
          <a:xfrm>
            <a:off x="6534150" y="27432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A884F9-DF2F-4556-9CB0-766562DD1379}"/>
              </a:ext>
            </a:extLst>
          </p:cNvPr>
          <p:cNvSpPr>
            <a:spLocks noGrp="1"/>
          </p:cNvSpPr>
          <p:nvPr/>
        </p:nvSpPr>
        <p:spPr>
          <a:xfrm>
            <a:off x="6781800" y="26479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Loss curves: diagnose optimization and overfitting.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2C368A-8D0E-478B-A43C-80E8CB646F5E}"/>
              </a:ext>
            </a:extLst>
          </p:cNvPr>
          <p:cNvSpPr>
            <a:spLocks noGrp="1"/>
          </p:cNvSpPr>
          <p:nvPr/>
        </p:nvSpPr>
        <p:spPr>
          <a:xfrm>
            <a:off x="6534150" y="33147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5817B9-25E1-4758-81B2-ACD9C4BCA437}"/>
              </a:ext>
            </a:extLst>
          </p:cNvPr>
          <p:cNvSpPr>
            <a:spLocks noGrp="1"/>
          </p:cNvSpPr>
          <p:nvPr/>
        </p:nvSpPr>
        <p:spPr>
          <a:xfrm>
            <a:off x="6781800" y="32194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F1 per class: identifies weak emotion categories.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2CF968-76CF-4942-88D8-19C43E527054}"/>
              </a:ext>
            </a:extLst>
          </p:cNvPr>
          <p:cNvSpPr>
            <a:spLocks noGrp="1"/>
          </p:cNvSpPr>
          <p:nvPr/>
        </p:nvSpPr>
        <p:spPr>
          <a:xfrm>
            <a:off x="6534150" y="38862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B592F6-3959-4A0C-8E70-846F98951834}"/>
              </a:ext>
            </a:extLst>
          </p:cNvPr>
          <p:cNvSpPr>
            <a:spLocks noGrp="1"/>
          </p:cNvSpPr>
          <p:nvPr/>
        </p:nvSpPr>
        <p:spPr>
          <a:xfrm>
            <a:off x="6781800" y="37909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Confusion matrix: shows the actual error pattern.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E5CC73-017C-4D75-81F8-00208E6399F3}"/>
              </a:ext>
            </a:extLst>
          </p:cNvPr>
          <p:cNvSpPr>
            <a:spLocks noGrp="1"/>
          </p:cNvSpPr>
          <p:nvPr/>
        </p:nvSpPr>
        <p:spPr>
          <a:xfrm>
            <a:off x="6534150" y="44577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D31839-3202-4EED-97F1-3019A7DB8046}"/>
              </a:ext>
            </a:extLst>
          </p:cNvPr>
          <p:cNvSpPr>
            <a:spLocks noGrp="1"/>
          </p:cNvSpPr>
          <p:nvPr/>
        </p:nvSpPr>
        <p:spPr>
          <a:xfrm>
            <a:off x="6781800" y="4362450"/>
            <a:ext cx="42291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Confidence analysis: checks whether errors are made confidently.</a:t>
            </a:r>
          </a:p>
        </p:txBody>
      </p:sp>
    </p:spTree>
    <p:extLst>
      <p:ext uri="{BB962C8B-B14F-4D97-AF65-F5344CB8AC3E}">
        <p14:creationId xmlns:p14="http://schemas.microsoft.com/office/powerpoint/2010/main" val="218386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D96678BA-BA83-4ABF-9C6F-2B28DFF3DF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A10652-DBAD-4CC8-BF51-34A957F78FCC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97A962-D0F8-489F-8833-D4F16BA20DB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Custom CNN results improve gradually, but plateau below transfer learning.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5065FC-A785-45B4-9D0B-BBAC383309D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A58576-D7DE-4178-8124-00E10C978F44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15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DCC8E4-063A-4AE9-9386-C8B5BFB6666E}"/>
              </a:ext>
            </a:extLst>
          </p:cNvPr>
          <p:cNvSpPr>
            <a:spLocks noGrp="1"/>
          </p:cNvSpPr>
          <p:nvPr/>
        </p:nvSpPr>
        <p:spPr>
          <a:xfrm>
            <a:off x="1009650" y="4133850"/>
            <a:ext cx="53721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71DE1D-75FD-4299-83E0-16D76A6D7FB0}"/>
              </a:ext>
            </a:extLst>
          </p:cNvPr>
          <p:cNvSpPr>
            <a:spLocks noGrp="1"/>
          </p:cNvSpPr>
          <p:nvPr/>
        </p:nvSpPr>
        <p:spPr>
          <a:xfrm>
            <a:off x="1009650" y="4133850"/>
            <a:ext cx="5372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0B569B-24D7-4D80-BB38-8BFB553AD420}"/>
              </a:ext>
            </a:extLst>
          </p:cNvPr>
          <p:cNvSpPr>
            <a:spLocks noGrp="1"/>
          </p:cNvSpPr>
          <p:nvPr/>
        </p:nvSpPr>
        <p:spPr>
          <a:xfrm>
            <a:off x="723900" y="405765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0.45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26E0A-38E1-4159-B1AE-5C6E15CF59BB}"/>
              </a:ext>
            </a:extLst>
          </p:cNvPr>
          <p:cNvSpPr>
            <a:spLocks noGrp="1"/>
          </p:cNvSpPr>
          <p:nvPr/>
        </p:nvSpPr>
        <p:spPr>
          <a:xfrm>
            <a:off x="1009650" y="3711437"/>
            <a:ext cx="5372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1EB6F0-351F-47CB-8D63-CE83CDA0F929}"/>
              </a:ext>
            </a:extLst>
          </p:cNvPr>
          <p:cNvSpPr>
            <a:spLocks noGrp="1"/>
          </p:cNvSpPr>
          <p:nvPr/>
        </p:nvSpPr>
        <p:spPr>
          <a:xfrm>
            <a:off x="723900" y="3635237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EB39F0-31AC-41B3-9ED1-552E1FD36E94}"/>
              </a:ext>
            </a:extLst>
          </p:cNvPr>
          <p:cNvSpPr>
            <a:spLocks noGrp="1"/>
          </p:cNvSpPr>
          <p:nvPr/>
        </p:nvSpPr>
        <p:spPr>
          <a:xfrm>
            <a:off x="1009650" y="3289024"/>
            <a:ext cx="5372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8B32A0-55E7-449F-B208-83C2CA3AC545}"/>
              </a:ext>
            </a:extLst>
          </p:cNvPr>
          <p:cNvSpPr>
            <a:spLocks noGrp="1"/>
          </p:cNvSpPr>
          <p:nvPr/>
        </p:nvSpPr>
        <p:spPr>
          <a:xfrm>
            <a:off x="723900" y="3212824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CE270EB-1E5A-490C-B7D4-C12F4365C2D5}"/>
              </a:ext>
            </a:extLst>
          </p:cNvPr>
          <p:cNvSpPr>
            <a:spLocks noGrp="1"/>
          </p:cNvSpPr>
          <p:nvPr/>
        </p:nvSpPr>
        <p:spPr>
          <a:xfrm>
            <a:off x="1009650" y="2866611"/>
            <a:ext cx="5372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C68479-8E30-4F46-B2C7-374503D02599}"/>
              </a:ext>
            </a:extLst>
          </p:cNvPr>
          <p:cNvSpPr>
            <a:spLocks noGrp="1"/>
          </p:cNvSpPr>
          <p:nvPr/>
        </p:nvSpPr>
        <p:spPr>
          <a:xfrm>
            <a:off x="723900" y="2790411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0.60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D08379-1F17-4684-BD19-75449EF3A2BB}"/>
              </a:ext>
            </a:extLst>
          </p:cNvPr>
          <p:cNvSpPr>
            <a:spLocks noGrp="1"/>
          </p:cNvSpPr>
          <p:nvPr/>
        </p:nvSpPr>
        <p:spPr>
          <a:xfrm>
            <a:off x="1009650" y="2444198"/>
            <a:ext cx="5372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6A8C68-2FDC-44F3-BC3D-650099EF6968}"/>
              </a:ext>
            </a:extLst>
          </p:cNvPr>
          <p:cNvSpPr>
            <a:spLocks noGrp="1"/>
          </p:cNvSpPr>
          <p:nvPr/>
        </p:nvSpPr>
        <p:spPr>
          <a:xfrm>
            <a:off x="723900" y="2367998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0.65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2AFEBE-4882-418E-B0E2-FB7C46D20FBC}"/>
              </a:ext>
            </a:extLst>
          </p:cNvPr>
          <p:cNvSpPr>
            <a:spLocks noGrp="1"/>
          </p:cNvSpPr>
          <p:nvPr/>
        </p:nvSpPr>
        <p:spPr>
          <a:xfrm>
            <a:off x="1174221" y="3877089"/>
            <a:ext cx="171450" cy="256761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E3C3FA-08B6-462F-903C-1D033DC5077D}"/>
              </a:ext>
            </a:extLst>
          </p:cNvPr>
          <p:cNvSpPr>
            <a:spLocks noGrp="1"/>
          </p:cNvSpPr>
          <p:nvPr/>
        </p:nvSpPr>
        <p:spPr>
          <a:xfrm>
            <a:off x="1383771" y="3376404"/>
            <a:ext cx="171450" cy="75744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6F9AA0-CD17-4968-91D1-042749862E9E}"/>
              </a:ext>
            </a:extLst>
          </p:cNvPr>
          <p:cNvSpPr>
            <a:spLocks noGrp="1"/>
          </p:cNvSpPr>
          <p:nvPr/>
        </p:nvSpPr>
        <p:spPr>
          <a:xfrm>
            <a:off x="1021821" y="3705639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 dirty="0">
                <a:solidFill>
                  <a:srgbClr val="1E5F99"/>
                </a:solidFill>
                <a:latin typeface="Aptos"/>
                <a:ea typeface="Aptos"/>
                <a:cs typeface="Aptos"/>
              </a:rPr>
              <a:t>0.4</a:t>
            </a:r>
            <a:r>
              <a:rPr lang="en-US" sz="488" b="1" dirty="0">
                <a:solidFill>
                  <a:srgbClr val="1E5F99"/>
                </a:solidFill>
                <a:latin typeface="Aptos"/>
                <a:ea typeface="Aptos"/>
                <a:cs typeface="Aptos"/>
              </a:rPr>
              <a:t>65</a:t>
            </a:r>
            <a:endParaRPr sz="488" b="1" dirty="0">
              <a:solidFill>
                <a:srgbClr val="1E5F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A6B398-F2DA-413D-B196-6BD4114AF5EC}"/>
              </a:ext>
            </a:extLst>
          </p:cNvPr>
          <p:cNvSpPr>
            <a:spLocks noGrp="1"/>
          </p:cNvSpPr>
          <p:nvPr/>
        </p:nvSpPr>
        <p:spPr>
          <a:xfrm>
            <a:off x="1212321" y="2927074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 dirty="0">
                <a:solidFill>
                  <a:srgbClr val="A5622C"/>
                </a:solidFill>
                <a:latin typeface="Aptos"/>
                <a:ea typeface="Aptos"/>
                <a:cs typeface="Aptos"/>
              </a:rPr>
              <a:t>0.5</a:t>
            </a:r>
            <a:r>
              <a:rPr lang="en-US" sz="488" b="1" dirty="0">
                <a:solidFill>
                  <a:srgbClr val="A5622C"/>
                </a:solidFill>
                <a:latin typeface="Aptos"/>
                <a:ea typeface="Aptos"/>
                <a:cs typeface="Aptos"/>
              </a:rPr>
              <a:t>39</a:t>
            </a:r>
            <a:endParaRPr sz="488" b="1" dirty="0">
              <a:solidFill>
                <a:srgbClr val="A562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60DA0D-4183-42BF-AB86-E0D04F25FBB1}"/>
              </a:ext>
            </a:extLst>
          </p:cNvPr>
          <p:cNvSpPr>
            <a:spLocks noGrp="1"/>
          </p:cNvSpPr>
          <p:nvPr/>
        </p:nvSpPr>
        <p:spPr>
          <a:xfrm>
            <a:off x="944032" y="4210050"/>
            <a:ext cx="8921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CNN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lang="en-US"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A</a:t>
            </a: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ug</a:t>
            </a:r>
            <a:endParaRPr lang="en-US" sz="525" b="0" dirty="0">
              <a:solidFill>
                <a:srgbClr val="151922"/>
              </a:solidFill>
              <a:latin typeface="Aptos"/>
              <a:ea typeface="Aptos"/>
              <a:cs typeface="Aptos"/>
            </a:endParaRP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525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+CE</a:t>
            </a:r>
            <a:endParaRPr sz="525" b="0" dirty="0">
              <a:solidFill>
                <a:srgbClr val="15192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0DC939-EF94-4AC6-B86C-6E162EBC0D42}"/>
              </a:ext>
            </a:extLst>
          </p:cNvPr>
          <p:cNvSpPr>
            <a:spLocks noGrp="1"/>
          </p:cNvSpPr>
          <p:nvPr/>
        </p:nvSpPr>
        <p:spPr>
          <a:xfrm>
            <a:off x="1947863" y="3404980"/>
            <a:ext cx="171450" cy="728870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B46B14-BA8C-49D1-AF19-A8B502798557}"/>
              </a:ext>
            </a:extLst>
          </p:cNvPr>
          <p:cNvSpPr>
            <a:spLocks noGrp="1"/>
          </p:cNvSpPr>
          <p:nvPr/>
        </p:nvSpPr>
        <p:spPr>
          <a:xfrm>
            <a:off x="2157413" y="3106807"/>
            <a:ext cx="171450" cy="1027043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54BD4E-CC8C-4A9B-B8D1-035AA5FCA413}"/>
              </a:ext>
            </a:extLst>
          </p:cNvPr>
          <p:cNvSpPr>
            <a:spLocks noGrp="1"/>
          </p:cNvSpPr>
          <p:nvPr/>
        </p:nvSpPr>
        <p:spPr>
          <a:xfrm>
            <a:off x="1795463" y="3233530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 dirty="0">
                <a:solidFill>
                  <a:srgbClr val="1E5F99"/>
                </a:solidFill>
                <a:latin typeface="Aptos"/>
                <a:ea typeface="Aptos"/>
                <a:cs typeface="Aptos"/>
              </a:rPr>
              <a:t>0.</a:t>
            </a:r>
            <a:r>
              <a:rPr lang="en-US" sz="488" dirty="0"/>
              <a:t> 543</a:t>
            </a:r>
            <a:endParaRPr sz="488" b="1" dirty="0">
              <a:solidFill>
                <a:srgbClr val="1E5F99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98D809-B746-4E41-BA23-1EE92A679E9B}"/>
              </a:ext>
            </a:extLst>
          </p:cNvPr>
          <p:cNvSpPr>
            <a:spLocks noGrp="1"/>
          </p:cNvSpPr>
          <p:nvPr/>
        </p:nvSpPr>
        <p:spPr>
          <a:xfrm>
            <a:off x="1985963" y="2935357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 dirty="0">
                <a:solidFill>
                  <a:srgbClr val="A5622C"/>
                </a:solidFill>
                <a:latin typeface="Aptos"/>
                <a:ea typeface="Aptos"/>
                <a:cs typeface="Aptos"/>
              </a:rPr>
              <a:t>0.5</a:t>
            </a:r>
            <a:r>
              <a:rPr lang="en-US" sz="488" b="1" dirty="0">
                <a:solidFill>
                  <a:srgbClr val="A5622C"/>
                </a:solidFill>
                <a:latin typeface="Aptos"/>
                <a:ea typeface="Aptos"/>
                <a:cs typeface="Aptos"/>
              </a:rPr>
              <a:t>80</a:t>
            </a:r>
            <a:endParaRPr sz="488" b="1" dirty="0">
              <a:solidFill>
                <a:srgbClr val="A562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359372-E734-4517-B6CC-6460AEADBA9D}"/>
              </a:ext>
            </a:extLst>
          </p:cNvPr>
          <p:cNvSpPr>
            <a:spLocks noGrp="1"/>
          </p:cNvSpPr>
          <p:nvPr/>
        </p:nvSpPr>
        <p:spPr>
          <a:xfrm>
            <a:off x="1692275" y="4210050"/>
            <a:ext cx="8921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aug + sampler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 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E10A09-6A7C-457D-BCB3-BEA0DB934C3B}"/>
              </a:ext>
            </a:extLst>
          </p:cNvPr>
          <p:cNvSpPr>
            <a:spLocks noGrp="1"/>
          </p:cNvSpPr>
          <p:nvPr/>
        </p:nvSpPr>
        <p:spPr>
          <a:xfrm>
            <a:off x="2916238" y="2866611"/>
            <a:ext cx="171450" cy="1267239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722507-29A6-454A-A611-23A3BA39B667}"/>
              </a:ext>
            </a:extLst>
          </p:cNvPr>
          <p:cNvSpPr>
            <a:spLocks noGrp="1"/>
          </p:cNvSpPr>
          <p:nvPr/>
        </p:nvSpPr>
        <p:spPr>
          <a:xfrm>
            <a:off x="3125788" y="2676111"/>
            <a:ext cx="171450" cy="1457739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DD4EA7-8F28-4263-ADC7-D94190C8F769}"/>
              </a:ext>
            </a:extLst>
          </p:cNvPr>
          <p:cNvSpPr>
            <a:spLocks noGrp="1"/>
          </p:cNvSpPr>
          <p:nvPr/>
        </p:nvSpPr>
        <p:spPr>
          <a:xfrm>
            <a:off x="2763838" y="2695161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7A3FA7-4739-4B06-BF4D-973E9E8584EA}"/>
              </a:ext>
            </a:extLst>
          </p:cNvPr>
          <p:cNvSpPr>
            <a:spLocks noGrp="1"/>
          </p:cNvSpPr>
          <p:nvPr/>
        </p:nvSpPr>
        <p:spPr>
          <a:xfrm>
            <a:off x="2954338" y="2504661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0.626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00A0F8B-70A3-45B4-94B9-0711B419CED6}"/>
              </a:ext>
            </a:extLst>
          </p:cNvPr>
          <p:cNvSpPr>
            <a:spLocks noGrp="1"/>
          </p:cNvSpPr>
          <p:nvPr/>
        </p:nvSpPr>
        <p:spPr>
          <a:xfrm>
            <a:off x="2660650" y="4210050"/>
            <a:ext cx="8921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aug + sampler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 focal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6BE31CF-EBA3-49EE-9379-726F3422FBAB}"/>
              </a:ext>
            </a:extLst>
          </p:cNvPr>
          <p:cNvSpPr>
            <a:spLocks noGrp="1"/>
          </p:cNvSpPr>
          <p:nvPr/>
        </p:nvSpPr>
        <p:spPr>
          <a:xfrm>
            <a:off x="3884613" y="2866611"/>
            <a:ext cx="171450" cy="1267239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393693-16DD-4956-B80A-EB0D3732D467}"/>
              </a:ext>
            </a:extLst>
          </p:cNvPr>
          <p:cNvSpPr>
            <a:spLocks noGrp="1"/>
          </p:cNvSpPr>
          <p:nvPr/>
        </p:nvSpPr>
        <p:spPr>
          <a:xfrm>
            <a:off x="4094163" y="2676111"/>
            <a:ext cx="171450" cy="1457739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6BC39B0-C39D-428A-938E-E987C68A8EFC}"/>
              </a:ext>
            </a:extLst>
          </p:cNvPr>
          <p:cNvSpPr>
            <a:spLocks noGrp="1"/>
          </p:cNvSpPr>
          <p:nvPr/>
        </p:nvSpPr>
        <p:spPr>
          <a:xfrm>
            <a:off x="3732213" y="2695161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754512-EE4F-4A01-BC9C-07CC25A2A30E}"/>
              </a:ext>
            </a:extLst>
          </p:cNvPr>
          <p:cNvSpPr>
            <a:spLocks noGrp="1"/>
          </p:cNvSpPr>
          <p:nvPr/>
        </p:nvSpPr>
        <p:spPr>
          <a:xfrm>
            <a:off x="3922713" y="2504661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0.626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A88A41-F100-4611-9490-ACF8E3FD6993}"/>
              </a:ext>
            </a:extLst>
          </p:cNvPr>
          <p:cNvSpPr>
            <a:spLocks noGrp="1"/>
          </p:cNvSpPr>
          <p:nvPr/>
        </p:nvSpPr>
        <p:spPr>
          <a:xfrm>
            <a:off x="3629025" y="4210050"/>
            <a:ext cx="8921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aug + sampler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 focal </a:t>
            </a:r>
            <a:endParaRPr lang="en-US" sz="525" b="0" dirty="0">
              <a:solidFill>
                <a:srgbClr val="151922"/>
              </a:solidFill>
              <a:latin typeface="Aptos"/>
              <a:ea typeface="Aptos"/>
              <a:cs typeface="Aptos"/>
            </a:endParaRP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 SGD</a:t>
            </a:r>
            <a:r>
              <a:rPr lang="en-US"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 Plateau lr</a:t>
            </a:r>
            <a:endParaRPr sz="525" b="0" dirty="0">
              <a:solidFill>
                <a:srgbClr val="15192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E82FCB-7465-4AF1-B47D-7493AA8AC175}"/>
              </a:ext>
            </a:extLst>
          </p:cNvPr>
          <p:cNvSpPr>
            <a:spLocks noGrp="1"/>
          </p:cNvSpPr>
          <p:nvPr/>
        </p:nvSpPr>
        <p:spPr>
          <a:xfrm>
            <a:off x="4852988" y="2916307"/>
            <a:ext cx="171450" cy="1217543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CC988D-BABA-45B4-91A2-87A9A6C3B9D8}"/>
              </a:ext>
            </a:extLst>
          </p:cNvPr>
          <p:cNvSpPr>
            <a:spLocks noGrp="1"/>
          </p:cNvSpPr>
          <p:nvPr/>
        </p:nvSpPr>
        <p:spPr>
          <a:xfrm>
            <a:off x="5062538" y="2709241"/>
            <a:ext cx="171450" cy="1424609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2954467-2F0D-4A47-8016-CEFAA4F08B16}"/>
              </a:ext>
            </a:extLst>
          </p:cNvPr>
          <p:cNvSpPr>
            <a:spLocks noGrp="1"/>
          </p:cNvSpPr>
          <p:nvPr/>
        </p:nvSpPr>
        <p:spPr>
          <a:xfrm>
            <a:off x="4700588" y="2744857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0.597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958818-86FA-4488-9537-4F1B40834D6B}"/>
              </a:ext>
            </a:extLst>
          </p:cNvPr>
          <p:cNvSpPr>
            <a:spLocks noGrp="1"/>
          </p:cNvSpPr>
          <p:nvPr/>
        </p:nvSpPr>
        <p:spPr>
          <a:xfrm>
            <a:off x="4891088" y="2537791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0.622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812EEB-9125-4926-B8AE-382D0673DFEA}"/>
              </a:ext>
            </a:extLst>
          </p:cNvPr>
          <p:cNvSpPr>
            <a:spLocks noGrp="1"/>
          </p:cNvSpPr>
          <p:nvPr/>
        </p:nvSpPr>
        <p:spPr>
          <a:xfrm>
            <a:off x="4597400" y="4210050"/>
            <a:ext cx="8921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crop + TenCrop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 focal </a:t>
            </a:r>
            <a:endParaRPr lang="en-US" sz="525" b="0" dirty="0">
              <a:solidFill>
                <a:srgbClr val="151922"/>
              </a:solidFill>
              <a:latin typeface="Aptos"/>
              <a:ea typeface="Aptos"/>
              <a:cs typeface="Aptos"/>
            </a:endParaRP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 SGD</a:t>
            </a:r>
            <a:r>
              <a:rPr lang="en-US" sz="525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 Plateau lr</a:t>
            </a:r>
            <a:endParaRPr sz="525" b="0" dirty="0">
              <a:solidFill>
                <a:srgbClr val="15192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F29A739-6F74-4CBC-AD8B-17CC93E6E97B}"/>
              </a:ext>
            </a:extLst>
          </p:cNvPr>
          <p:cNvSpPr>
            <a:spLocks noGrp="1"/>
          </p:cNvSpPr>
          <p:nvPr/>
        </p:nvSpPr>
        <p:spPr>
          <a:xfrm>
            <a:off x="5821363" y="2692676"/>
            <a:ext cx="171450" cy="1441174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2DD287E-3921-4551-8D9D-ECB825E30FF0}"/>
              </a:ext>
            </a:extLst>
          </p:cNvPr>
          <p:cNvSpPr>
            <a:spLocks noGrp="1"/>
          </p:cNvSpPr>
          <p:nvPr/>
        </p:nvSpPr>
        <p:spPr>
          <a:xfrm>
            <a:off x="6030913" y="2485611"/>
            <a:ext cx="171450" cy="1648239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D2917F8-49B6-4A27-90F6-C9802483899B}"/>
              </a:ext>
            </a:extLst>
          </p:cNvPr>
          <p:cNvSpPr>
            <a:spLocks noGrp="1"/>
          </p:cNvSpPr>
          <p:nvPr/>
        </p:nvSpPr>
        <p:spPr>
          <a:xfrm>
            <a:off x="5668963" y="2521226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0.624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4E599E1-751C-435A-885B-80D458E63EE7}"/>
              </a:ext>
            </a:extLst>
          </p:cNvPr>
          <p:cNvSpPr>
            <a:spLocks noGrp="1"/>
          </p:cNvSpPr>
          <p:nvPr/>
        </p:nvSpPr>
        <p:spPr>
          <a:xfrm>
            <a:off x="5859463" y="2314161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0.649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BB89BC2-53A8-4B8E-A4EC-C9123F335258}"/>
              </a:ext>
            </a:extLst>
          </p:cNvPr>
          <p:cNvSpPr>
            <a:spLocks noGrp="1"/>
          </p:cNvSpPr>
          <p:nvPr/>
        </p:nvSpPr>
        <p:spPr>
          <a:xfrm>
            <a:off x="5565775" y="4210050"/>
            <a:ext cx="89217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deeper CNN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+ 80 epochs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F9C1C59-B2F2-41D3-9180-02AA7BC3B305}"/>
              </a:ext>
            </a:extLst>
          </p:cNvPr>
          <p:cNvSpPr>
            <a:spLocks noGrp="1"/>
          </p:cNvSpPr>
          <p:nvPr/>
        </p:nvSpPr>
        <p:spPr>
          <a:xfrm>
            <a:off x="4800600" y="209550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9655975-8EF2-406D-8D61-3FCA6336D858}"/>
              </a:ext>
            </a:extLst>
          </p:cNvPr>
          <p:cNvSpPr>
            <a:spLocks noGrp="1"/>
          </p:cNvSpPr>
          <p:nvPr/>
        </p:nvSpPr>
        <p:spPr>
          <a:xfrm>
            <a:off x="4933950" y="20574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AF45C3A-89DE-4966-B2B3-92CACC03C0D3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5941327-EA24-43CD-816E-C37524DB6FAC}"/>
              </a:ext>
            </a:extLst>
          </p:cNvPr>
          <p:cNvSpPr>
            <a:spLocks noGrp="1"/>
          </p:cNvSpPr>
          <p:nvPr/>
        </p:nvSpPr>
        <p:spPr>
          <a:xfrm>
            <a:off x="5753100" y="20574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C80A87C-BA63-440A-A967-19E1B674618F}"/>
              </a:ext>
            </a:extLst>
          </p:cNvPr>
          <p:cNvSpPr>
            <a:spLocks noGrp="1"/>
          </p:cNvSpPr>
          <p:nvPr/>
        </p:nvSpPr>
        <p:spPr>
          <a:xfrm>
            <a:off x="7162800" y="1924050"/>
            <a:ext cx="31051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91482" y="2000250"/>
            <a:ext cx="2847785" cy="278130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5F139BDF-AB4F-4D20-8D96-7A4EE00D012D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Best custom CNN per-class F1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D7D8441-D389-4513-AC48-16BC9DAAF1AD}"/>
              </a:ext>
            </a:extLst>
          </p:cNvPr>
          <p:cNvSpPr>
            <a:spLocks noGrp="1"/>
          </p:cNvSpPr>
          <p:nvPr/>
        </p:nvSpPr>
        <p:spPr>
          <a:xfrm>
            <a:off x="742950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C638A6F-B82E-4C0F-B7BC-66A599F685FC}"/>
              </a:ext>
            </a:extLst>
          </p:cNvPr>
          <p:cNvSpPr>
            <a:spLocks noGrp="1"/>
          </p:cNvSpPr>
          <p:nvPr/>
        </p:nvSpPr>
        <p:spPr>
          <a:xfrm>
            <a:off x="742950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0.58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4A0EC30-20A3-4664-83FB-9FA3E45867A7}"/>
              </a:ext>
            </a:extLst>
          </p:cNvPr>
          <p:cNvSpPr>
            <a:spLocks noGrp="1"/>
          </p:cNvSpPr>
          <p:nvPr/>
        </p:nvSpPr>
        <p:spPr>
          <a:xfrm>
            <a:off x="1532164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FC8D56-DA45-4CA2-BA6F-D12D27B5DF44}"/>
              </a:ext>
            </a:extLst>
          </p:cNvPr>
          <p:cNvSpPr>
            <a:spLocks noGrp="1"/>
          </p:cNvSpPr>
          <p:nvPr/>
        </p:nvSpPr>
        <p:spPr>
          <a:xfrm>
            <a:off x="1532164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0.57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E9FA95E-8790-46F2-842A-9BD31547CA41}"/>
              </a:ext>
            </a:extLst>
          </p:cNvPr>
          <p:cNvSpPr>
            <a:spLocks noGrp="1"/>
          </p:cNvSpPr>
          <p:nvPr/>
        </p:nvSpPr>
        <p:spPr>
          <a:xfrm>
            <a:off x="2321379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AB4061F-3AFE-41E6-B0ED-F6C78A61BB13}"/>
              </a:ext>
            </a:extLst>
          </p:cNvPr>
          <p:cNvSpPr>
            <a:spLocks noGrp="1"/>
          </p:cNvSpPr>
          <p:nvPr/>
        </p:nvSpPr>
        <p:spPr>
          <a:xfrm>
            <a:off x="2321379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0.41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4C2C1F4-D9F7-4474-9764-6D929AA344E3}"/>
              </a:ext>
            </a:extLst>
          </p:cNvPr>
          <p:cNvSpPr>
            <a:spLocks noGrp="1"/>
          </p:cNvSpPr>
          <p:nvPr/>
        </p:nvSpPr>
        <p:spPr>
          <a:xfrm>
            <a:off x="3110593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01CC450-C87B-4E58-BF86-2746A782B33C}"/>
              </a:ext>
            </a:extLst>
          </p:cNvPr>
          <p:cNvSpPr>
            <a:spLocks noGrp="1"/>
          </p:cNvSpPr>
          <p:nvPr/>
        </p:nvSpPr>
        <p:spPr>
          <a:xfrm>
            <a:off x="3110593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0.87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D84FFB2-129B-4A5B-8E06-E46E5DA8608E}"/>
              </a:ext>
            </a:extLst>
          </p:cNvPr>
          <p:cNvSpPr>
            <a:spLocks noGrp="1"/>
          </p:cNvSpPr>
          <p:nvPr/>
        </p:nvSpPr>
        <p:spPr>
          <a:xfrm>
            <a:off x="3899807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0FC237C-B925-47F1-B291-49F2925289A3}"/>
              </a:ext>
            </a:extLst>
          </p:cNvPr>
          <p:cNvSpPr>
            <a:spLocks noGrp="1"/>
          </p:cNvSpPr>
          <p:nvPr/>
        </p:nvSpPr>
        <p:spPr>
          <a:xfrm>
            <a:off x="3899807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0.53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DC3F51D-28FF-49E0-A7F2-45E298A2468F}"/>
              </a:ext>
            </a:extLst>
          </p:cNvPr>
          <p:cNvSpPr>
            <a:spLocks noGrp="1"/>
          </p:cNvSpPr>
          <p:nvPr/>
        </p:nvSpPr>
        <p:spPr>
          <a:xfrm>
            <a:off x="4689021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B13E177-FB2C-4183-AAE3-7E9027E318F2}"/>
              </a:ext>
            </a:extLst>
          </p:cNvPr>
          <p:cNvSpPr>
            <a:spLocks noGrp="1"/>
          </p:cNvSpPr>
          <p:nvPr/>
        </p:nvSpPr>
        <p:spPr>
          <a:xfrm>
            <a:off x="4689021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0.78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DF92E1C-455B-4117-ACD3-EA14084054AF}"/>
              </a:ext>
            </a:extLst>
          </p:cNvPr>
          <p:cNvSpPr>
            <a:spLocks noGrp="1"/>
          </p:cNvSpPr>
          <p:nvPr/>
        </p:nvSpPr>
        <p:spPr>
          <a:xfrm>
            <a:off x="5478236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8775951-2F71-4812-B07C-3942BEE5DB14}"/>
              </a:ext>
            </a:extLst>
          </p:cNvPr>
          <p:cNvSpPr>
            <a:spLocks noGrp="1"/>
          </p:cNvSpPr>
          <p:nvPr/>
        </p:nvSpPr>
        <p:spPr>
          <a:xfrm>
            <a:off x="5478236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0F6174C-3ACB-4CB3-B68D-9D93AD9D45C4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5524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31FB553-331D-4633-ADBF-066E44003B3A}"/>
              </a:ext>
            </a:extLst>
          </p:cNvPr>
          <p:cNvSpPr>
            <a:spLocks noGrp="1"/>
          </p:cNvSpPr>
          <p:nvPr/>
        </p:nvSpPr>
        <p:spPr>
          <a:xfrm>
            <a:off x="742950" y="5800725"/>
            <a:ext cx="5524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A219E5C-1682-428C-A0F8-B8EE3B4A3CD3}"/>
              </a:ext>
            </a:extLst>
          </p:cNvPr>
          <p:cNvSpPr>
            <a:spLocks noGrp="1"/>
          </p:cNvSpPr>
          <p:nvPr/>
        </p:nvSpPr>
        <p:spPr>
          <a:xfrm>
            <a:off x="7048500" y="5029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A8C5C0D-F1BC-44D7-A512-B79CD67C672D}"/>
              </a:ext>
            </a:extLst>
          </p:cNvPr>
          <p:cNvSpPr>
            <a:spLocks noGrp="1"/>
          </p:cNvSpPr>
          <p:nvPr/>
        </p:nvSpPr>
        <p:spPr>
          <a:xfrm>
            <a:off x="7296150" y="4933950"/>
            <a:ext cx="3848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best custom CNN reaches 0.624 macro F1.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925F260-EE01-4563-9E68-CC38600432CB}"/>
              </a:ext>
            </a:extLst>
          </p:cNvPr>
          <p:cNvSpPr>
            <a:spLocks noGrp="1"/>
          </p:cNvSpPr>
          <p:nvPr/>
        </p:nvSpPr>
        <p:spPr>
          <a:xfrm>
            <a:off x="7048500" y="53911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50C80B7-CC83-49BD-8659-F2C287DCE901}"/>
              </a:ext>
            </a:extLst>
          </p:cNvPr>
          <p:cNvSpPr>
            <a:spLocks noGrp="1"/>
          </p:cNvSpPr>
          <p:nvPr/>
        </p:nvSpPr>
        <p:spPr>
          <a:xfrm>
            <a:off x="7296150" y="5295900"/>
            <a:ext cx="3848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Weighted sampling and focal loss improve the augmented CNN, then gains become smaller.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5A42071-B7F5-4BEB-8BFF-FD6A50F9177B}"/>
              </a:ext>
            </a:extLst>
          </p:cNvPr>
          <p:cNvSpPr>
            <a:spLocks noGrp="1"/>
          </p:cNvSpPr>
          <p:nvPr/>
        </p:nvSpPr>
        <p:spPr>
          <a:xfrm>
            <a:off x="7048500" y="57531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5A28E2E-A38C-4660-AEC4-6BA8000F7546}"/>
              </a:ext>
            </a:extLst>
          </p:cNvPr>
          <p:cNvSpPr>
            <a:spLocks noGrp="1"/>
          </p:cNvSpPr>
          <p:nvPr/>
        </p:nvSpPr>
        <p:spPr>
          <a:xfrm>
            <a:off x="7296150" y="5657850"/>
            <a:ext cx="3848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Fear and sad remain the weakest classes in the best model.</a:t>
            </a:r>
          </a:p>
        </p:txBody>
      </p:sp>
    </p:spTree>
    <p:extLst>
      <p:ext uri="{BB962C8B-B14F-4D97-AF65-F5344CB8AC3E}">
        <p14:creationId xmlns:p14="http://schemas.microsoft.com/office/powerpoint/2010/main" val="45034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D5496BB5-DBB9-432A-927F-32AC001777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759B07-D6EB-4A5E-BB9F-9F85EBC4E05D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F1FF24-B6A1-4FDF-A337-E99CAFD71D13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ResNet18 improves when deeper layers are fine-tuned.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3ECBD-EF8A-4259-91BE-FDD0B5DBCBB9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DE8012-CDF2-4273-B847-0660C8BE9B70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16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1C0B5C-9C60-4924-8114-816D9EC98463}"/>
              </a:ext>
            </a:extLst>
          </p:cNvPr>
          <p:cNvSpPr>
            <a:spLocks noGrp="1"/>
          </p:cNvSpPr>
          <p:nvPr/>
        </p:nvSpPr>
        <p:spPr>
          <a:xfrm>
            <a:off x="1009650" y="4181475"/>
            <a:ext cx="57531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A2C5FE-206D-4B38-8B0E-079EF997BC49}"/>
              </a:ext>
            </a:extLst>
          </p:cNvPr>
          <p:cNvSpPr>
            <a:spLocks noGrp="1"/>
          </p:cNvSpPr>
          <p:nvPr/>
        </p:nvSpPr>
        <p:spPr>
          <a:xfrm>
            <a:off x="1009650" y="4181475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81B77D-3764-403E-8867-D2CDEAC04D5C}"/>
              </a:ext>
            </a:extLst>
          </p:cNvPr>
          <p:cNvSpPr>
            <a:spLocks noGrp="1"/>
          </p:cNvSpPr>
          <p:nvPr/>
        </p:nvSpPr>
        <p:spPr>
          <a:xfrm>
            <a:off x="723900" y="41052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0.30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CAF0BD-7D61-407C-9607-CAA1F19AD98C}"/>
              </a:ext>
            </a:extLst>
          </p:cNvPr>
          <p:cNvSpPr>
            <a:spLocks noGrp="1"/>
          </p:cNvSpPr>
          <p:nvPr/>
        </p:nvSpPr>
        <p:spPr>
          <a:xfrm>
            <a:off x="1009650" y="3707493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65AFCC-0F83-45B8-B4D2-88221EA9C5C4}"/>
              </a:ext>
            </a:extLst>
          </p:cNvPr>
          <p:cNvSpPr>
            <a:spLocks noGrp="1"/>
          </p:cNvSpPr>
          <p:nvPr/>
        </p:nvSpPr>
        <p:spPr>
          <a:xfrm>
            <a:off x="723900" y="3631293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0.40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E33C3F-A346-4399-80DD-EEB0A13D9195}"/>
              </a:ext>
            </a:extLst>
          </p:cNvPr>
          <p:cNvSpPr>
            <a:spLocks noGrp="1"/>
          </p:cNvSpPr>
          <p:nvPr/>
        </p:nvSpPr>
        <p:spPr>
          <a:xfrm>
            <a:off x="1009650" y="3233511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EDF427-3FF1-4305-8B77-E5B71F86292C}"/>
              </a:ext>
            </a:extLst>
          </p:cNvPr>
          <p:cNvSpPr>
            <a:spLocks noGrp="1"/>
          </p:cNvSpPr>
          <p:nvPr/>
        </p:nvSpPr>
        <p:spPr>
          <a:xfrm>
            <a:off x="723900" y="3157311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EDBB97-E89D-4E92-8CFE-00C2EB2835EB}"/>
              </a:ext>
            </a:extLst>
          </p:cNvPr>
          <p:cNvSpPr>
            <a:spLocks noGrp="1"/>
          </p:cNvSpPr>
          <p:nvPr/>
        </p:nvSpPr>
        <p:spPr>
          <a:xfrm>
            <a:off x="1009650" y="2759529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0DD93B-9B85-423E-9D8C-9488D9BFBFCD}"/>
              </a:ext>
            </a:extLst>
          </p:cNvPr>
          <p:cNvSpPr>
            <a:spLocks noGrp="1"/>
          </p:cNvSpPr>
          <p:nvPr/>
        </p:nvSpPr>
        <p:spPr>
          <a:xfrm>
            <a:off x="723900" y="2683329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0.60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63379-1E3C-4DDA-8465-64AB4C76B630}"/>
              </a:ext>
            </a:extLst>
          </p:cNvPr>
          <p:cNvSpPr>
            <a:spLocks noGrp="1"/>
          </p:cNvSpPr>
          <p:nvPr/>
        </p:nvSpPr>
        <p:spPr>
          <a:xfrm>
            <a:off x="1009650" y="2285546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5D2F22-90A9-4F49-9E20-B2EA02B90D7E}"/>
              </a:ext>
            </a:extLst>
          </p:cNvPr>
          <p:cNvSpPr>
            <a:spLocks noGrp="1"/>
          </p:cNvSpPr>
          <p:nvPr/>
        </p:nvSpPr>
        <p:spPr>
          <a:xfrm>
            <a:off x="723900" y="2209346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E39447-0E0D-4C48-A9D6-354DD538D153}"/>
              </a:ext>
            </a:extLst>
          </p:cNvPr>
          <p:cNvSpPr>
            <a:spLocks noGrp="1"/>
          </p:cNvSpPr>
          <p:nvPr/>
        </p:nvSpPr>
        <p:spPr>
          <a:xfrm>
            <a:off x="1044212" y="3939721"/>
            <a:ext cx="171450" cy="241754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7363BB-C0BD-42E8-B2AF-9E13E1D9E901}"/>
              </a:ext>
            </a:extLst>
          </p:cNvPr>
          <p:cNvSpPr>
            <a:spLocks noGrp="1"/>
          </p:cNvSpPr>
          <p:nvPr/>
        </p:nvSpPr>
        <p:spPr>
          <a:xfrm>
            <a:off x="1243602" y="3637529"/>
            <a:ext cx="171450" cy="543946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C9A4BA-C254-4005-8BBC-D5A6F6F92F82}"/>
              </a:ext>
            </a:extLst>
          </p:cNvPr>
          <p:cNvSpPr>
            <a:spLocks noGrp="1"/>
          </p:cNvSpPr>
          <p:nvPr/>
        </p:nvSpPr>
        <p:spPr>
          <a:xfrm>
            <a:off x="931712" y="3768271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 dirty="0">
                <a:solidFill>
                  <a:srgbClr val="1E5F99"/>
                </a:solidFill>
                <a:latin typeface="Aptos"/>
                <a:ea typeface="Aptos"/>
                <a:cs typeface="Aptos"/>
              </a:rPr>
              <a:t>0.352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9AFAAF-FA7F-4906-A835-2E3CA074D924}"/>
              </a:ext>
            </a:extLst>
          </p:cNvPr>
          <p:cNvSpPr>
            <a:spLocks noGrp="1"/>
          </p:cNvSpPr>
          <p:nvPr/>
        </p:nvSpPr>
        <p:spPr>
          <a:xfrm>
            <a:off x="1088571" y="3462791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 dirty="0">
                <a:solidFill>
                  <a:srgbClr val="A5622C"/>
                </a:solidFill>
                <a:latin typeface="Aptos"/>
                <a:ea typeface="Aptos"/>
                <a:cs typeface="Aptos"/>
              </a:rPr>
              <a:t>0.417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D99D7C-6A56-4733-B508-CD0C2B72DA1D}"/>
              </a:ext>
            </a:extLst>
          </p:cNvPr>
          <p:cNvSpPr>
            <a:spLocks noGrp="1"/>
          </p:cNvSpPr>
          <p:nvPr/>
        </p:nvSpPr>
        <p:spPr>
          <a:xfrm>
            <a:off x="723900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feature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789252-587C-4A83-92FC-82E9406EABD9}"/>
              </a:ext>
            </a:extLst>
          </p:cNvPr>
          <p:cNvSpPr>
            <a:spLocks noGrp="1"/>
          </p:cNvSpPr>
          <p:nvPr/>
        </p:nvSpPr>
        <p:spPr>
          <a:xfrm>
            <a:off x="1821996" y="2754199"/>
            <a:ext cx="171450" cy="1427276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CAB485-DC8F-42D7-B8ED-B16234DE47FD}"/>
              </a:ext>
            </a:extLst>
          </p:cNvPr>
          <p:cNvSpPr>
            <a:spLocks noGrp="1"/>
          </p:cNvSpPr>
          <p:nvPr/>
        </p:nvSpPr>
        <p:spPr>
          <a:xfrm>
            <a:off x="2031546" y="2628673"/>
            <a:ext cx="171450" cy="1552802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419A69-D39C-4851-BDEA-DD4C8EBFF0B1}"/>
              </a:ext>
            </a:extLst>
          </p:cNvPr>
          <p:cNvSpPr>
            <a:spLocks noGrp="1"/>
          </p:cNvSpPr>
          <p:nvPr/>
        </p:nvSpPr>
        <p:spPr>
          <a:xfrm>
            <a:off x="1669596" y="2582749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0.607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D8ACDD-6961-4179-8B9A-ACEE3E45A218}"/>
              </a:ext>
            </a:extLst>
          </p:cNvPr>
          <p:cNvSpPr>
            <a:spLocks noGrp="1"/>
          </p:cNvSpPr>
          <p:nvPr/>
        </p:nvSpPr>
        <p:spPr>
          <a:xfrm>
            <a:off x="1860096" y="2457223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0.634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CA55FF-6B4A-4956-92EE-D0AF3B21B8F8}"/>
              </a:ext>
            </a:extLst>
          </p:cNvPr>
          <p:cNvSpPr>
            <a:spLocks noGrp="1"/>
          </p:cNvSpPr>
          <p:nvPr/>
        </p:nvSpPr>
        <p:spPr>
          <a:xfrm>
            <a:off x="1608364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unfreeze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FB8A8F-A9EB-4E8A-B0E1-286E8DDA7F9D}"/>
              </a:ext>
            </a:extLst>
          </p:cNvPr>
          <p:cNvSpPr>
            <a:spLocks noGrp="1"/>
          </p:cNvSpPr>
          <p:nvPr/>
        </p:nvSpPr>
        <p:spPr>
          <a:xfrm>
            <a:off x="2706461" y="2605428"/>
            <a:ext cx="171450" cy="1576047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31DAB7C-F2EC-4ECA-96DA-327FF7AAD29C}"/>
              </a:ext>
            </a:extLst>
          </p:cNvPr>
          <p:cNvSpPr>
            <a:spLocks noGrp="1"/>
          </p:cNvSpPr>
          <p:nvPr/>
        </p:nvSpPr>
        <p:spPr>
          <a:xfrm>
            <a:off x="2916011" y="2503147"/>
            <a:ext cx="171450" cy="1678328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525943-2B84-40FD-8AE0-C6F20BE3C5FB}"/>
              </a:ext>
            </a:extLst>
          </p:cNvPr>
          <p:cNvSpPr>
            <a:spLocks noGrp="1"/>
          </p:cNvSpPr>
          <p:nvPr/>
        </p:nvSpPr>
        <p:spPr>
          <a:xfrm>
            <a:off x="2554061" y="2433978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0.639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B9AC29-1023-42C7-91B0-3243C4B6CD71}"/>
              </a:ext>
            </a:extLst>
          </p:cNvPr>
          <p:cNvSpPr>
            <a:spLocks noGrp="1"/>
          </p:cNvSpPr>
          <p:nvPr/>
        </p:nvSpPr>
        <p:spPr>
          <a:xfrm>
            <a:off x="2744561" y="2331697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0.661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30B44B-EBCF-47C6-BB98-5A864BA0FFE0}"/>
              </a:ext>
            </a:extLst>
          </p:cNvPr>
          <p:cNvSpPr>
            <a:spLocks noGrp="1"/>
          </p:cNvSpPr>
          <p:nvPr/>
        </p:nvSpPr>
        <p:spPr>
          <a:xfrm>
            <a:off x="2492829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unfreeze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C34A104-4D1F-427C-8AA0-B5EB3D1A4318}"/>
              </a:ext>
            </a:extLst>
          </p:cNvPr>
          <p:cNvSpPr>
            <a:spLocks noGrp="1"/>
          </p:cNvSpPr>
          <p:nvPr/>
        </p:nvSpPr>
        <p:spPr>
          <a:xfrm>
            <a:off x="3590925" y="2558937"/>
            <a:ext cx="171450" cy="162253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8C0897-7669-4FF7-B3F9-4B64C083D768}"/>
              </a:ext>
            </a:extLst>
          </p:cNvPr>
          <p:cNvSpPr>
            <a:spLocks noGrp="1"/>
          </p:cNvSpPr>
          <p:nvPr/>
        </p:nvSpPr>
        <p:spPr>
          <a:xfrm>
            <a:off x="3800475" y="2470604"/>
            <a:ext cx="171450" cy="1710871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F9DABE-5DCD-4DE8-B3DA-0F75EA9D9C0F}"/>
              </a:ext>
            </a:extLst>
          </p:cNvPr>
          <p:cNvSpPr>
            <a:spLocks noGrp="1"/>
          </p:cNvSpPr>
          <p:nvPr/>
        </p:nvSpPr>
        <p:spPr>
          <a:xfrm>
            <a:off x="3438525" y="2387487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0.649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2813C6A-9BB0-48F0-97D5-15BF0D14A4F8}"/>
              </a:ext>
            </a:extLst>
          </p:cNvPr>
          <p:cNvSpPr>
            <a:spLocks noGrp="1"/>
          </p:cNvSpPr>
          <p:nvPr/>
        </p:nvSpPr>
        <p:spPr>
          <a:xfrm>
            <a:off x="3629025" y="2299154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0.668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7D39B3A-7991-48DA-B639-2CEC173C640C}"/>
              </a:ext>
            </a:extLst>
          </p:cNvPr>
          <p:cNvSpPr>
            <a:spLocks noGrp="1"/>
          </p:cNvSpPr>
          <p:nvPr/>
        </p:nvSpPr>
        <p:spPr>
          <a:xfrm>
            <a:off x="3377293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weights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A5B593-21D4-4E87-A61D-F2854336D5C0}"/>
              </a:ext>
            </a:extLst>
          </p:cNvPr>
          <p:cNvSpPr>
            <a:spLocks noGrp="1"/>
          </p:cNvSpPr>
          <p:nvPr/>
        </p:nvSpPr>
        <p:spPr>
          <a:xfrm>
            <a:off x="4475389" y="2526393"/>
            <a:ext cx="171450" cy="1655082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A40CB09-FFB4-4DEA-B2AA-33DC8F8FC492}"/>
              </a:ext>
            </a:extLst>
          </p:cNvPr>
          <p:cNvSpPr>
            <a:spLocks noGrp="1"/>
          </p:cNvSpPr>
          <p:nvPr/>
        </p:nvSpPr>
        <p:spPr>
          <a:xfrm>
            <a:off x="4684939" y="2484551"/>
            <a:ext cx="171450" cy="1696924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AFEF4FF-388C-48E3-A0F3-EF3E538ECEED}"/>
              </a:ext>
            </a:extLst>
          </p:cNvPr>
          <p:cNvSpPr>
            <a:spLocks noGrp="1"/>
          </p:cNvSpPr>
          <p:nvPr/>
        </p:nvSpPr>
        <p:spPr>
          <a:xfrm>
            <a:off x="4322989" y="2354943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0.656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34BA9B8-85B3-41F6-8E5D-B424FEE4492C}"/>
              </a:ext>
            </a:extLst>
          </p:cNvPr>
          <p:cNvSpPr>
            <a:spLocks noGrp="1"/>
          </p:cNvSpPr>
          <p:nvPr/>
        </p:nvSpPr>
        <p:spPr>
          <a:xfrm>
            <a:off x="4513489" y="2313101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0.665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0091C10-61F3-4CAE-A647-52AFB806A7E4}"/>
              </a:ext>
            </a:extLst>
          </p:cNvPr>
          <p:cNvSpPr>
            <a:spLocks noGrp="1"/>
          </p:cNvSpPr>
          <p:nvPr/>
        </p:nvSpPr>
        <p:spPr>
          <a:xfrm>
            <a:off x="4261757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weights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 focal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773F510-7963-40CE-ACAB-3F07F99CA3A0}"/>
              </a:ext>
            </a:extLst>
          </p:cNvPr>
          <p:cNvSpPr>
            <a:spLocks noGrp="1"/>
          </p:cNvSpPr>
          <p:nvPr/>
        </p:nvSpPr>
        <p:spPr>
          <a:xfrm>
            <a:off x="5359854" y="2433411"/>
            <a:ext cx="171450" cy="1748064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42381F4-FA25-4CDF-B73C-2A67987A5386}"/>
              </a:ext>
            </a:extLst>
          </p:cNvPr>
          <p:cNvSpPr>
            <a:spLocks noGrp="1"/>
          </p:cNvSpPr>
          <p:nvPr/>
        </p:nvSpPr>
        <p:spPr>
          <a:xfrm>
            <a:off x="5569404" y="2391569"/>
            <a:ext cx="171450" cy="1789906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C0AB76F-EBFD-4DA2-8E32-61B22EB254EA}"/>
              </a:ext>
            </a:extLst>
          </p:cNvPr>
          <p:cNvSpPr>
            <a:spLocks noGrp="1"/>
          </p:cNvSpPr>
          <p:nvPr/>
        </p:nvSpPr>
        <p:spPr>
          <a:xfrm>
            <a:off x="5207454" y="2261961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0.676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058B4BB-6D48-4882-B21D-C21A41382BD2}"/>
              </a:ext>
            </a:extLst>
          </p:cNvPr>
          <p:cNvSpPr>
            <a:spLocks noGrp="1"/>
          </p:cNvSpPr>
          <p:nvPr/>
        </p:nvSpPr>
        <p:spPr>
          <a:xfrm>
            <a:off x="5397954" y="2220119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26D97A7-089C-4F41-9D53-2421C5FA3B7D}"/>
              </a:ext>
            </a:extLst>
          </p:cNvPr>
          <p:cNvSpPr>
            <a:spLocks noGrp="1"/>
          </p:cNvSpPr>
          <p:nvPr/>
        </p:nvSpPr>
        <p:spPr>
          <a:xfrm>
            <a:off x="5146221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weights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 focal + SGD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5970E0A-ED73-4312-973A-2A4E31BBD9E7}"/>
              </a:ext>
            </a:extLst>
          </p:cNvPr>
          <p:cNvSpPr>
            <a:spLocks noGrp="1"/>
          </p:cNvSpPr>
          <p:nvPr/>
        </p:nvSpPr>
        <p:spPr>
          <a:xfrm>
            <a:off x="6244318" y="2405516"/>
            <a:ext cx="171450" cy="1775959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15C1C58-4097-4388-BF7D-E1FCA96A0519}"/>
              </a:ext>
            </a:extLst>
          </p:cNvPr>
          <p:cNvSpPr>
            <a:spLocks noGrp="1"/>
          </p:cNvSpPr>
          <p:nvPr/>
        </p:nvSpPr>
        <p:spPr>
          <a:xfrm>
            <a:off x="6453868" y="2345078"/>
            <a:ext cx="171450" cy="1836397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AAB8AF0-88D9-4627-804B-FDE3F705C3B4}"/>
              </a:ext>
            </a:extLst>
          </p:cNvPr>
          <p:cNvSpPr>
            <a:spLocks noGrp="1"/>
          </p:cNvSpPr>
          <p:nvPr/>
        </p:nvSpPr>
        <p:spPr>
          <a:xfrm>
            <a:off x="6091918" y="2234066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0.682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21388CF-FA17-487C-8ADC-DEC55AD85DD0}"/>
              </a:ext>
            </a:extLst>
          </p:cNvPr>
          <p:cNvSpPr>
            <a:spLocks noGrp="1"/>
          </p:cNvSpPr>
          <p:nvPr/>
        </p:nvSpPr>
        <p:spPr>
          <a:xfrm>
            <a:off x="6282418" y="2173628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0.695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F1C31F4-52E5-4FD7-87B8-F0B97CCB03D7}"/>
              </a:ext>
            </a:extLst>
          </p:cNvPr>
          <p:cNvSpPr>
            <a:spLocks noGrp="1"/>
          </p:cNvSpPr>
          <p:nvPr/>
        </p:nvSpPr>
        <p:spPr>
          <a:xfrm>
            <a:off x="6030686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crop +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TenCrop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A553BA-6ED4-475B-BFA4-FE2A55008199}"/>
              </a:ext>
            </a:extLst>
          </p:cNvPr>
          <p:cNvSpPr>
            <a:spLocks noGrp="1"/>
          </p:cNvSpPr>
          <p:nvPr/>
        </p:nvSpPr>
        <p:spPr>
          <a:xfrm>
            <a:off x="5181600" y="209550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5871702-B748-47E8-9E0B-67E77D986828}"/>
              </a:ext>
            </a:extLst>
          </p:cNvPr>
          <p:cNvSpPr>
            <a:spLocks noGrp="1"/>
          </p:cNvSpPr>
          <p:nvPr/>
        </p:nvSpPr>
        <p:spPr>
          <a:xfrm>
            <a:off x="5314950" y="20574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95D2087-8F93-487F-B186-B281ED323882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EF7BAD1-755A-46F9-AD00-C4C585C018E2}"/>
              </a:ext>
            </a:extLst>
          </p:cNvPr>
          <p:cNvSpPr>
            <a:spLocks noGrp="1"/>
          </p:cNvSpPr>
          <p:nvPr/>
        </p:nvSpPr>
        <p:spPr>
          <a:xfrm>
            <a:off x="6134100" y="20574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8AA56B3-2489-4C09-A23F-7529629DB93B}"/>
              </a:ext>
            </a:extLst>
          </p:cNvPr>
          <p:cNvSpPr>
            <a:spLocks noGrp="1"/>
          </p:cNvSpPr>
          <p:nvPr/>
        </p:nvSpPr>
        <p:spPr>
          <a:xfrm>
            <a:off x="7353300" y="1924050"/>
            <a:ext cx="31051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81982" y="2000250"/>
            <a:ext cx="2847785" cy="2781300"/>
          </a:xfrm>
          <a:prstGeom prst="rect">
            <a:avLst/>
          </a:prstGeom>
        </p:spPr>
      </p:pic>
      <p:sp>
        <p:nvSpPr>
          <p:cNvPr id="58" name="Rectangle 57">
            <a:extLst>
              <a:ext uri="{FF2B5EF4-FFF2-40B4-BE49-F238E27FC236}">
                <a16:creationId xmlns:a16="http://schemas.microsoft.com/office/drawing/2014/main" id="{C2EA6788-19EF-43D8-B6E2-787C55B00001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Best ResNet18 per-class F1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3D4FB52-3077-4193-A414-D35F9FFDB13E}"/>
              </a:ext>
            </a:extLst>
          </p:cNvPr>
          <p:cNvSpPr>
            <a:spLocks noGrp="1"/>
          </p:cNvSpPr>
          <p:nvPr/>
        </p:nvSpPr>
        <p:spPr>
          <a:xfrm>
            <a:off x="742950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6B5BADF-3B56-4CCB-922D-54A29A8AC98B}"/>
              </a:ext>
            </a:extLst>
          </p:cNvPr>
          <p:cNvSpPr>
            <a:spLocks noGrp="1"/>
          </p:cNvSpPr>
          <p:nvPr/>
        </p:nvSpPr>
        <p:spPr>
          <a:xfrm>
            <a:off x="742950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0.62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5B6E318-3D40-4E4B-AA80-B94EC4782A34}"/>
              </a:ext>
            </a:extLst>
          </p:cNvPr>
          <p:cNvSpPr>
            <a:spLocks noGrp="1"/>
          </p:cNvSpPr>
          <p:nvPr/>
        </p:nvSpPr>
        <p:spPr>
          <a:xfrm>
            <a:off x="1532164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CA519A-2E65-417F-90B5-53502BD0D8CB}"/>
              </a:ext>
            </a:extLst>
          </p:cNvPr>
          <p:cNvSpPr>
            <a:spLocks noGrp="1"/>
          </p:cNvSpPr>
          <p:nvPr/>
        </p:nvSpPr>
        <p:spPr>
          <a:xfrm>
            <a:off x="1532164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0.69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81798C3-FC3A-42C6-BBF9-3932AE1FD681}"/>
              </a:ext>
            </a:extLst>
          </p:cNvPr>
          <p:cNvSpPr>
            <a:spLocks noGrp="1"/>
          </p:cNvSpPr>
          <p:nvPr/>
        </p:nvSpPr>
        <p:spPr>
          <a:xfrm>
            <a:off x="2321379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740AAD6-502E-4B48-BD69-3F5142A32770}"/>
              </a:ext>
            </a:extLst>
          </p:cNvPr>
          <p:cNvSpPr>
            <a:spLocks noGrp="1"/>
          </p:cNvSpPr>
          <p:nvPr/>
        </p:nvSpPr>
        <p:spPr>
          <a:xfrm>
            <a:off x="2321379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0.53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B0ADE01-CCCB-4528-8317-71DB83928DE6}"/>
              </a:ext>
            </a:extLst>
          </p:cNvPr>
          <p:cNvSpPr>
            <a:spLocks noGrp="1"/>
          </p:cNvSpPr>
          <p:nvPr/>
        </p:nvSpPr>
        <p:spPr>
          <a:xfrm>
            <a:off x="3110593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22C37A5-A9BB-48C1-AFD4-3B477FC9E6AA}"/>
              </a:ext>
            </a:extLst>
          </p:cNvPr>
          <p:cNvSpPr>
            <a:spLocks noGrp="1"/>
          </p:cNvSpPr>
          <p:nvPr/>
        </p:nvSpPr>
        <p:spPr>
          <a:xfrm>
            <a:off x="3110593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9C99842-3A85-400E-8902-DD5D29303CE9}"/>
              </a:ext>
            </a:extLst>
          </p:cNvPr>
          <p:cNvSpPr>
            <a:spLocks noGrp="1"/>
          </p:cNvSpPr>
          <p:nvPr/>
        </p:nvSpPr>
        <p:spPr>
          <a:xfrm>
            <a:off x="3899807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774F80B-9AC5-43E1-ADED-5F84E20CE00D}"/>
              </a:ext>
            </a:extLst>
          </p:cNvPr>
          <p:cNvSpPr>
            <a:spLocks noGrp="1"/>
          </p:cNvSpPr>
          <p:nvPr/>
        </p:nvSpPr>
        <p:spPr>
          <a:xfrm>
            <a:off x="3899807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0.58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B60ACF3-C17A-431E-B35C-0BCCF926C05E}"/>
              </a:ext>
            </a:extLst>
          </p:cNvPr>
          <p:cNvSpPr>
            <a:spLocks noGrp="1"/>
          </p:cNvSpPr>
          <p:nvPr/>
        </p:nvSpPr>
        <p:spPr>
          <a:xfrm>
            <a:off x="4689021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1A7BFC7-E2A7-47B1-9690-949505E7C970}"/>
              </a:ext>
            </a:extLst>
          </p:cNvPr>
          <p:cNvSpPr>
            <a:spLocks noGrp="1"/>
          </p:cNvSpPr>
          <p:nvPr/>
        </p:nvSpPr>
        <p:spPr>
          <a:xfrm>
            <a:off x="4689021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0.81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FD9CC2D-34C1-409B-A4CE-8EB79CF343EB}"/>
              </a:ext>
            </a:extLst>
          </p:cNvPr>
          <p:cNvSpPr>
            <a:spLocks noGrp="1"/>
          </p:cNvSpPr>
          <p:nvPr/>
        </p:nvSpPr>
        <p:spPr>
          <a:xfrm>
            <a:off x="5478236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89F91BD-7511-4C01-9D3E-3522781C45FD}"/>
              </a:ext>
            </a:extLst>
          </p:cNvPr>
          <p:cNvSpPr>
            <a:spLocks noGrp="1"/>
          </p:cNvSpPr>
          <p:nvPr/>
        </p:nvSpPr>
        <p:spPr>
          <a:xfrm>
            <a:off x="5478236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0.66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AC85D9D-535B-41BF-839A-D34AF3118FD8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5524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3CE4879-DA91-4B08-A4C1-E553C8A30120}"/>
              </a:ext>
            </a:extLst>
          </p:cNvPr>
          <p:cNvSpPr>
            <a:spLocks noGrp="1"/>
          </p:cNvSpPr>
          <p:nvPr/>
        </p:nvSpPr>
        <p:spPr>
          <a:xfrm>
            <a:off x="742950" y="5800725"/>
            <a:ext cx="5524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392327C-DDCF-4756-84EF-122877349164}"/>
              </a:ext>
            </a:extLst>
          </p:cNvPr>
          <p:cNvSpPr>
            <a:spLocks noGrp="1"/>
          </p:cNvSpPr>
          <p:nvPr/>
        </p:nvSpPr>
        <p:spPr>
          <a:xfrm>
            <a:off x="7239000" y="5029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F286A4C-B73C-4E8E-83F1-58A824768296}"/>
              </a:ext>
            </a:extLst>
          </p:cNvPr>
          <p:cNvSpPr>
            <a:spLocks noGrp="1"/>
          </p:cNvSpPr>
          <p:nvPr/>
        </p:nvSpPr>
        <p:spPr>
          <a:xfrm>
            <a:off x="7486650" y="4933950"/>
            <a:ext cx="3848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Frozen ImageNet features alone are insufficient.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A9B92643-4581-4EDE-A3C2-F9BABEA96A80}"/>
              </a:ext>
            </a:extLst>
          </p:cNvPr>
          <p:cNvSpPr>
            <a:spLocks noGrp="1"/>
          </p:cNvSpPr>
          <p:nvPr/>
        </p:nvSpPr>
        <p:spPr>
          <a:xfrm>
            <a:off x="7239000" y="53911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2D6B1CF-F111-47DB-98C6-7C515EB6AFEC}"/>
              </a:ext>
            </a:extLst>
          </p:cNvPr>
          <p:cNvSpPr>
            <a:spLocks noGrp="1"/>
          </p:cNvSpPr>
          <p:nvPr/>
        </p:nvSpPr>
        <p:spPr>
          <a:xfrm>
            <a:off x="7486650" y="5295900"/>
            <a:ext cx="3848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Layer3 fine-tuning is the strongest controlled unfreezing point.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06A318D-4174-4C8B-9DCA-2362775DD013}"/>
              </a:ext>
            </a:extLst>
          </p:cNvPr>
          <p:cNvSpPr>
            <a:spLocks noGrp="1"/>
          </p:cNvSpPr>
          <p:nvPr/>
        </p:nvSpPr>
        <p:spPr>
          <a:xfrm>
            <a:off x="7239000" y="57531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465C2D0-5464-4D56-8A7C-62530E4A661E}"/>
              </a:ext>
            </a:extLst>
          </p:cNvPr>
          <p:cNvSpPr>
            <a:spLocks noGrp="1"/>
          </p:cNvSpPr>
          <p:nvPr/>
        </p:nvSpPr>
        <p:spPr>
          <a:xfrm>
            <a:off x="7486650" y="5657850"/>
            <a:ext cx="3848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Crop/TenCrop improves the final report slightly.</a:t>
            </a:r>
          </a:p>
        </p:txBody>
      </p:sp>
    </p:spTree>
    <p:extLst>
      <p:ext uri="{BB962C8B-B14F-4D97-AF65-F5344CB8AC3E}">
        <p14:creationId xmlns:p14="http://schemas.microsoft.com/office/powerpoint/2010/main" val="1753655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73BF3AAE-6A92-42EA-83D8-38F841433B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B1B64D-3676-44EA-A1E5-4163F25146E9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FABE76-E5F5-467F-ACD8-67FC5B6C4CD8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EfficientNet-B0 is competitive on FER2013 after stronger fine-tuning.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61D6B-52F1-4E8A-9796-6B7B9F7AD668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E74862-0442-4403-B052-470DA9C6B257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17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F40894-8EB6-4388-84A1-AE0D66093FE0}"/>
              </a:ext>
            </a:extLst>
          </p:cNvPr>
          <p:cNvSpPr>
            <a:spLocks noGrp="1"/>
          </p:cNvSpPr>
          <p:nvPr/>
        </p:nvSpPr>
        <p:spPr>
          <a:xfrm>
            <a:off x="1009650" y="4181475"/>
            <a:ext cx="57531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235BD-1D80-4234-822B-DD16E91F6218}"/>
              </a:ext>
            </a:extLst>
          </p:cNvPr>
          <p:cNvSpPr>
            <a:spLocks noGrp="1"/>
          </p:cNvSpPr>
          <p:nvPr/>
        </p:nvSpPr>
        <p:spPr>
          <a:xfrm>
            <a:off x="1009650" y="4181475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067386-E2C0-4248-8750-E8F70F9ED8EB}"/>
              </a:ext>
            </a:extLst>
          </p:cNvPr>
          <p:cNvSpPr>
            <a:spLocks noGrp="1"/>
          </p:cNvSpPr>
          <p:nvPr/>
        </p:nvSpPr>
        <p:spPr>
          <a:xfrm>
            <a:off x="723900" y="410527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0.35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1E706-4D18-4B34-AA26-145602A6E42D}"/>
              </a:ext>
            </a:extLst>
          </p:cNvPr>
          <p:cNvSpPr>
            <a:spLocks noGrp="1"/>
          </p:cNvSpPr>
          <p:nvPr/>
        </p:nvSpPr>
        <p:spPr>
          <a:xfrm>
            <a:off x="1009650" y="3643441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8F0728-4B10-49AF-BC1C-D87C5F78B0DB}"/>
              </a:ext>
            </a:extLst>
          </p:cNvPr>
          <p:cNvSpPr>
            <a:spLocks noGrp="1"/>
          </p:cNvSpPr>
          <p:nvPr/>
        </p:nvSpPr>
        <p:spPr>
          <a:xfrm>
            <a:off x="723900" y="3567241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0.45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A87099-4543-4634-B199-B190DB5A3159}"/>
              </a:ext>
            </a:extLst>
          </p:cNvPr>
          <p:cNvSpPr>
            <a:spLocks noGrp="1"/>
          </p:cNvSpPr>
          <p:nvPr/>
        </p:nvSpPr>
        <p:spPr>
          <a:xfrm>
            <a:off x="1009650" y="3105407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E7EB80-AE1F-4FA3-90D7-EBF537897A2E}"/>
              </a:ext>
            </a:extLst>
          </p:cNvPr>
          <p:cNvSpPr>
            <a:spLocks noGrp="1"/>
          </p:cNvSpPr>
          <p:nvPr/>
        </p:nvSpPr>
        <p:spPr>
          <a:xfrm>
            <a:off x="723900" y="3029207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F64A1C-E9F2-4F3B-955A-BC11EF9D5EB9}"/>
              </a:ext>
            </a:extLst>
          </p:cNvPr>
          <p:cNvSpPr>
            <a:spLocks noGrp="1"/>
          </p:cNvSpPr>
          <p:nvPr/>
        </p:nvSpPr>
        <p:spPr>
          <a:xfrm>
            <a:off x="1009650" y="2567374"/>
            <a:ext cx="57531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D5AC9D-5900-4927-830A-F782A84539F7}"/>
              </a:ext>
            </a:extLst>
          </p:cNvPr>
          <p:cNvSpPr>
            <a:spLocks noGrp="1"/>
          </p:cNvSpPr>
          <p:nvPr/>
        </p:nvSpPr>
        <p:spPr>
          <a:xfrm>
            <a:off x="723900" y="2491174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0.65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8A845A-2B84-4313-9369-230B9C83BD96}"/>
              </a:ext>
            </a:extLst>
          </p:cNvPr>
          <p:cNvSpPr>
            <a:spLocks noGrp="1"/>
          </p:cNvSpPr>
          <p:nvPr/>
        </p:nvSpPr>
        <p:spPr>
          <a:xfrm>
            <a:off x="1185182" y="4065373"/>
            <a:ext cx="171450" cy="116102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4B50CC-C059-441A-A105-BDED15AC0F50}"/>
              </a:ext>
            </a:extLst>
          </p:cNvPr>
          <p:cNvSpPr>
            <a:spLocks noGrp="1"/>
          </p:cNvSpPr>
          <p:nvPr/>
        </p:nvSpPr>
        <p:spPr>
          <a:xfrm>
            <a:off x="1394732" y="3764563"/>
            <a:ext cx="171450" cy="416912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298285-834B-447C-8128-2B05FC357655}"/>
              </a:ext>
            </a:extLst>
          </p:cNvPr>
          <p:cNvSpPr>
            <a:spLocks noGrp="1"/>
          </p:cNvSpPr>
          <p:nvPr/>
        </p:nvSpPr>
        <p:spPr>
          <a:xfrm>
            <a:off x="1055007" y="3893923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 dirty="0">
                <a:solidFill>
                  <a:srgbClr val="1E5F99"/>
                </a:solidFill>
                <a:latin typeface="Aptos"/>
                <a:ea typeface="Aptos"/>
                <a:cs typeface="Aptos"/>
              </a:rPr>
              <a:t>0.372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943A6-CC09-41A7-B6F9-ED9D7AFCE4B1}"/>
              </a:ext>
            </a:extLst>
          </p:cNvPr>
          <p:cNvSpPr>
            <a:spLocks noGrp="1"/>
          </p:cNvSpPr>
          <p:nvPr/>
        </p:nvSpPr>
        <p:spPr>
          <a:xfrm>
            <a:off x="1245507" y="3593113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 dirty="0">
                <a:solidFill>
                  <a:srgbClr val="A5622C"/>
                </a:solidFill>
                <a:latin typeface="Aptos"/>
                <a:ea typeface="Aptos"/>
                <a:cs typeface="Aptos"/>
              </a:rPr>
              <a:t>0.429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9BD570-9F2C-4C1E-9E8B-9264691B4D3A}"/>
              </a:ext>
            </a:extLst>
          </p:cNvPr>
          <p:cNvSpPr>
            <a:spLocks noGrp="1"/>
          </p:cNvSpPr>
          <p:nvPr/>
        </p:nvSpPr>
        <p:spPr>
          <a:xfrm>
            <a:off x="939800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feature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2D5B8D-F052-4750-8A98-E9B63441A05C}"/>
              </a:ext>
            </a:extLst>
          </p:cNvPr>
          <p:cNvSpPr>
            <a:spLocks noGrp="1"/>
          </p:cNvSpPr>
          <p:nvPr/>
        </p:nvSpPr>
        <p:spPr>
          <a:xfrm>
            <a:off x="1821996" y="3558746"/>
            <a:ext cx="171450" cy="622729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AEE959-CFCA-4603-AE73-41492AEDB267}"/>
              </a:ext>
            </a:extLst>
          </p:cNvPr>
          <p:cNvSpPr>
            <a:spLocks noGrp="1"/>
          </p:cNvSpPr>
          <p:nvPr/>
        </p:nvSpPr>
        <p:spPr>
          <a:xfrm>
            <a:off x="2031546" y="3321265"/>
            <a:ext cx="171450" cy="860210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DEFF6C-2689-4A6E-8FE2-31E972BB6BE8}"/>
              </a:ext>
            </a:extLst>
          </p:cNvPr>
          <p:cNvSpPr>
            <a:spLocks noGrp="1"/>
          </p:cNvSpPr>
          <p:nvPr/>
        </p:nvSpPr>
        <p:spPr>
          <a:xfrm>
            <a:off x="1669596" y="3387296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0.468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3AD7CC-FD7B-4DDB-BACB-678009774F73}"/>
              </a:ext>
            </a:extLst>
          </p:cNvPr>
          <p:cNvSpPr>
            <a:spLocks noGrp="1"/>
          </p:cNvSpPr>
          <p:nvPr/>
        </p:nvSpPr>
        <p:spPr>
          <a:xfrm>
            <a:off x="1860096" y="3149815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D69CCE-720C-47E5-9E43-28151E022D67}"/>
              </a:ext>
            </a:extLst>
          </p:cNvPr>
          <p:cNvSpPr>
            <a:spLocks noGrp="1"/>
          </p:cNvSpPr>
          <p:nvPr/>
        </p:nvSpPr>
        <p:spPr>
          <a:xfrm>
            <a:off x="1608364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unfreeze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last block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E64E76-C817-4289-83D6-AFC7C78A8021}"/>
              </a:ext>
            </a:extLst>
          </p:cNvPr>
          <p:cNvSpPr>
            <a:spLocks noGrp="1"/>
          </p:cNvSpPr>
          <p:nvPr/>
        </p:nvSpPr>
        <p:spPr>
          <a:xfrm>
            <a:off x="2706461" y="3036287"/>
            <a:ext cx="171450" cy="11451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38D424-7692-47B4-B8C4-0360C130972C}"/>
              </a:ext>
            </a:extLst>
          </p:cNvPr>
          <p:cNvSpPr>
            <a:spLocks noGrp="1"/>
          </p:cNvSpPr>
          <p:nvPr/>
        </p:nvSpPr>
        <p:spPr>
          <a:xfrm>
            <a:off x="2916011" y="2846302"/>
            <a:ext cx="171450" cy="1335173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467D4E-A84B-4B77-BA57-CFAE2FE221C6}"/>
              </a:ext>
            </a:extLst>
          </p:cNvPr>
          <p:cNvSpPr>
            <a:spLocks noGrp="1"/>
          </p:cNvSpPr>
          <p:nvPr/>
        </p:nvSpPr>
        <p:spPr>
          <a:xfrm>
            <a:off x="2554061" y="2864837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0.567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DEC8ED8-1D4A-4088-828C-4605B5A640E7}"/>
              </a:ext>
            </a:extLst>
          </p:cNvPr>
          <p:cNvSpPr>
            <a:spLocks noGrp="1"/>
          </p:cNvSpPr>
          <p:nvPr/>
        </p:nvSpPr>
        <p:spPr>
          <a:xfrm>
            <a:off x="2744561" y="2674852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0.603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829922-6A7C-41E9-99AA-5AE292E4E51F}"/>
              </a:ext>
            </a:extLst>
          </p:cNvPr>
          <p:cNvSpPr>
            <a:spLocks noGrp="1"/>
          </p:cNvSpPr>
          <p:nvPr/>
        </p:nvSpPr>
        <p:spPr>
          <a:xfrm>
            <a:off x="2492829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unfreeze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last 2 blocks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878A52-7026-4837-8ACE-43F0E0B7D8FA}"/>
              </a:ext>
            </a:extLst>
          </p:cNvPr>
          <p:cNvSpPr>
            <a:spLocks noGrp="1"/>
          </p:cNvSpPr>
          <p:nvPr/>
        </p:nvSpPr>
        <p:spPr>
          <a:xfrm>
            <a:off x="3590925" y="2656317"/>
            <a:ext cx="171450" cy="152515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ACCCAD-1436-4ABB-9207-93E0550F6829}"/>
              </a:ext>
            </a:extLst>
          </p:cNvPr>
          <p:cNvSpPr>
            <a:spLocks noGrp="1"/>
          </p:cNvSpPr>
          <p:nvPr/>
        </p:nvSpPr>
        <p:spPr>
          <a:xfrm>
            <a:off x="3800475" y="2545492"/>
            <a:ext cx="171450" cy="1635983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3FCFBB-0FA0-4651-9315-F0C397D644DB}"/>
              </a:ext>
            </a:extLst>
          </p:cNvPr>
          <p:cNvSpPr>
            <a:spLocks noGrp="1"/>
          </p:cNvSpPr>
          <p:nvPr/>
        </p:nvSpPr>
        <p:spPr>
          <a:xfrm>
            <a:off x="3438525" y="2484867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0.639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36824C0-A7DD-4E9A-950B-51533D890732}"/>
              </a:ext>
            </a:extLst>
          </p:cNvPr>
          <p:cNvSpPr>
            <a:spLocks noGrp="1"/>
          </p:cNvSpPr>
          <p:nvPr/>
        </p:nvSpPr>
        <p:spPr>
          <a:xfrm>
            <a:off x="3629025" y="2374042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0.660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8C05B4-734B-4305-9207-E02E2A95121E}"/>
              </a:ext>
            </a:extLst>
          </p:cNvPr>
          <p:cNvSpPr>
            <a:spLocks noGrp="1"/>
          </p:cNvSpPr>
          <p:nvPr/>
        </p:nvSpPr>
        <p:spPr>
          <a:xfrm>
            <a:off x="3377293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unfreeze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last 3 blocks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00C277-C9CE-4E8F-98AF-9FB0778B1E15}"/>
              </a:ext>
            </a:extLst>
          </p:cNvPr>
          <p:cNvSpPr>
            <a:spLocks noGrp="1"/>
          </p:cNvSpPr>
          <p:nvPr/>
        </p:nvSpPr>
        <p:spPr>
          <a:xfrm>
            <a:off x="4475389" y="2577156"/>
            <a:ext cx="171450" cy="1604319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5C2D390-5D3C-4EFF-A873-A35B10007FAD}"/>
              </a:ext>
            </a:extLst>
          </p:cNvPr>
          <p:cNvSpPr>
            <a:spLocks noGrp="1"/>
          </p:cNvSpPr>
          <p:nvPr/>
        </p:nvSpPr>
        <p:spPr>
          <a:xfrm>
            <a:off x="4684939" y="2497996"/>
            <a:ext cx="171450" cy="1683479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369F14B-A60D-476A-B301-FC5E6A1947F6}"/>
              </a:ext>
            </a:extLst>
          </p:cNvPr>
          <p:cNvSpPr>
            <a:spLocks noGrp="1"/>
          </p:cNvSpPr>
          <p:nvPr/>
        </p:nvSpPr>
        <p:spPr>
          <a:xfrm>
            <a:off x="4322989" y="2405706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0.654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B3A862-20FD-49DA-A059-32A573F08513}"/>
              </a:ext>
            </a:extLst>
          </p:cNvPr>
          <p:cNvSpPr>
            <a:spLocks noGrp="1"/>
          </p:cNvSpPr>
          <p:nvPr/>
        </p:nvSpPr>
        <p:spPr>
          <a:xfrm>
            <a:off x="4513489" y="2326546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0.669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3539C2-C965-4CE0-A9BE-7FBD06F3353F}"/>
              </a:ext>
            </a:extLst>
          </p:cNvPr>
          <p:cNvSpPr>
            <a:spLocks noGrp="1"/>
          </p:cNvSpPr>
          <p:nvPr/>
        </p:nvSpPr>
        <p:spPr>
          <a:xfrm>
            <a:off x="4261757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last 3 blocks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+ sampler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D36158-E61B-467B-ADA0-35F067B705F7}"/>
              </a:ext>
            </a:extLst>
          </p:cNvPr>
          <p:cNvSpPr>
            <a:spLocks noGrp="1"/>
          </p:cNvSpPr>
          <p:nvPr/>
        </p:nvSpPr>
        <p:spPr>
          <a:xfrm>
            <a:off x="5359854" y="2513828"/>
            <a:ext cx="171450" cy="1667647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4437C6-DA97-4AA3-9F67-302D92833177}"/>
              </a:ext>
            </a:extLst>
          </p:cNvPr>
          <p:cNvSpPr>
            <a:spLocks noGrp="1"/>
          </p:cNvSpPr>
          <p:nvPr/>
        </p:nvSpPr>
        <p:spPr>
          <a:xfrm>
            <a:off x="5569404" y="2450499"/>
            <a:ext cx="171450" cy="1730976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BE76706-24D9-4C96-B038-85B5E132BDE0}"/>
              </a:ext>
            </a:extLst>
          </p:cNvPr>
          <p:cNvSpPr>
            <a:spLocks noGrp="1"/>
          </p:cNvSpPr>
          <p:nvPr/>
        </p:nvSpPr>
        <p:spPr>
          <a:xfrm>
            <a:off x="5207454" y="2342378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0.666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A0A858F-E0A5-4EF3-9056-B23BCC93C981}"/>
              </a:ext>
            </a:extLst>
          </p:cNvPr>
          <p:cNvSpPr>
            <a:spLocks noGrp="1"/>
          </p:cNvSpPr>
          <p:nvPr/>
        </p:nvSpPr>
        <p:spPr>
          <a:xfrm>
            <a:off x="5397954" y="2279049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0.678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BDD32F-C452-432C-A152-68307800A335}"/>
              </a:ext>
            </a:extLst>
          </p:cNvPr>
          <p:cNvSpPr>
            <a:spLocks noGrp="1"/>
          </p:cNvSpPr>
          <p:nvPr/>
        </p:nvSpPr>
        <p:spPr>
          <a:xfrm>
            <a:off x="5146221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sampler +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SGD plateau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5F72288-FE1B-4A30-AB7E-6A6139DFFD4D}"/>
              </a:ext>
            </a:extLst>
          </p:cNvPr>
          <p:cNvSpPr>
            <a:spLocks noGrp="1"/>
          </p:cNvSpPr>
          <p:nvPr/>
        </p:nvSpPr>
        <p:spPr>
          <a:xfrm>
            <a:off x="6244318" y="2413558"/>
            <a:ext cx="171450" cy="1767917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D828558-32EF-45A2-A8DA-16FA73A56FE2}"/>
              </a:ext>
            </a:extLst>
          </p:cNvPr>
          <p:cNvSpPr>
            <a:spLocks noGrp="1"/>
          </p:cNvSpPr>
          <p:nvPr/>
        </p:nvSpPr>
        <p:spPr>
          <a:xfrm>
            <a:off x="6453868" y="2350229"/>
            <a:ext cx="171450" cy="1831246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A26D57-BE1B-4047-B390-AA6DC336EF3B}"/>
              </a:ext>
            </a:extLst>
          </p:cNvPr>
          <p:cNvSpPr>
            <a:spLocks noGrp="1"/>
          </p:cNvSpPr>
          <p:nvPr/>
        </p:nvSpPr>
        <p:spPr>
          <a:xfrm>
            <a:off x="6091918" y="2242108"/>
            <a:ext cx="381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0.685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3CD9A37-974E-43A3-AAA6-BAD6B691C70E}"/>
              </a:ext>
            </a:extLst>
          </p:cNvPr>
          <p:cNvSpPr>
            <a:spLocks noGrp="1"/>
          </p:cNvSpPr>
          <p:nvPr/>
        </p:nvSpPr>
        <p:spPr>
          <a:xfrm>
            <a:off x="6282418" y="2178779"/>
            <a:ext cx="4572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488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488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0.697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6E0CAB8-C9BC-4E87-A303-DD87DB1930B2}"/>
              </a:ext>
            </a:extLst>
          </p:cNvPr>
          <p:cNvSpPr>
            <a:spLocks noGrp="1"/>
          </p:cNvSpPr>
          <p:nvPr/>
        </p:nvSpPr>
        <p:spPr>
          <a:xfrm>
            <a:off x="6030686" y="4257675"/>
            <a:ext cx="808264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crop +</a:t>
            </a:r>
          </a:p>
          <a:p>
            <a:pPr algn="ctr">
              <a:defRPr sz="5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5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TenCrop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FC35364-07AB-469E-AC87-8BCD061960DC}"/>
              </a:ext>
            </a:extLst>
          </p:cNvPr>
          <p:cNvSpPr>
            <a:spLocks noGrp="1"/>
          </p:cNvSpPr>
          <p:nvPr/>
        </p:nvSpPr>
        <p:spPr>
          <a:xfrm>
            <a:off x="5181600" y="209550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20A48F1-D3AE-4E9F-9F9D-DA4F31F11D17}"/>
              </a:ext>
            </a:extLst>
          </p:cNvPr>
          <p:cNvSpPr>
            <a:spLocks noGrp="1"/>
          </p:cNvSpPr>
          <p:nvPr/>
        </p:nvSpPr>
        <p:spPr>
          <a:xfrm>
            <a:off x="5314950" y="205740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macro F1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52445CE-76C7-41DE-A453-209C0581A409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974890E-522D-4CFB-92E4-8410A9B3D896}"/>
              </a:ext>
            </a:extLst>
          </p:cNvPr>
          <p:cNvSpPr>
            <a:spLocks noGrp="1"/>
          </p:cNvSpPr>
          <p:nvPr/>
        </p:nvSpPr>
        <p:spPr>
          <a:xfrm>
            <a:off x="6134100" y="205740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weighted F1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D7C9D58-0DE5-46FC-A65F-A4E3D97F0B8D}"/>
              </a:ext>
            </a:extLst>
          </p:cNvPr>
          <p:cNvSpPr>
            <a:spLocks noGrp="1"/>
          </p:cNvSpPr>
          <p:nvPr/>
        </p:nvSpPr>
        <p:spPr>
          <a:xfrm>
            <a:off x="7353300" y="1924050"/>
            <a:ext cx="3105150" cy="2933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81982" y="2000250"/>
            <a:ext cx="2847785" cy="27813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03F3CAC8-A6E6-449E-92AE-7BAC2E70151A}"/>
              </a:ext>
            </a:extLst>
          </p:cNvPr>
          <p:cNvSpPr>
            <a:spLocks noGrp="1"/>
          </p:cNvSpPr>
          <p:nvPr/>
        </p:nvSpPr>
        <p:spPr>
          <a:xfrm>
            <a:off x="742950" y="5095875"/>
            <a:ext cx="552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Best EfficientNet-B0 per-class F1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A651DA1-75FC-419B-A3B6-B5EEA6501363}"/>
              </a:ext>
            </a:extLst>
          </p:cNvPr>
          <p:cNvSpPr>
            <a:spLocks noGrp="1"/>
          </p:cNvSpPr>
          <p:nvPr/>
        </p:nvSpPr>
        <p:spPr>
          <a:xfrm>
            <a:off x="742950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8FED6FE-749B-4359-9C7F-7772DE2BD095}"/>
              </a:ext>
            </a:extLst>
          </p:cNvPr>
          <p:cNvSpPr>
            <a:spLocks noGrp="1"/>
          </p:cNvSpPr>
          <p:nvPr/>
        </p:nvSpPr>
        <p:spPr>
          <a:xfrm>
            <a:off x="742950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0.62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1974E11-2AAE-4B6F-B3DE-F0F981BC1213}"/>
              </a:ext>
            </a:extLst>
          </p:cNvPr>
          <p:cNvSpPr>
            <a:spLocks noGrp="1"/>
          </p:cNvSpPr>
          <p:nvPr/>
        </p:nvSpPr>
        <p:spPr>
          <a:xfrm>
            <a:off x="1532164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9FF1650-26EC-4EC4-A791-8EEA63BE5D6B}"/>
              </a:ext>
            </a:extLst>
          </p:cNvPr>
          <p:cNvSpPr>
            <a:spLocks noGrp="1"/>
          </p:cNvSpPr>
          <p:nvPr/>
        </p:nvSpPr>
        <p:spPr>
          <a:xfrm>
            <a:off x="1532164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956E709-23D1-447C-BC81-3D770193F507}"/>
              </a:ext>
            </a:extLst>
          </p:cNvPr>
          <p:cNvSpPr>
            <a:spLocks noGrp="1"/>
          </p:cNvSpPr>
          <p:nvPr/>
        </p:nvSpPr>
        <p:spPr>
          <a:xfrm>
            <a:off x="2321379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E14F9D-E736-411F-BD75-CC7D945E0AC7}"/>
              </a:ext>
            </a:extLst>
          </p:cNvPr>
          <p:cNvSpPr>
            <a:spLocks noGrp="1"/>
          </p:cNvSpPr>
          <p:nvPr/>
        </p:nvSpPr>
        <p:spPr>
          <a:xfrm>
            <a:off x="2321379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E165E45-5635-4289-B6E6-49BCFE0A5AED}"/>
              </a:ext>
            </a:extLst>
          </p:cNvPr>
          <p:cNvSpPr>
            <a:spLocks noGrp="1"/>
          </p:cNvSpPr>
          <p:nvPr/>
        </p:nvSpPr>
        <p:spPr>
          <a:xfrm>
            <a:off x="3110593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AEDB92F-2404-4D07-902F-A4DA57C6BE88}"/>
              </a:ext>
            </a:extLst>
          </p:cNvPr>
          <p:cNvSpPr>
            <a:spLocks noGrp="1"/>
          </p:cNvSpPr>
          <p:nvPr/>
        </p:nvSpPr>
        <p:spPr>
          <a:xfrm>
            <a:off x="3110593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0.88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4CF6ABE-5CCF-48FD-ABF5-8E1DBAC9B078}"/>
              </a:ext>
            </a:extLst>
          </p:cNvPr>
          <p:cNvSpPr>
            <a:spLocks noGrp="1"/>
          </p:cNvSpPr>
          <p:nvPr/>
        </p:nvSpPr>
        <p:spPr>
          <a:xfrm>
            <a:off x="3899807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E29EFE9-2BDD-4864-A251-B1C11C6C7A67}"/>
              </a:ext>
            </a:extLst>
          </p:cNvPr>
          <p:cNvSpPr>
            <a:spLocks noGrp="1"/>
          </p:cNvSpPr>
          <p:nvPr/>
        </p:nvSpPr>
        <p:spPr>
          <a:xfrm>
            <a:off x="3899807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0.58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A1D2EFC-26A0-40E1-A0D7-23395F3B4292}"/>
              </a:ext>
            </a:extLst>
          </p:cNvPr>
          <p:cNvSpPr>
            <a:spLocks noGrp="1"/>
          </p:cNvSpPr>
          <p:nvPr/>
        </p:nvSpPr>
        <p:spPr>
          <a:xfrm>
            <a:off x="4689021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415FC11-18CD-4ABE-B53B-5E6A7DCA7B31}"/>
              </a:ext>
            </a:extLst>
          </p:cNvPr>
          <p:cNvSpPr>
            <a:spLocks noGrp="1"/>
          </p:cNvSpPr>
          <p:nvPr/>
        </p:nvSpPr>
        <p:spPr>
          <a:xfrm>
            <a:off x="4689021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0.81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4E295BC-47A3-44A9-855D-C18D74AD4458}"/>
              </a:ext>
            </a:extLst>
          </p:cNvPr>
          <p:cNvSpPr>
            <a:spLocks noGrp="1"/>
          </p:cNvSpPr>
          <p:nvPr/>
        </p:nvSpPr>
        <p:spPr>
          <a:xfrm>
            <a:off x="5478236" y="5362575"/>
            <a:ext cx="770164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neutral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460C980-4CFE-46B9-89E4-5A206B6C84C6}"/>
              </a:ext>
            </a:extLst>
          </p:cNvPr>
          <p:cNvSpPr>
            <a:spLocks noGrp="1"/>
          </p:cNvSpPr>
          <p:nvPr/>
        </p:nvSpPr>
        <p:spPr>
          <a:xfrm>
            <a:off x="5478236" y="5572125"/>
            <a:ext cx="770164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0.66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0891325-5936-4A4F-A412-3D01E618A609}"/>
              </a:ext>
            </a:extLst>
          </p:cNvPr>
          <p:cNvSpPr>
            <a:spLocks noGrp="1"/>
          </p:cNvSpPr>
          <p:nvPr/>
        </p:nvSpPr>
        <p:spPr>
          <a:xfrm>
            <a:off x="742950" y="5324475"/>
            <a:ext cx="5524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347B448-4A26-4286-B31E-A9DD38441A10}"/>
              </a:ext>
            </a:extLst>
          </p:cNvPr>
          <p:cNvSpPr>
            <a:spLocks noGrp="1"/>
          </p:cNvSpPr>
          <p:nvPr/>
        </p:nvSpPr>
        <p:spPr>
          <a:xfrm>
            <a:off x="742950" y="5800725"/>
            <a:ext cx="5524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E21D5B1-9453-4BDF-B4C6-694E471EE619}"/>
              </a:ext>
            </a:extLst>
          </p:cNvPr>
          <p:cNvSpPr>
            <a:spLocks noGrp="1"/>
          </p:cNvSpPr>
          <p:nvPr/>
        </p:nvSpPr>
        <p:spPr>
          <a:xfrm>
            <a:off x="7239000" y="50292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39EC9CAF-D52E-4A66-86BF-66C99FF4539A}"/>
              </a:ext>
            </a:extLst>
          </p:cNvPr>
          <p:cNvSpPr>
            <a:spLocks noGrp="1"/>
          </p:cNvSpPr>
          <p:nvPr/>
        </p:nvSpPr>
        <p:spPr>
          <a:xfrm>
            <a:off x="7486650" y="4933950"/>
            <a:ext cx="3848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Classifier-only EfficientNet-B0 is weak; last-block unfreezing is the turning point.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B2029F8-7E25-44D0-92FC-35AFCCA140C0}"/>
              </a:ext>
            </a:extLst>
          </p:cNvPr>
          <p:cNvSpPr>
            <a:spLocks noGrp="1"/>
          </p:cNvSpPr>
          <p:nvPr/>
        </p:nvSpPr>
        <p:spPr>
          <a:xfrm>
            <a:off x="7239000" y="539115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2997D78C-C919-4613-9360-1347D39E4FB1}"/>
              </a:ext>
            </a:extLst>
          </p:cNvPr>
          <p:cNvSpPr>
            <a:spLocks noGrp="1"/>
          </p:cNvSpPr>
          <p:nvPr/>
        </p:nvSpPr>
        <p:spPr>
          <a:xfrm>
            <a:off x="7486650" y="5295900"/>
            <a:ext cx="3848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strongest jump comes from moving to the last three MBConv blocks.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2A6087B-D1AF-4D9F-8169-1A02D4E89790}"/>
              </a:ext>
            </a:extLst>
          </p:cNvPr>
          <p:cNvSpPr>
            <a:spLocks noGrp="1"/>
          </p:cNvSpPr>
          <p:nvPr/>
        </p:nvSpPr>
        <p:spPr>
          <a:xfrm>
            <a:off x="7239000" y="57531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5A3B56D-052E-4EBC-AA04-59C4040D940A}"/>
              </a:ext>
            </a:extLst>
          </p:cNvPr>
          <p:cNvSpPr>
            <a:spLocks noGrp="1"/>
          </p:cNvSpPr>
          <p:nvPr/>
        </p:nvSpPr>
        <p:spPr>
          <a:xfrm>
            <a:off x="7486650" y="5657850"/>
            <a:ext cx="3848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Best EfficientNet-B0 slightly exceeds the best ResNet18 FER2013 macro F1.</a:t>
            </a:r>
          </a:p>
        </p:txBody>
      </p:sp>
    </p:spTree>
    <p:extLst>
      <p:ext uri="{BB962C8B-B14F-4D97-AF65-F5344CB8AC3E}">
        <p14:creationId xmlns:p14="http://schemas.microsoft.com/office/powerpoint/2010/main" val="4960631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5B9EDF86-0DB8-4EC5-89DD-68EB75BF3F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2AF0D2-3E48-41C6-88F3-E8E6AA5B14A7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RESULTS AND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1C60E9-B9BE-4504-A009-D057491EFBED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Top confusions show that errors cluster around similar emotions.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9741D8-D211-4025-A280-926A4673C411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613253-72B6-4423-9B55-5B3BD9F2BF15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18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00D022-E10C-4689-B550-93B208E755D2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3811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F417BB-69A6-49DA-83FE-D53745F8BBD9}"/>
              </a:ext>
            </a:extLst>
          </p:cNvPr>
          <p:cNvSpPr>
            <a:spLocks noGrp="1"/>
          </p:cNvSpPr>
          <p:nvPr/>
        </p:nvSpPr>
        <p:spPr>
          <a:xfrm>
            <a:off x="2190750" y="2095500"/>
            <a:ext cx="19526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TOP CONFUSION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A0D8EF-176F-484C-B59B-178251A135D4}"/>
              </a:ext>
            </a:extLst>
          </p:cNvPr>
          <p:cNvSpPr>
            <a:spLocks noGrp="1"/>
          </p:cNvSpPr>
          <p:nvPr/>
        </p:nvSpPr>
        <p:spPr>
          <a:xfrm>
            <a:off x="4191000" y="2095500"/>
            <a:ext cx="685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COUNT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0CEF05-6A88-46C2-AE66-605508DF84C8}"/>
              </a:ext>
            </a:extLst>
          </p:cNvPr>
          <p:cNvSpPr>
            <a:spLocks noGrp="1"/>
          </p:cNvSpPr>
          <p:nvPr/>
        </p:nvSpPr>
        <p:spPr>
          <a:xfrm>
            <a:off x="4953000" y="2095500"/>
            <a:ext cx="76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CLASS RATE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DD7628-2103-414F-97E2-C7A826F98917}"/>
              </a:ext>
            </a:extLst>
          </p:cNvPr>
          <p:cNvSpPr>
            <a:spLocks noGrp="1"/>
          </p:cNvSpPr>
          <p:nvPr/>
        </p:nvSpPr>
        <p:spPr>
          <a:xfrm>
            <a:off x="762000" y="2324100"/>
            <a:ext cx="51435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D75374-B57B-4445-BCC1-512D57ECDDA0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622C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7FE2C4-2B99-49DF-B9E9-72C9F44A547C}"/>
              </a:ext>
            </a:extLst>
          </p:cNvPr>
          <p:cNvSpPr>
            <a:spLocks noGrp="1"/>
          </p:cNvSpPr>
          <p:nvPr/>
        </p:nvSpPr>
        <p:spPr>
          <a:xfrm>
            <a:off x="2190750" y="24574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8A459D-AAEE-4E22-8281-F83969D97026}"/>
              </a:ext>
            </a:extLst>
          </p:cNvPr>
          <p:cNvSpPr>
            <a:spLocks noGrp="1"/>
          </p:cNvSpPr>
          <p:nvPr/>
        </p:nvSpPr>
        <p:spPr>
          <a:xfrm>
            <a:off x="4191000" y="24574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259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2AD2E1-F6DA-49EC-890D-6100A6EFD18A}"/>
              </a:ext>
            </a:extLst>
          </p:cNvPr>
          <p:cNvSpPr>
            <a:spLocks noGrp="1"/>
          </p:cNvSpPr>
          <p:nvPr/>
        </p:nvSpPr>
        <p:spPr>
          <a:xfrm>
            <a:off x="4953000" y="24574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20.8%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9CFA9E-274E-4D8A-B09B-CEA549B501BC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B82BA6-4B70-48B9-B29F-57676A54B148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622C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3CC4AD-C76E-4EAA-8FA5-3B3F543C1677}"/>
              </a:ext>
            </a:extLst>
          </p:cNvPr>
          <p:cNvSpPr>
            <a:spLocks noGrp="1"/>
          </p:cNvSpPr>
          <p:nvPr/>
        </p:nvSpPr>
        <p:spPr>
          <a:xfrm>
            <a:off x="2190750" y="27813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fear -&gt; sad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0067AA-C7B6-4132-8709-0F0567DF94FD}"/>
              </a:ext>
            </a:extLst>
          </p:cNvPr>
          <p:cNvSpPr>
            <a:spLocks noGrp="1"/>
          </p:cNvSpPr>
          <p:nvPr/>
        </p:nvSpPr>
        <p:spPr>
          <a:xfrm>
            <a:off x="4191000" y="27813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233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CB8312-0312-475B-AA40-7648325B163E}"/>
              </a:ext>
            </a:extLst>
          </p:cNvPr>
          <p:cNvSpPr>
            <a:spLocks noGrp="1"/>
          </p:cNvSpPr>
          <p:nvPr/>
        </p:nvSpPr>
        <p:spPr>
          <a:xfrm>
            <a:off x="4953000" y="27813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22.8%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7B69E8-7060-469C-AED4-69805E510B86}"/>
              </a:ext>
            </a:extLst>
          </p:cNvPr>
          <p:cNvSpPr>
            <a:spLocks noGrp="1"/>
          </p:cNvSpPr>
          <p:nvPr/>
        </p:nvSpPr>
        <p:spPr>
          <a:xfrm>
            <a:off x="762000" y="30384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AD71C3-F5EC-433C-918C-2478A80578D7}"/>
              </a:ext>
            </a:extLst>
          </p:cNvPr>
          <p:cNvSpPr>
            <a:spLocks noGrp="1"/>
          </p:cNvSpPr>
          <p:nvPr/>
        </p:nvSpPr>
        <p:spPr>
          <a:xfrm>
            <a:off x="762000" y="31051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5622C"/>
                </a:solidFill>
                <a:latin typeface="Aptos"/>
                <a:ea typeface="Aptos"/>
                <a:cs typeface="Aptos"/>
              </a:rPr>
              <a:t>Custom CNN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CCC209-9BF7-4C31-8642-21AC9209DCE2}"/>
              </a:ext>
            </a:extLst>
          </p:cNvPr>
          <p:cNvSpPr>
            <a:spLocks noGrp="1"/>
          </p:cNvSpPr>
          <p:nvPr/>
        </p:nvSpPr>
        <p:spPr>
          <a:xfrm>
            <a:off x="2190750" y="31051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neutral -&gt; sad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67B6F4-611A-40BD-832D-48A16815828C}"/>
              </a:ext>
            </a:extLst>
          </p:cNvPr>
          <p:cNvSpPr>
            <a:spLocks noGrp="1"/>
          </p:cNvSpPr>
          <p:nvPr/>
        </p:nvSpPr>
        <p:spPr>
          <a:xfrm>
            <a:off x="4191000" y="31051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34E19F-9912-47EC-A870-909541762ABA}"/>
              </a:ext>
            </a:extLst>
          </p:cNvPr>
          <p:cNvSpPr>
            <a:spLocks noGrp="1"/>
          </p:cNvSpPr>
          <p:nvPr/>
        </p:nvSpPr>
        <p:spPr>
          <a:xfrm>
            <a:off x="4953000" y="31051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13.1%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469126-2374-436D-B16B-56D0F4FD0339}"/>
              </a:ext>
            </a:extLst>
          </p:cNvPr>
          <p:cNvSpPr>
            <a:spLocks noGrp="1"/>
          </p:cNvSpPr>
          <p:nvPr/>
        </p:nvSpPr>
        <p:spPr>
          <a:xfrm>
            <a:off x="762000" y="33623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EE341E-0867-4EAF-82FC-36C5EF263683}"/>
              </a:ext>
            </a:extLst>
          </p:cNvPr>
          <p:cNvSpPr>
            <a:spLocks noGrp="1"/>
          </p:cNvSpPr>
          <p:nvPr/>
        </p:nvSpPr>
        <p:spPr>
          <a:xfrm>
            <a:off x="762000" y="34290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5F9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E88F5B-DC72-48BD-9A5E-7BC37248C0BD}"/>
              </a:ext>
            </a:extLst>
          </p:cNvPr>
          <p:cNvSpPr>
            <a:spLocks noGrp="1"/>
          </p:cNvSpPr>
          <p:nvPr/>
        </p:nvSpPr>
        <p:spPr>
          <a:xfrm>
            <a:off x="2190750" y="34290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12D631E-7E01-4ACD-8B1B-B520AB954462}"/>
              </a:ext>
            </a:extLst>
          </p:cNvPr>
          <p:cNvSpPr>
            <a:spLocks noGrp="1"/>
          </p:cNvSpPr>
          <p:nvPr/>
        </p:nvSpPr>
        <p:spPr>
          <a:xfrm>
            <a:off x="4191000" y="34290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517582-530E-4CA4-8925-A24B5ACB2EFF}"/>
              </a:ext>
            </a:extLst>
          </p:cNvPr>
          <p:cNvSpPr>
            <a:spLocks noGrp="1"/>
          </p:cNvSpPr>
          <p:nvPr/>
        </p:nvSpPr>
        <p:spPr>
          <a:xfrm>
            <a:off x="4953000" y="34290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16.0%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A94D4C5-C9B1-478F-BE95-F85CA8E79FBD}"/>
              </a:ext>
            </a:extLst>
          </p:cNvPr>
          <p:cNvSpPr>
            <a:spLocks noGrp="1"/>
          </p:cNvSpPr>
          <p:nvPr/>
        </p:nvSpPr>
        <p:spPr>
          <a:xfrm>
            <a:off x="762000" y="36861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D0019A-0556-4488-BACD-004BB0D1504A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5F9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AFC615F-622B-4311-9507-1BCB441A3331}"/>
              </a:ext>
            </a:extLst>
          </p:cNvPr>
          <p:cNvSpPr>
            <a:spLocks noGrp="1"/>
          </p:cNvSpPr>
          <p:nvPr/>
        </p:nvSpPr>
        <p:spPr>
          <a:xfrm>
            <a:off x="2190750" y="37528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fear -&gt; sad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771AD5A-CD39-4604-A157-F04AC4DF89CB}"/>
              </a:ext>
            </a:extLst>
          </p:cNvPr>
          <p:cNvSpPr>
            <a:spLocks noGrp="1"/>
          </p:cNvSpPr>
          <p:nvPr/>
        </p:nvSpPr>
        <p:spPr>
          <a:xfrm>
            <a:off x="4191000" y="37528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197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9032C0-C870-462D-A914-A15D4A53D676}"/>
              </a:ext>
            </a:extLst>
          </p:cNvPr>
          <p:cNvSpPr>
            <a:spLocks noGrp="1"/>
          </p:cNvSpPr>
          <p:nvPr/>
        </p:nvSpPr>
        <p:spPr>
          <a:xfrm>
            <a:off x="4953000" y="37528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19.2%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F850A53-1749-4F25-B434-275C7A65BB76}"/>
              </a:ext>
            </a:extLst>
          </p:cNvPr>
          <p:cNvSpPr>
            <a:spLocks noGrp="1"/>
          </p:cNvSpPr>
          <p:nvPr/>
        </p:nvSpPr>
        <p:spPr>
          <a:xfrm>
            <a:off x="762000" y="40100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B8E71B-6445-473D-8F0D-444799D78697}"/>
              </a:ext>
            </a:extLst>
          </p:cNvPr>
          <p:cNvSpPr>
            <a:spLocks noGrp="1"/>
          </p:cNvSpPr>
          <p:nvPr/>
        </p:nvSpPr>
        <p:spPr>
          <a:xfrm>
            <a:off x="762000" y="40767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E5F99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5755C3-DE89-4C44-ABC2-B3327723111A}"/>
              </a:ext>
            </a:extLst>
          </p:cNvPr>
          <p:cNvSpPr>
            <a:spLocks noGrp="1"/>
          </p:cNvSpPr>
          <p:nvPr/>
        </p:nvSpPr>
        <p:spPr>
          <a:xfrm>
            <a:off x="2190750" y="40767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neutral -&gt; sad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F7229DC-B307-4164-8311-B5DC4C667B80}"/>
              </a:ext>
            </a:extLst>
          </p:cNvPr>
          <p:cNvSpPr>
            <a:spLocks noGrp="1"/>
          </p:cNvSpPr>
          <p:nvPr/>
        </p:nvSpPr>
        <p:spPr>
          <a:xfrm>
            <a:off x="4191000" y="40767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6F7DBC6-2C42-491D-B3BB-C0CA608B6B6B}"/>
              </a:ext>
            </a:extLst>
          </p:cNvPr>
          <p:cNvSpPr>
            <a:spLocks noGrp="1"/>
          </p:cNvSpPr>
          <p:nvPr/>
        </p:nvSpPr>
        <p:spPr>
          <a:xfrm>
            <a:off x="4953000" y="40767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13.1%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D22871-B262-4D62-A25A-8E04E1D4EFC4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21FCFF-A421-4B59-8CF7-A0846086D19F}"/>
              </a:ext>
            </a:extLst>
          </p:cNvPr>
          <p:cNvSpPr>
            <a:spLocks noGrp="1"/>
          </p:cNvSpPr>
          <p:nvPr/>
        </p:nvSpPr>
        <p:spPr>
          <a:xfrm>
            <a:off x="762000" y="44005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7B72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11AD316-2FDE-4D8E-A36A-BBCC03EC95CF}"/>
              </a:ext>
            </a:extLst>
          </p:cNvPr>
          <p:cNvSpPr>
            <a:spLocks noGrp="1"/>
          </p:cNvSpPr>
          <p:nvPr/>
        </p:nvSpPr>
        <p:spPr>
          <a:xfrm>
            <a:off x="2190750" y="44005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neutral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5114EF6-BCBC-45AE-A4BE-31DA467DCD18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206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C8A2B3C-279C-407B-8605-4146DC248E3E}"/>
              </a:ext>
            </a:extLst>
          </p:cNvPr>
          <p:cNvSpPr>
            <a:spLocks noGrp="1"/>
          </p:cNvSpPr>
          <p:nvPr/>
        </p:nvSpPr>
        <p:spPr>
          <a:xfrm>
            <a:off x="4953000" y="44005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16.5%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1CD7D69-A0FE-4CA0-A791-23DAA611E26A}"/>
              </a:ext>
            </a:extLst>
          </p:cNvPr>
          <p:cNvSpPr>
            <a:spLocks noGrp="1"/>
          </p:cNvSpPr>
          <p:nvPr/>
        </p:nvSpPr>
        <p:spPr>
          <a:xfrm>
            <a:off x="762000" y="46577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8568C78-735A-4D8B-BE57-8721AE0C8C01}"/>
              </a:ext>
            </a:extLst>
          </p:cNvPr>
          <p:cNvSpPr>
            <a:spLocks noGrp="1"/>
          </p:cNvSpPr>
          <p:nvPr/>
        </p:nvSpPr>
        <p:spPr>
          <a:xfrm>
            <a:off x="762000" y="472440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7B72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C71D984-9FBA-4765-B924-F5E6AF206ADE}"/>
              </a:ext>
            </a:extLst>
          </p:cNvPr>
          <p:cNvSpPr>
            <a:spLocks noGrp="1"/>
          </p:cNvSpPr>
          <p:nvPr/>
        </p:nvSpPr>
        <p:spPr>
          <a:xfrm>
            <a:off x="2190750" y="472440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fear -&gt; sad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BC71354-FB8E-489A-B069-53ABC58A5A6B}"/>
              </a:ext>
            </a:extLst>
          </p:cNvPr>
          <p:cNvSpPr>
            <a:spLocks noGrp="1"/>
          </p:cNvSpPr>
          <p:nvPr/>
        </p:nvSpPr>
        <p:spPr>
          <a:xfrm>
            <a:off x="4191000" y="472440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163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0BC3D56-05F0-46C5-908B-372AEF7480FC}"/>
              </a:ext>
            </a:extLst>
          </p:cNvPr>
          <p:cNvSpPr>
            <a:spLocks noGrp="1"/>
          </p:cNvSpPr>
          <p:nvPr/>
        </p:nvSpPr>
        <p:spPr>
          <a:xfrm>
            <a:off x="4953000" y="472440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15.9%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5195A10-4844-4D5C-8835-0AFFBA2FA77D}"/>
              </a:ext>
            </a:extLst>
          </p:cNvPr>
          <p:cNvSpPr>
            <a:spLocks noGrp="1"/>
          </p:cNvSpPr>
          <p:nvPr/>
        </p:nvSpPr>
        <p:spPr>
          <a:xfrm>
            <a:off x="762000" y="498157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80EDE4-DD19-4A79-807E-87760A66FE74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1381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57B72"/>
                </a:solidFill>
                <a:latin typeface="Aptos"/>
                <a:ea typeface="Aptos"/>
                <a:cs typeface="Aptos"/>
              </a:rPr>
              <a:t>EfficientNet-B0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7DCF7C5-27FE-48E2-A376-BBF74D8F6249}"/>
              </a:ext>
            </a:extLst>
          </p:cNvPr>
          <p:cNvSpPr>
            <a:spLocks noGrp="1"/>
          </p:cNvSpPr>
          <p:nvPr/>
        </p:nvSpPr>
        <p:spPr>
          <a:xfrm>
            <a:off x="2190750" y="5048250"/>
            <a:ext cx="19526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 -&gt; fear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F1A7F9A-2735-429D-B074-3B38E18F708B}"/>
              </a:ext>
            </a:extLst>
          </p:cNvPr>
          <p:cNvSpPr>
            <a:spLocks noGrp="1"/>
          </p:cNvSpPr>
          <p:nvPr/>
        </p:nvSpPr>
        <p:spPr>
          <a:xfrm>
            <a:off x="4191000" y="5048250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154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9B8C3DB-B7B9-4AB9-B628-1B48B6EFAFA2}"/>
              </a:ext>
            </a:extLst>
          </p:cNvPr>
          <p:cNvSpPr>
            <a:spLocks noGrp="1"/>
          </p:cNvSpPr>
          <p:nvPr/>
        </p:nvSpPr>
        <p:spPr>
          <a:xfrm>
            <a:off x="4953000" y="5048250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12.3%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7E51DDB-83FB-4E1B-BBBB-BC8B6021DCE0}"/>
              </a:ext>
            </a:extLst>
          </p:cNvPr>
          <p:cNvSpPr>
            <a:spLocks noGrp="1"/>
          </p:cNvSpPr>
          <p:nvPr/>
        </p:nvSpPr>
        <p:spPr>
          <a:xfrm>
            <a:off x="762000" y="5305425"/>
            <a:ext cx="514350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E29500B-CE01-406E-8475-F947AEAC911C}"/>
              </a:ext>
            </a:extLst>
          </p:cNvPr>
          <p:cNvSpPr>
            <a:spLocks noGrp="1"/>
          </p:cNvSpPr>
          <p:nvPr/>
        </p:nvSpPr>
        <p:spPr>
          <a:xfrm>
            <a:off x="6667500" y="24955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09DBB57-A611-4D13-8119-2535B69C0F0D}"/>
              </a:ext>
            </a:extLst>
          </p:cNvPr>
          <p:cNvSpPr>
            <a:spLocks noGrp="1"/>
          </p:cNvSpPr>
          <p:nvPr/>
        </p:nvSpPr>
        <p:spPr>
          <a:xfrm>
            <a:off x="6915150" y="240030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Sad, fear, and neutral dominate the top mistakes.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2DFBEA3-776C-4E4E-BDB6-A81B02EB7835}"/>
              </a:ext>
            </a:extLst>
          </p:cNvPr>
          <p:cNvSpPr>
            <a:spLocks noGrp="1"/>
          </p:cNvSpPr>
          <p:nvPr/>
        </p:nvSpPr>
        <p:spPr>
          <a:xfrm>
            <a:off x="6667500" y="31623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7EB4E2A-DE00-40A8-BF51-851E08B57513}"/>
              </a:ext>
            </a:extLst>
          </p:cNvPr>
          <p:cNvSpPr>
            <a:spLocks noGrp="1"/>
          </p:cNvSpPr>
          <p:nvPr/>
        </p:nvSpPr>
        <p:spPr>
          <a:xfrm>
            <a:off x="6915150" y="306705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same error families appear across model architectures.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7C442A7-E769-400E-A51A-816E4F2CCA59}"/>
              </a:ext>
            </a:extLst>
          </p:cNvPr>
          <p:cNvSpPr>
            <a:spLocks noGrp="1"/>
          </p:cNvSpPr>
          <p:nvPr/>
        </p:nvSpPr>
        <p:spPr>
          <a:xfrm>
            <a:off x="6667500" y="38290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DF4513B-DE92-4496-BAC7-40871056C59E}"/>
              </a:ext>
            </a:extLst>
          </p:cNvPr>
          <p:cNvSpPr>
            <a:spLocks noGrp="1"/>
          </p:cNvSpPr>
          <p:nvPr/>
        </p:nvSpPr>
        <p:spPr>
          <a:xfrm>
            <a:off x="6915150" y="373380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This supports the affect-circumplex interpretation: adjacent emotions are harder to separate.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6BA1544-046E-468A-8DEF-1F0229BE4CC3}"/>
              </a:ext>
            </a:extLst>
          </p:cNvPr>
          <p:cNvSpPr>
            <a:spLocks noGrp="1"/>
          </p:cNvSpPr>
          <p:nvPr/>
        </p:nvSpPr>
        <p:spPr>
          <a:xfrm>
            <a:off x="6667500" y="44958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BBD8A75-478D-4773-A516-90A5FADBE734}"/>
              </a:ext>
            </a:extLst>
          </p:cNvPr>
          <p:cNvSpPr>
            <a:spLocks noGrp="1"/>
          </p:cNvSpPr>
          <p:nvPr/>
        </p:nvSpPr>
        <p:spPr>
          <a:xfrm>
            <a:off x="6915150" y="4400550"/>
            <a:ext cx="3848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The best model improves the score, but does not remove class ambiguity.</a:t>
            </a:r>
          </a:p>
        </p:txBody>
      </p:sp>
    </p:spTree>
    <p:extLst>
      <p:ext uri="{BB962C8B-B14F-4D97-AF65-F5344CB8AC3E}">
        <p14:creationId xmlns:p14="http://schemas.microsoft.com/office/powerpoint/2010/main" val="927504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62D1C43-E906-4CA4-A754-27365328FB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6A2B69-820A-4DC8-B169-E8337DB3A2DE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COMPARISON AGAINST BASELINES AND STATE OF THE 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7D13C8-862E-488E-B409-10BA07E5ECD1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FER2013 and CK+ comparisons show both improvement and domain shift.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011A80-45D0-41D7-8221-26923B25DD59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9782A-338D-4DB5-B5F7-6F1C497DF634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19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4E5FD-235D-4670-9EFA-E25A13E015F7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32766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BAD55-DE07-4067-AFD6-152293A9134E}"/>
              </a:ext>
            </a:extLst>
          </p:cNvPr>
          <p:cNvSpPr>
            <a:spLocks noGrp="1"/>
          </p:cNvSpPr>
          <p:nvPr/>
        </p:nvSpPr>
        <p:spPr>
          <a:xfrm>
            <a:off x="1009650" y="3857625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53AD71-0A00-44FE-B49D-DCD263C3CC20}"/>
              </a:ext>
            </a:extLst>
          </p:cNvPr>
          <p:cNvSpPr>
            <a:spLocks noGrp="1"/>
          </p:cNvSpPr>
          <p:nvPr/>
        </p:nvSpPr>
        <p:spPr>
          <a:xfrm>
            <a:off x="723900" y="378142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0.50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A1B9CA-A9FA-4E7B-8FAB-61AAE3C9E143}"/>
              </a:ext>
            </a:extLst>
          </p:cNvPr>
          <p:cNvSpPr>
            <a:spLocks noGrp="1"/>
          </p:cNvSpPr>
          <p:nvPr/>
        </p:nvSpPr>
        <p:spPr>
          <a:xfrm>
            <a:off x="1009650" y="3535680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DC80E3-016C-48D3-9EBF-66CA90A61B2D}"/>
              </a:ext>
            </a:extLst>
          </p:cNvPr>
          <p:cNvSpPr>
            <a:spLocks noGrp="1"/>
          </p:cNvSpPr>
          <p:nvPr/>
        </p:nvSpPr>
        <p:spPr>
          <a:xfrm>
            <a:off x="723900" y="345948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4D6735-1DEE-4CDC-B215-32C6CF9D4B04}"/>
              </a:ext>
            </a:extLst>
          </p:cNvPr>
          <p:cNvSpPr>
            <a:spLocks noGrp="1"/>
          </p:cNvSpPr>
          <p:nvPr/>
        </p:nvSpPr>
        <p:spPr>
          <a:xfrm>
            <a:off x="1009650" y="3213735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5429A-ACC6-42CF-ABE0-5A2FAD573079}"/>
              </a:ext>
            </a:extLst>
          </p:cNvPr>
          <p:cNvSpPr>
            <a:spLocks noGrp="1"/>
          </p:cNvSpPr>
          <p:nvPr/>
        </p:nvSpPr>
        <p:spPr>
          <a:xfrm>
            <a:off x="723900" y="313753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0.60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A60EDF-8D67-431C-A04F-C39E99CCA2B7}"/>
              </a:ext>
            </a:extLst>
          </p:cNvPr>
          <p:cNvSpPr>
            <a:spLocks noGrp="1"/>
          </p:cNvSpPr>
          <p:nvPr/>
        </p:nvSpPr>
        <p:spPr>
          <a:xfrm>
            <a:off x="1009650" y="2891790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8EC7F2-9DBE-4BC6-993B-CCEFC0901AB3}"/>
              </a:ext>
            </a:extLst>
          </p:cNvPr>
          <p:cNvSpPr>
            <a:spLocks noGrp="1"/>
          </p:cNvSpPr>
          <p:nvPr/>
        </p:nvSpPr>
        <p:spPr>
          <a:xfrm>
            <a:off x="723900" y="281559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0.65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58EA9D-AE94-4AFA-A730-B11908D10655}"/>
              </a:ext>
            </a:extLst>
          </p:cNvPr>
          <p:cNvSpPr>
            <a:spLocks noGrp="1"/>
          </p:cNvSpPr>
          <p:nvPr/>
        </p:nvSpPr>
        <p:spPr>
          <a:xfrm>
            <a:off x="1009650" y="2569845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EB8594-DFE3-48B5-BB99-1DAF02042E1A}"/>
              </a:ext>
            </a:extLst>
          </p:cNvPr>
          <p:cNvSpPr>
            <a:spLocks noGrp="1"/>
          </p:cNvSpPr>
          <p:nvPr/>
        </p:nvSpPr>
        <p:spPr>
          <a:xfrm>
            <a:off x="723900" y="2493645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0.70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AF10A6-E9DF-4082-B331-909E6B60701D}"/>
              </a:ext>
            </a:extLst>
          </p:cNvPr>
          <p:cNvSpPr>
            <a:spLocks noGrp="1"/>
          </p:cNvSpPr>
          <p:nvPr/>
        </p:nvSpPr>
        <p:spPr>
          <a:xfrm>
            <a:off x="1009650" y="2247900"/>
            <a:ext cx="3276600" cy="9525"/>
          </a:xfrm>
          <a:prstGeom prst="rect">
            <a:avLst/>
          </a:prstGeom>
          <a:solidFill>
            <a:srgbClr val="E6E2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2BEFEC-972E-494E-B13C-57859854578F}"/>
              </a:ext>
            </a:extLst>
          </p:cNvPr>
          <p:cNvSpPr>
            <a:spLocks noGrp="1"/>
          </p:cNvSpPr>
          <p:nvPr/>
        </p:nvSpPr>
        <p:spPr>
          <a:xfrm>
            <a:off x="723900" y="2171700"/>
            <a:ext cx="266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0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1C1288B-D37F-4C91-8EA2-577B21BFAEB3}"/>
              </a:ext>
            </a:extLst>
          </p:cNvPr>
          <p:cNvSpPr>
            <a:spLocks noGrp="1"/>
          </p:cNvSpPr>
          <p:nvPr/>
        </p:nvSpPr>
        <p:spPr>
          <a:xfrm>
            <a:off x="1114425" y="3078099"/>
            <a:ext cx="171450" cy="779526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373D83-6D79-409E-B29B-E2ED1EEC16C1}"/>
              </a:ext>
            </a:extLst>
          </p:cNvPr>
          <p:cNvSpPr>
            <a:spLocks noGrp="1"/>
          </p:cNvSpPr>
          <p:nvPr/>
        </p:nvSpPr>
        <p:spPr>
          <a:xfrm>
            <a:off x="1323975" y="2449449"/>
            <a:ext cx="171450" cy="1408176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73A3A0-FE3C-427B-A964-BBDE811A8441}"/>
              </a:ext>
            </a:extLst>
          </p:cNvPr>
          <p:cNvSpPr>
            <a:spLocks noGrp="1"/>
          </p:cNvSpPr>
          <p:nvPr/>
        </p:nvSpPr>
        <p:spPr>
          <a:xfrm>
            <a:off x="723900" y="3933825"/>
            <a:ext cx="1162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Custom</a:t>
            </a:r>
          </a:p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CNN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311EB9-A593-4500-BFDD-79F602C03FEB}"/>
              </a:ext>
            </a:extLst>
          </p:cNvPr>
          <p:cNvSpPr>
            <a:spLocks noGrp="1"/>
          </p:cNvSpPr>
          <p:nvPr/>
        </p:nvSpPr>
        <p:spPr>
          <a:xfrm>
            <a:off x="2352675" y="2713482"/>
            <a:ext cx="171450" cy="1144143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BE2E51-F84D-4BFA-AC48-C40D54F5B240}"/>
              </a:ext>
            </a:extLst>
          </p:cNvPr>
          <p:cNvSpPr>
            <a:spLocks noGrp="1"/>
          </p:cNvSpPr>
          <p:nvPr/>
        </p:nvSpPr>
        <p:spPr>
          <a:xfrm>
            <a:off x="2562225" y="2556320"/>
            <a:ext cx="171450" cy="130130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CF8776-2633-4C2F-B22C-EF87363C237D}"/>
              </a:ext>
            </a:extLst>
          </p:cNvPr>
          <p:cNvSpPr>
            <a:spLocks noGrp="1"/>
          </p:cNvSpPr>
          <p:nvPr/>
        </p:nvSpPr>
        <p:spPr>
          <a:xfrm>
            <a:off x="1962150" y="3933825"/>
            <a:ext cx="1162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ResNet18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5D080C7-EAF3-418B-82F8-F7D99823BA96}"/>
              </a:ext>
            </a:extLst>
          </p:cNvPr>
          <p:cNvSpPr>
            <a:spLocks noGrp="1"/>
          </p:cNvSpPr>
          <p:nvPr/>
        </p:nvSpPr>
        <p:spPr>
          <a:xfrm>
            <a:off x="3590925" y="2694623"/>
            <a:ext cx="171450" cy="1163003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751EC9-65D0-496D-8299-B60B081B52A9}"/>
              </a:ext>
            </a:extLst>
          </p:cNvPr>
          <p:cNvSpPr>
            <a:spLocks noGrp="1"/>
          </p:cNvSpPr>
          <p:nvPr/>
        </p:nvSpPr>
        <p:spPr>
          <a:xfrm>
            <a:off x="3800475" y="3505581"/>
            <a:ext cx="171450" cy="352044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ECAC12-68B3-4A12-82BA-661B69F59B67}"/>
              </a:ext>
            </a:extLst>
          </p:cNvPr>
          <p:cNvSpPr>
            <a:spLocks noGrp="1"/>
          </p:cNvSpPr>
          <p:nvPr/>
        </p:nvSpPr>
        <p:spPr>
          <a:xfrm>
            <a:off x="3200400" y="3933825"/>
            <a:ext cx="1162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EfficientNet</a:t>
            </a:r>
          </a:p>
          <a:p>
            <a:pPr algn="ctr">
              <a:defRPr sz="7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-B0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ACC4B1-8858-43A4-9CE7-38465003F3EA}"/>
              </a:ext>
            </a:extLst>
          </p:cNvPr>
          <p:cNvSpPr>
            <a:spLocks noGrp="1"/>
          </p:cNvSpPr>
          <p:nvPr/>
        </p:nvSpPr>
        <p:spPr>
          <a:xfrm>
            <a:off x="2705100" y="2152650"/>
            <a:ext cx="85725" cy="8572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6309BAB-CED3-4443-88E0-3DB3685142FA}"/>
              </a:ext>
            </a:extLst>
          </p:cNvPr>
          <p:cNvSpPr>
            <a:spLocks noGrp="1"/>
          </p:cNvSpPr>
          <p:nvPr/>
        </p:nvSpPr>
        <p:spPr>
          <a:xfrm>
            <a:off x="2838450" y="2114550"/>
            <a:ext cx="6096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FER2013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808E3F-2224-433A-82E2-5C2369AF47B0}"/>
              </a:ext>
            </a:extLst>
          </p:cNvPr>
          <p:cNvSpPr>
            <a:spLocks noGrp="1"/>
          </p:cNvSpPr>
          <p:nvPr/>
        </p:nvSpPr>
        <p:spPr>
          <a:xfrm>
            <a:off x="3524250" y="2152650"/>
            <a:ext cx="85725" cy="8572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EAAEC0A-0DA5-42F4-8E1A-EF81FC6984CE}"/>
              </a:ext>
            </a:extLst>
          </p:cNvPr>
          <p:cNvSpPr>
            <a:spLocks noGrp="1"/>
          </p:cNvSpPr>
          <p:nvPr/>
        </p:nvSpPr>
        <p:spPr>
          <a:xfrm>
            <a:off x="3657600" y="2114550"/>
            <a:ext cx="742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CK+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9D2AC7-B230-4DB5-9290-61DC7346A9FD}"/>
              </a:ext>
            </a:extLst>
          </p:cNvPr>
          <p:cNvSpPr>
            <a:spLocks noGrp="1"/>
          </p:cNvSpPr>
          <p:nvPr/>
        </p:nvSpPr>
        <p:spPr>
          <a:xfrm>
            <a:off x="6924675" y="1962150"/>
            <a:ext cx="2343150" cy="181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00875" y="2302866"/>
            <a:ext cx="2190750" cy="1137843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70DC9EA8-46D8-4663-B893-C9850E9946C3}"/>
              </a:ext>
            </a:extLst>
          </p:cNvPr>
          <p:cNvSpPr>
            <a:spLocks noGrp="1"/>
          </p:cNvSpPr>
          <p:nvPr/>
        </p:nvSpPr>
        <p:spPr>
          <a:xfrm>
            <a:off x="9353550" y="1962150"/>
            <a:ext cx="2343150" cy="1819275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429750" y="2356902"/>
            <a:ext cx="2190750" cy="102977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E1BF8B29-AB52-40FF-BCC7-F9205E651FE8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CK+ Custom CNN per-class F1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0E0BCF-A4A3-4AE4-9E1E-DDD1B8877A0E}"/>
              </a:ext>
            </a:extLst>
          </p:cNvPr>
          <p:cNvSpPr>
            <a:spLocks noGrp="1"/>
          </p:cNvSpPr>
          <p:nvPr/>
        </p:nvSpPr>
        <p:spPr>
          <a:xfrm>
            <a:off x="7048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8C8A26B-3585-4E39-9D58-168FE0F888D3}"/>
              </a:ext>
            </a:extLst>
          </p:cNvPr>
          <p:cNvSpPr>
            <a:spLocks noGrp="1"/>
          </p:cNvSpPr>
          <p:nvPr/>
        </p:nvSpPr>
        <p:spPr>
          <a:xfrm>
            <a:off x="7048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CA40FD-EA47-48DE-BD3F-BAF3E785ECF5}"/>
              </a:ext>
            </a:extLst>
          </p:cNvPr>
          <p:cNvSpPr>
            <a:spLocks noGrp="1"/>
          </p:cNvSpPr>
          <p:nvPr/>
        </p:nvSpPr>
        <p:spPr>
          <a:xfrm>
            <a:off x="12287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6B5630-7DA1-40FD-A512-5A84C55B3CA4}"/>
              </a:ext>
            </a:extLst>
          </p:cNvPr>
          <p:cNvSpPr>
            <a:spLocks noGrp="1"/>
          </p:cNvSpPr>
          <p:nvPr/>
        </p:nvSpPr>
        <p:spPr>
          <a:xfrm>
            <a:off x="12287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0.81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CF6EF9-C35E-4E1E-A15A-AE0277ED1333}"/>
              </a:ext>
            </a:extLst>
          </p:cNvPr>
          <p:cNvSpPr>
            <a:spLocks noGrp="1"/>
          </p:cNvSpPr>
          <p:nvPr/>
        </p:nvSpPr>
        <p:spPr>
          <a:xfrm>
            <a:off x="17526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C3808D-BEAF-4A69-8663-EF7A031C06FF}"/>
              </a:ext>
            </a:extLst>
          </p:cNvPr>
          <p:cNvSpPr>
            <a:spLocks noGrp="1"/>
          </p:cNvSpPr>
          <p:nvPr/>
        </p:nvSpPr>
        <p:spPr>
          <a:xfrm>
            <a:off x="17526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0.49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4EFCC97-0AE3-4FC9-8F51-1C6E94FF953C}"/>
              </a:ext>
            </a:extLst>
          </p:cNvPr>
          <p:cNvSpPr>
            <a:spLocks noGrp="1"/>
          </p:cNvSpPr>
          <p:nvPr/>
        </p:nvSpPr>
        <p:spPr>
          <a:xfrm>
            <a:off x="22764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271F6EF-EA82-4A31-828C-9675FF30DAD4}"/>
              </a:ext>
            </a:extLst>
          </p:cNvPr>
          <p:cNvSpPr>
            <a:spLocks noGrp="1"/>
          </p:cNvSpPr>
          <p:nvPr/>
        </p:nvSpPr>
        <p:spPr>
          <a:xfrm>
            <a:off x="22764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5AF0865-D990-4F3C-A491-A6DE72CA004D}"/>
              </a:ext>
            </a:extLst>
          </p:cNvPr>
          <p:cNvSpPr>
            <a:spLocks noGrp="1"/>
          </p:cNvSpPr>
          <p:nvPr/>
        </p:nvSpPr>
        <p:spPr>
          <a:xfrm>
            <a:off x="28003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735943-656E-48D4-B804-2A399B9EBAC3}"/>
              </a:ext>
            </a:extLst>
          </p:cNvPr>
          <p:cNvSpPr>
            <a:spLocks noGrp="1"/>
          </p:cNvSpPr>
          <p:nvPr/>
        </p:nvSpPr>
        <p:spPr>
          <a:xfrm>
            <a:off x="28003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6FEE8FB-0612-4F93-AB93-A61ED4B87431}"/>
              </a:ext>
            </a:extLst>
          </p:cNvPr>
          <p:cNvSpPr>
            <a:spLocks noGrp="1"/>
          </p:cNvSpPr>
          <p:nvPr/>
        </p:nvSpPr>
        <p:spPr>
          <a:xfrm>
            <a:off x="33242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B0BE42-BFFB-44C6-870F-56124B41E241}"/>
              </a:ext>
            </a:extLst>
          </p:cNvPr>
          <p:cNvSpPr>
            <a:spLocks noGrp="1"/>
          </p:cNvSpPr>
          <p:nvPr/>
        </p:nvSpPr>
        <p:spPr>
          <a:xfrm>
            <a:off x="33242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4FB661D-E0D9-43C8-BB9F-DFC23AD4279D}"/>
              </a:ext>
            </a:extLst>
          </p:cNvPr>
          <p:cNvSpPr>
            <a:spLocks noGrp="1"/>
          </p:cNvSpPr>
          <p:nvPr/>
        </p:nvSpPr>
        <p:spPr>
          <a:xfrm>
            <a:off x="704850" y="518160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0D41269-67EF-4864-BA53-3381C74CF5A1}"/>
              </a:ext>
            </a:extLst>
          </p:cNvPr>
          <p:cNvSpPr>
            <a:spLocks noGrp="1"/>
          </p:cNvSpPr>
          <p:nvPr/>
        </p:nvSpPr>
        <p:spPr>
          <a:xfrm>
            <a:off x="704850" y="565785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3166AED-18C0-4083-83BF-55A5286C45B4}"/>
              </a:ext>
            </a:extLst>
          </p:cNvPr>
          <p:cNvSpPr>
            <a:spLocks noGrp="1"/>
          </p:cNvSpPr>
          <p:nvPr/>
        </p:nvSpPr>
        <p:spPr>
          <a:xfrm>
            <a:off x="4419600" y="49530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CK+ ResNet18 per-class F1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6749CB8-A238-4593-8D60-707DF78D1C0D}"/>
              </a:ext>
            </a:extLst>
          </p:cNvPr>
          <p:cNvSpPr>
            <a:spLocks noGrp="1"/>
          </p:cNvSpPr>
          <p:nvPr/>
        </p:nvSpPr>
        <p:spPr>
          <a:xfrm>
            <a:off x="44196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CD7CF2F-AB92-4357-A925-4306F443D68F}"/>
              </a:ext>
            </a:extLst>
          </p:cNvPr>
          <p:cNvSpPr>
            <a:spLocks noGrp="1"/>
          </p:cNvSpPr>
          <p:nvPr/>
        </p:nvSpPr>
        <p:spPr>
          <a:xfrm>
            <a:off x="44196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0.57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757C129-1C2C-461C-B957-D2786CC2172A}"/>
              </a:ext>
            </a:extLst>
          </p:cNvPr>
          <p:cNvSpPr>
            <a:spLocks noGrp="1"/>
          </p:cNvSpPr>
          <p:nvPr/>
        </p:nvSpPr>
        <p:spPr>
          <a:xfrm>
            <a:off x="49434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633C6DA-F78E-4C3F-B938-7A34605F331D}"/>
              </a:ext>
            </a:extLst>
          </p:cNvPr>
          <p:cNvSpPr>
            <a:spLocks noGrp="1"/>
          </p:cNvSpPr>
          <p:nvPr/>
        </p:nvSpPr>
        <p:spPr>
          <a:xfrm>
            <a:off x="49434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0.66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076FA36-425E-45ED-89C7-001AB8DCC839}"/>
              </a:ext>
            </a:extLst>
          </p:cNvPr>
          <p:cNvSpPr>
            <a:spLocks noGrp="1"/>
          </p:cNvSpPr>
          <p:nvPr/>
        </p:nvSpPr>
        <p:spPr>
          <a:xfrm>
            <a:off x="54673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B686FAC-192F-44FD-BBE6-B414CAFCD9E8}"/>
              </a:ext>
            </a:extLst>
          </p:cNvPr>
          <p:cNvSpPr>
            <a:spLocks noGrp="1"/>
          </p:cNvSpPr>
          <p:nvPr/>
        </p:nvSpPr>
        <p:spPr>
          <a:xfrm>
            <a:off x="54673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0.41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0FD7CB1-0FFE-4892-8BDB-BF7AEF86C6DD}"/>
              </a:ext>
            </a:extLst>
          </p:cNvPr>
          <p:cNvSpPr>
            <a:spLocks noGrp="1"/>
          </p:cNvSpPr>
          <p:nvPr/>
        </p:nvSpPr>
        <p:spPr>
          <a:xfrm>
            <a:off x="59912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C62E12A-9C63-49F8-B36D-ACA07ED8F012}"/>
              </a:ext>
            </a:extLst>
          </p:cNvPr>
          <p:cNvSpPr>
            <a:spLocks noGrp="1"/>
          </p:cNvSpPr>
          <p:nvPr/>
        </p:nvSpPr>
        <p:spPr>
          <a:xfrm>
            <a:off x="59912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34B40C9-2416-4FEE-9434-747D46C6B0BE}"/>
              </a:ext>
            </a:extLst>
          </p:cNvPr>
          <p:cNvSpPr>
            <a:spLocks noGrp="1"/>
          </p:cNvSpPr>
          <p:nvPr/>
        </p:nvSpPr>
        <p:spPr>
          <a:xfrm>
            <a:off x="65151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C5F0067-668E-441D-860D-1DBA10B61E5C}"/>
              </a:ext>
            </a:extLst>
          </p:cNvPr>
          <p:cNvSpPr>
            <a:spLocks noGrp="1"/>
          </p:cNvSpPr>
          <p:nvPr/>
        </p:nvSpPr>
        <p:spPr>
          <a:xfrm>
            <a:off x="65151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0.69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AA683A8-2722-4515-B2A5-78C9FD790F78}"/>
              </a:ext>
            </a:extLst>
          </p:cNvPr>
          <p:cNvSpPr>
            <a:spLocks noGrp="1"/>
          </p:cNvSpPr>
          <p:nvPr/>
        </p:nvSpPr>
        <p:spPr>
          <a:xfrm>
            <a:off x="70389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2D88338-01AE-4A28-8ABC-5F7387BD10E3}"/>
              </a:ext>
            </a:extLst>
          </p:cNvPr>
          <p:cNvSpPr>
            <a:spLocks noGrp="1"/>
          </p:cNvSpPr>
          <p:nvPr/>
        </p:nvSpPr>
        <p:spPr>
          <a:xfrm>
            <a:off x="70389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3E002A5-8D2A-4509-A82C-1A50A815FDF7}"/>
              </a:ext>
            </a:extLst>
          </p:cNvPr>
          <p:cNvSpPr>
            <a:spLocks noGrp="1"/>
          </p:cNvSpPr>
          <p:nvPr/>
        </p:nvSpPr>
        <p:spPr>
          <a:xfrm>
            <a:off x="4419600" y="518160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4CE7F18-FC38-4EDD-8072-0C133D701B88}"/>
              </a:ext>
            </a:extLst>
          </p:cNvPr>
          <p:cNvSpPr>
            <a:spLocks noGrp="1"/>
          </p:cNvSpPr>
          <p:nvPr/>
        </p:nvSpPr>
        <p:spPr>
          <a:xfrm>
            <a:off x="4419600" y="565785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4CE192E-C33A-49CB-BEFD-93F01A481CE6}"/>
              </a:ext>
            </a:extLst>
          </p:cNvPr>
          <p:cNvSpPr>
            <a:spLocks noGrp="1"/>
          </p:cNvSpPr>
          <p:nvPr/>
        </p:nvSpPr>
        <p:spPr>
          <a:xfrm>
            <a:off x="8134350" y="49530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CK+ EfficientNet-B0 per-class F1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0695171-1BBC-43BA-B572-8995665368A2}"/>
              </a:ext>
            </a:extLst>
          </p:cNvPr>
          <p:cNvSpPr>
            <a:spLocks noGrp="1"/>
          </p:cNvSpPr>
          <p:nvPr/>
        </p:nvSpPr>
        <p:spPr>
          <a:xfrm>
            <a:off x="81343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angry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CE72826-E9D2-481D-9FB5-AEAC29B1BE5D}"/>
              </a:ext>
            </a:extLst>
          </p:cNvPr>
          <p:cNvSpPr>
            <a:spLocks noGrp="1"/>
          </p:cNvSpPr>
          <p:nvPr/>
        </p:nvSpPr>
        <p:spPr>
          <a:xfrm>
            <a:off x="81343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0.42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5968FB8-1D71-40C3-95AC-62BD7B2257CF}"/>
              </a:ext>
            </a:extLst>
          </p:cNvPr>
          <p:cNvSpPr>
            <a:spLocks noGrp="1"/>
          </p:cNvSpPr>
          <p:nvPr/>
        </p:nvSpPr>
        <p:spPr>
          <a:xfrm>
            <a:off x="86582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disgust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EAD459-9A89-418F-AFDF-F0C5C38ECC22}"/>
              </a:ext>
            </a:extLst>
          </p:cNvPr>
          <p:cNvSpPr>
            <a:spLocks noGrp="1"/>
          </p:cNvSpPr>
          <p:nvPr/>
        </p:nvSpPr>
        <p:spPr>
          <a:xfrm>
            <a:off x="86582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0.28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2C5705E-ED99-4981-BA98-4D0BC6C30248}"/>
              </a:ext>
            </a:extLst>
          </p:cNvPr>
          <p:cNvSpPr>
            <a:spLocks noGrp="1"/>
          </p:cNvSpPr>
          <p:nvPr/>
        </p:nvSpPr>
        <p:spPr>
          <a:xfrm>
            <a:off x="918210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fear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0230C07-9DE3-4284-9E55-B4A62A973FF8}"/>
              </a:ext>
            </a:extLst>
          </p:cNvPr>
          <p:cNvSpPr>
            <a:spLocks noGrp="1"/>
          </p:cNvSpPr>
          <p:nvPr/>
        </p:nvSpPr>
        <p:spPr>
          <a:xfrm>
            <a:off x="918210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0.26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C45A5E7-3509-4FF4-849A-2E198B0472CA}"/>
              </a:ext>
            </a:extLst>
          </p:cNvPr>
          <p:cNvSpPr>
            <a:spLocks noGrp="1"/>
          </p:cNvSpPr>
          <p:nvPr/>
        </p:nvSpPr>
        <p:spPr>
          <a:xfrm>
            <a:off x="970597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happy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FC42B39-CADC-4A51-B816-32EB0CC55365}"/>
              </a:ext>
            </a:extLst>
          </p:cNvPr>
          <p:cNvSpPr>
            <a:spLocks noGrp="1"/>
          </p:cNvSpPr>
          <p:nvPr/>
        </p:nvSpPr>
        <p:spPr>
          <a:xfrm>
            <a:off x="970597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0.96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7DC0D16-7A20-4A80-8C8D-484254489BE1}"/>
              </a:ext>
            </a:extLst>
          </p:cNvPr>
          <p:cNvSpPr>
            <a:spLocks noGrp="1"/>
          </p:cNvSpPr>
          <p:nvPr/>
        </p:nvSpPr>
        <p:spPr>
          <a:xfrm>
            <a:off x="10229850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sad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754D9D02-CAFD-49AC-B15E-67E36B8F2901}"/>
              </a:ext>
            </a:extLst>
          </p:cNvPr>
          <p:cNvSpPr>
            <a:spLocks noGrp="1"/>
          </p:cNvSpPr>
          <p:nvPr/>
        </p:nvSpPr>
        <p:spPr>
          <a:xfrm>
            <a:off x="10229850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A562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5622C"/>
                </a:solidFill>
                <a:latin typeface="Aptos"/>
                <a:ea typeface="Aptos"/>
                <a:cs typeface="Aptos"/>
              </a:rPr>
              <a:t>0.51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1A8B2F5-7A4A-40C9-964B-22E6960B4B8A}"/>
              </a:ext>
            </a:extLst>
          </p:cNvPr>
          <p:cNvSpPr>
            <a:spLocks noGrp="1"/>
          </p:cNvSpPr>
          <p:nvPr/>
        </p:nvSpPr>
        <p:spPr>
          <a:xfrm>
            <a:off x="10753725" y="5219700"/>
            <a:ext cx="50482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00" b="1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sz="600" b="1">
                <a:solidFill>
                  <a:srgbClr val="566172"/>
                </a:solidFill>
                <a:latin typeface="Aptos"/>
                <a:ea typeface="Aptos"/>
                <a:cs typeface="Aptos"/>
              </a:rPr>
              <a:t>surprise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2716AC0-C629-4568-8333-49D5C42FDC96}"/>
              </a:ext>
            </a:extLst>
          </p:cNvPr>
          <p:cNvSpPr>
            <a:spLocks noGrp="1"/>
          </p:cNvSpPr>
          <p:nvPr/>
        </p:nvSpPr>
        <p:spPr>
          <a:xfrm>
            <a:off x="10753725" y="5429250"/>
            <a:ext cx="504825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0.91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6E5F1E7-4EC8-4B1E-B240-AE1FAA27DE2A}"/>
              </a:ext>
            </a:extLst>
          </p:cNvPr>
          <p:cNvSpPr>
            <a:spLocks noGrp="1"/>
          </p:cNvSpPr>
          <p:nvPr/>
        </p:nvSpPr>
        <p:spPr>
          <a:xfrm>
            <a:off x="8134350" y="518160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5A54FD1-A8F1-4A35-8F20-8EE1A51ED87E}"/>
              </a:ext>
            </a:extLst>
          </p:cNvPr>
          <p:cNvSpPr>
            <a:spLocks noGrp="1"/>
          </p:cNvSpPr>
          <p:nvPr/>
        </p:nvSpPr>
        <p:spPr>
          <a:xfrm>
            <a:off x="8134350" y="5657850"/>
            <a:ext cx="3143250" cy="9525"/>
          </a:xfrm>
          <a:prstGeom prst="rect">
            <a:avLst/>
          </a:prstGeom>
          <a:solidFill>
            <a:srgbClr val="D8D5C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000028-0E08-419E-A06F-DC149418AF27}"/>
              </a:ext>
            </a:extLst>
          </p:cNvPr>
          <p:cNvSpPr>
            <a:spLocks noGrp="1"/>
          </p:cNvSpPr>
          <p:nvPr/>
        </p:nvSpPr>
        <p:spPr>
          <a:xfrm>
            <a:off x="4762500" y="24765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861B0E36-2452-4A6D-8AF4-5BB316CEA3D1}"/>
              </a:ext>
            </a:extLst>
          </p:cNvPr>
          <p:cNvSpPr>
            <a:spLocks noGrp="1"/>
          </p:cNvSpPr>
          <p:nvPr/>
        </p:nvSpPr>
        <p:spPr>
          <a:xfrm>
            <a:off x="5010150" y="2381250"/>
            <a:ext cx="1752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125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Plot uses macro F1 with a zoomed y-axis to make differences visible.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2578811-23C0-484B-8CF5-EF256169D087}"/>
              </a:ext>
            </a:extLst>
          </p:cNvPr>
          <p:cNvSpPr>
            <a:spLocks noGrp="1"/>
          </p:cNvSpPr>
          <p:nvPr/>
        </p:nvSpPr>
        <p:spPr>
          <a:xfrm>
            <a:off x="4762500" y="318135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0177C67-2F6A-46FD-90D0-A6041038B5C8}"/>
              </a:ext>
            </a:extLst>
          </p:cNvPr>
          <p:cNvSpPr>
            <a:spLocks noGrp="1"/>
          </p:cNvSpPr>
          <p:nvPr/>
        </p:nvSpPr>
        <p:spPr>
          <a:xfrm>
            <a:off x="5010150" y="3086100"/>
            <a:ext cx="1752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CK+ has six shared classes; neutral is excluded from the external test.</a:t>
            </a:r>
          </a:p>
        </p:txBody>
      </p:sp>
    </p:spTree>
    <p:extLst>
      <p:ext uri="{BB962C8B-B14F-4D97-AF65-F5344CB8AC3E}">
        <p14:creationId xmlns:p14="http://schemas.microsoft.com/office/powerpoint/2010/main" val="1341549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6DDF3AB-D044-47AE-A633-43C7371113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741E05-263D-4343-8400-86EB207E3999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DISCUSSION OF LIMITATIONS AND OBSERVATIONS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8BA3BD-D954-452A-9D4A-C598DEBFBF8A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Limitations concentrate in weak classes and confidence behavior.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1F8ED9-1C54-4770-9E03-53C5DAA32F9D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8D94FC-1236-4C31-9DEE-392FE693FA7D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20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42E50-CBD0-4F06-88D9-FCB9AC710708}"/>
              </a:ext>
            </a:extLst>
          </p:cNvPr>
          <p:cNvSpPr>
            <a:spLocks noGrp="1"/>
          </p:cNvSpPr>
          <p:nvPr/>
        </p:nvSpPr>
        <p:spPr>
          <a:xfrm>
            <a:off x="647700" y="2114550"/>
            <a:ext cx="4486275" cy="2628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5CC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2960237"/>
            <a:ext cx="4333875" cy="93752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713B859-AA74-40E0-A90A-164D8E50106F}"/>
              </a:ext>
            </a:extLst>
          </p:cNvPr>
          <p:cNvSpPr>
            <a:spLocks noGrp="1"/>
          </p:cNvSpPr>
          <p:nvPr/>
        </p:nvSpPr>
        <p:spPr>
          <a:xfrm>
            <a:off x="5905500" y="22288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648778-5549-43D1-9572-091783ACBB01}"/>
              </a:ext>
            </a:extLst>
          </p:cNvPr>
          <p:cNvSpPr>
            <a:spLocks noGrp="1"/>
          </p:cNvSpPr>
          <p:nvPr/>
        </p:nvSpPr>
        <p:spPr>
          <a:xfrm>
            <a:off x="6153150" y="213360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Weak classes remain: fear, sad, angry, and neutral are harder to separate.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0259D1-F241-4EBB-BA7C-20DDB07341BB}"/>
              </a:ext>
            </a:extLst>
          </p:cNvPr>
          <p:cNvSpPr>
            <a:spLocks noGrp="1"/>
          </p:cNvSpPr>
          <p:nvPr/>
        </p:nvSpPr>
        <p:spPr>
          <a:xfrm>
            <a:off x="5905500" y="28194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2DD51-8B2D-44FF-8704-2C68ED295239}"/>
              </a:ext>
            </a:extLst>
          </p:cNvPr>
          <p:cNvSpPr>
            <a:spLocks noGrp="1"/>
          </p:cNvSpPr>
          <p:nvPr/>
        </p:nvSpPr>
        <p:spPr>
          <a:xfrm>
            <a:off x="6153150" y="272415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Low resolution and ambiguous labels limit the ceiling of model performance.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41E0FD-84C4-46BB-AF71-92DA60BFA499}"/>
              </a:ext>
            </a:extLst>
          </p:cNvPr>
          <p:cNvSpPr>
            <a:spLocks noGrp="1"/>
          </p:cNvSpPr>
          <p:nvPr/>
        </p:nvSpPr>
        <p:spPr>
          <a:xfrm>
            <a:off x="5905500" y="34099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5AE4B5-BB1C-45E8-879B-4FB6847A879F}"/>
              </a:ext>
            </a:extLst>
          </p:cNvPr>
          <p:cNvSpPr>
            <a:spLocks noGrp="1"/>
          </p:cNvSpPr>
          <p:nvPr/>
        </p:nvSpPr>
        <p:spPr>
          <a:xfrm>
            <a:off x="6153150" y="331470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Class imbalance is reduced but not removed by sampler and loss choices.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BD31D4-1674-4926-8C62-695BDD0F02F7}"/>
              </a:ext>
            </a:extLst>
          </p:cNvPr>
          <p:cNvSpPr>
            <a:spLocks noGrp="1"/>
          </p:cNvSpPr>
          <p:nvPr/>
        </p:nvSpPr>
        <p:spPr>
          <a:xfrm>
            <a:off x="5905500" y="400050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B68C37-E6E9-430F-8422-00792AB7DC85}"/>
              </a:ext>
            </a:extLst>
          </p:cNvPr>
          <p:cNvSpPr>
            <a:spLocks noGrp="1"/>
          </p:cNvSpPr>
          <p:nvPr/>
        </p:nvSpPr>
        <p:spPr>
          <a:xfrm>
            <a:off x="6153150" y="390525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Confidence analysis is useful for identifying high-confidence mistakes.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20775C-EDCB-48A5-972F-02BEFBEA1CBF}"/>
              </a:ext>
            </a:extLst>
          </p:cNvPr>
          <p:cNvSpPr>
            <a:spLocks noGrp="1"/>
          </p:cNvSpPr>
          <p:nvPr/>
        </p:nvSpPr>
        <p:spPr>
          <a:xfrm>
            <a:off x="5905500" y="4591050"/>
            <a:ext cx="66675" cy="66675"/>
          </a:xfrm>
          <a:prstGeom prst="rect">
            <a:avLst/>
          </a:prstGeom>
          <a:solidFill>
            <a:srgbClr val="A5622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E7D1B8-5C43-4236-B58D-E271395ED2FA}"/>
              </a:ext>
            </a:extLst>
          </p:cNvPr>
          <p:cNvSpPr>
            <a:spLocks noGrp="1"/>
          </p:cNvSpPr>
          <p:nvPr/>
        </p:nvSpPr>
        <p:spPr>
          <a:xfrm>
            <a:off x="6153150" y="4495800"/>
            <a:ext cx="470535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No explicit face alignment pipeline was included.</a:t>
            </a:r>
          </a:p>
        </p:txBody>
      </p:sp>
    </p:spTree>
    <p:extLst>
      <p:ext uri="{BB962C8B-B14F-4D97-AF65-F5344CB8AC3E}">
        <p14:creationId xmlns:p14="http://schemas.microsoft.com/office/powerpoint/2010/main" val="69419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0A07641-E171-483C-8156-DAF1D3738F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EAD90-9D84-4CC5-82A7-4ABF3CC0793C}"/>
              </a:ext>
            </a:extLst>
          </p:cNvPr>
          <p:cNvSpPr>
            <a:spLocks noGrp="1"/>
          </p:cNvSpPr>
          <p:nvPr/>
        </p:nvSpPr>
        <p:spPr>
          <a:xfrm>
            <a:off x="647700" y="361950"/>
            <a:ext cx="7810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CONCLUSIONS AND FUTURE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92E2B4-B714-4C53-9AA5-1D4E09C1A685}"/>
              </a:ext>
            </a:extLst>
          </p:cNvPr>
          <p:cNvSpPr>
            <a:spLocks noGrp="1"/>
          </p:cNvSpPr>
          <p:nvPr/>
        </p:nvSpPr>
        <p:spPr>
          <a:xfrm>
            <a:off x="647700" y="723900"/>
            <a:ext cx="10287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51922"/>
                </a:solidFill>
                <a:latin typeface="Aptos Display"/>
                <a:ea typeface="Aptos Display"/>
                <a:cs typeface="Aptos Display"/>
              </a:rPr>
              <a:t>The project improves balanced FER2013 recognition while showing where it still fails.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EF845F-BBA7-4DD9-8246-803788F20F38}"/>
              </a:ext>
            </a:extLst>
          </p:cNvPr>
          <p:cNvSpPr>
            <a:spLocks noGrp="1"/>
          </p:cNvSpPr>
          <p:nvPr/>
        </p:nvSpPr>
        <p:spPr>
          <a:xfrm>
            <a:off x="647700" y="1657350"/>
            <a:ext cx="9906000" cy="14288"/>
          </a:xfrm>
          <a:prstGeom prst="rect">
            <a:avLst/>
          </a:prstGeom>
          <a:solidFill>
            <a:srgbClr val="CFCB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ABCB6F-7C01-48BF-A13C-547A921E45D5}"/>
              </a:ext>
            </a:extLst>
          </p:cNvPr>
          <p:cNvSpPr>
            <a:spLocks noGrp="1"/>
          </p:cNvSpPr>
          <p:nvPr/>
        </p:nvSpPr>
        <p:spPr>
          <a:xfrm>
            <a:off x="10972800" y="61531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66172"/>
                </a:solidFill>
                <a:latin typeface="Aptos"/>
                <a:ea typeface="Aptos"/>
                <a:cs typeface="Aptos"/>
              </a:defRPr>
            </a:pPr>
            <a:r>
              <a:rPr lang="en-US" sz="750" b="0">
                <a:solidFill>
                  <a:srgbClr val="566172"/>
                </a:solidFill>
                <a:latin typeface="Aptos"/>
                <a:ea typeface="Aptos"/>
                <a:cs typeface="Aptos"/>
              </a:rPr>
              <a:t>21</a:t>
            </a:r>
            <a:endParaRPr sz="750" b="0">
              <a:solidFill>
                <a:srgbClr val="5661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B3E535-6F84-4E44-9D6B-46ECD72906BF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1E5F9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5F99"/>
                </a:solidFill>
                <a:latin typeface="Aptos"/>
                <a:ea typeface="Aptos"/>
                <a:cs typeface="Aptos"/>
              </a:rPr>
              <a:t>CONCLUSIONS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03DFE8-F0F0-4FE1-83A1-2EE4F9072253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3429000" cy="14288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DEFC83-32E6-4655-BF78-F7B9F76FEA18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9BEAB2-D80D-4D36-865A-829344994326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Transfer learning clearly improves over the custom CNN baseline.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D5EEF0-0644-4B67-B0F8-F2CFE3AA89CA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3485E0-7BEC-4ECE-B195-8CD351E61417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 dirty="0">
                <a:solidFill>
                  <a:srgbClr val="151922"/>
                </a:solidFill>
                <a:latin typeface="Aptos"/>
                <a:ea typeface="Aptos"/>
                <a:cs typeface="Aptos"/>
              </a:rPr>
              <a:t>EfficientNet-B0 and ResNet18 are close on FER2013 after crop/TenCrop.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7BA1B7-2B27-4626-BEA4-A7FED842F5FA}"/>
              </a:ext>
            </a:extLst>
          </p:cNvPr>
          <p:cNvSpPr>
            <a:spLocks noGrp="1"/>
          </p:cNvSpPr>
          <p:nvPr/>
        </p:nvSpPr>
        <p:spPr>
          <a:xfrm>
            <a:off x="857250" y="4229100"/>
            <a:ext cx="66675" cy="66675"/>
          </a:xfrm>
          <a:prstGeom prst="rect">
            <a:avLst/>
          </a:prstGeom>
          <a:solidFill>
            <a:srgbClr val="1E5F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472CF-B52B-4668-B46D-F3DD07527632}"/>
              </a:ext>
            </a:extLst>
          </p:cNvPr>
          <p:cNvSpPr>
            <a:spLocks noGrp="1"/>
          </p:cNvSpPr>
          <p:nvPr/>
        </p:nvSpPr>
        <p:spPr>
          <a:xfrm>
            <a:off x="1104900" y="41338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Per-class analysis is essential because weak classes remain hidden in aggregate scores.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E1CCFB-A7C6-4A8C-9106-8E4D4442D9A3}"/>
              </a:ext>
            </a:extLst>
          </p:cNvPr>
          <p:cNvSpPr>
            <a:spLocks noGrp="1"/>
          </p:cNvSpPr>
          <p:nvPr/>
        </p:nvSpPr>
        <p:spPr>
          <a:xfrm>
            <a:off x="6477000" y="21526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257B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7B72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AAAE47A-5593-4363-82F5-D298EEF4EFA6}"/>
              </a:ext>
            </a:extLst>
          </p:cNvPr>
          <p:cNvSpPr>
            <a:spLocks noGrp="1"/>
          </p:cNvSpPr>
          <p:nvPr/>
        </p:nvSpPr>
        <p:spPr>
          <a:xfrm>
            <a:off x="6477000" y="2381250"/>
            <a:ext cx="3429000" cy="14288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931087-BE19-4585-91A7-C676B5978FDC}"/>
              </a:ext>
            </a:extLst>
          </p:cNvPr>
          <p:cNvSpPr>
            <a:spLocks noGrp="1"/>
          </p:cNvSpPr>
          <p:nvPr/>
        </p:nvSpPr>
        <p:spPr>
          <a:xfrm>
            <a:off x="6534150" y="27813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6A9C98-1102-4595-BB8E-9CA4A610B676}"/>
              </a:ext>
            </a:extLst>
          </p:cNvPr>
          <p:cNvSpPr>
            <a:spLocks noGrp="1"/>
          </p:cNvSpPr>
          <p:nvPr/>
        </p:nvSpPr>
        <p:spPr>
          <a:xfrm>
            <a:off x="6781800" y="26860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Add face alignment and stronger crop consistency.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1B3816-3E69-47C2-8862-8FD2104002EB}"/>
              </a:ext>
            </a:extLst>
          </p:cNvPr>
          <p:cNvSpPr>
            <a:spLocks noGrp="1"/>
          </p:cNvSpPr>
          <p:nvPr/>
        </p:nvSpPr>
        <p:spPr>
          <a:xfrm>
            <a:off x="6534150" y="33909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0A7D1F-C86E-4EF2-87D9-2BADBA3E5029}"/>
              </a:ext>
            </a:extLst>
          </p:cNvPr>
          <p:cNvSpPr>
            <a:spLocks noGrp="1"/>
          </p:cNvSpPr>
          <p:nvPr/>
        </p:nvSpPr>
        <p:spPr>
          <a:xfrm>
            <a:off x="6781800" y="32956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Handle label noise or ambiguous labels explicitly.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EDFED6-DC89-4650-B581-F4C43E3DA8C7}"/>
              </a:ext>
            </a:extLst>
          </p:cNvPr>
          <p:cNvSpPr>
            <a:spLocks noGrp="1"/>
          </p:cNvSpPr>
          <p:nvPr/>
        </p:nvSpPr>
        <p:spPr>
          <a:xfrm>
            <a:off x="6534150" y="40005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9A2A66-6665-4D99-80E1-9DC7EC957115}"/>
              </a:ext>
            </a:extLst>
          </p:cNvPr>
          <p:cNvSpPr>
            <a:spLocks noGrp="1"/>
          </p:cNvSpPr>
          <p:nvPr/>
        </p:nvSpPr>
        <p:spPr>
          <a:xfrm>
            <a:off x="6781800" y="39052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Test stronger backbones, attention, transformers, or ensembles.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3FD01E-CD51-4935-91CC-F72FD7063C7F}"/>
              </a:ext>
            </a:extLst>
          </p:cNvPr>
          <p:cNvSpPr>
            <a:spLocks noGrp="1"/>
          </p:cNvSpPr>
          <p:nvPr/>
        </p:nvSpPr>
        <p:spPr>
          <a:xfrm>
            <a:off x="6534150" y="4610100"/>
            <a:ext cx="66675" cy="66675"/>
          </a:xfrm>
          <a:prstGeom prst="rect">
            <a:avLst/>
          </a:prstGeom>
          <a:solidFill>
            <a:srgbClr val="257B7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4664D2-C853-4E13-B877-0B32A4A280E7}"/>
              </a:ext>
            </a:extLst>
          </p:cNvPr>
          <p:cNvSpPr>
            <a:spLocks noGrp="1"/>
          </p:cNvSpPr>
          <p:nvPr/>
        </p:nvSpPr>
        <p:spPr>
          <a:xfrm>
            <a:off x="6781800" y="4514850"/>
            <a:ext cx="4229100" cy="53435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5192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1922"/>
                </a:solidFill>
                <a:latin typeface="Aptos"/>
                <a:ea typeface="Aptos"/>
                <a:cs typeface="Aptos"/>
              </a:rPr>
              <a:t>Use confidence calibration and targeted review of high-error classes.</a:t>
            </a:r>
          </a:p>
        </p:txBody>
      </p:sp>
    </p:spTree>
    <p:extLst>
      <p:ext uri="{BB962C8B-B14F-4D97-AF65-F5344CB8AC3E}">
        <p14:creationId xmlns:p14="http://schemas.microsoft.com/office/powerpoint/2010/main" val="82025931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1804</Words>
  <Application>Microsoft Office PowerPoint</Application>
  <DocSecurity>0</DocSecurity>
  <PresentationFormat>Widescreen</PresentationFormat>
  <Paragraphs>455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SHAOYA ZHANG</cp:lastModifiedBy>
  <cp:revision>6</cp:revision>
  <dcterms:created xsi:type="dcterms:W3CDTF">2026-05-31T07:58:58Z</dcterms:created>
  <dcterms:modified xsi:type="dcterms:W3CDTF">2026-05-31T09:26:25Z</dcterms:modified>
</cp:coreProperties>
</file>