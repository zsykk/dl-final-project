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b0d8271c0947c1" /><Relationship Type="http://schemas.openxmlformats.org/officeDocument/2006/relationships/extended-properties" Target="/docProps/app.xml" Id="Rf335c140f88d46de" /><Relationship Type="http://schemas.openxmlformats.org/officeDocument/2006/relationships/officeDocument" Target="/ppt/presentation.xml" Id="R37a78cc1fbfb41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3fd2a2a3754dc5"/>
  </p:sldMasterIdLst>
  <p:notesMasterIdLst>
    <p:notesMasterId xmlns:r="http://schemas.openxmlformats.org/officeDocument/2006/relationships" r:id="R14967755a63f487e"/>
  </p:notesMasterIdLst>
  <p:sldIdLst>
    <p:sldId xmlns:r="http://schemas.openxmlformats.org/officeDocument/2006/relationships" id="256" r:id="R9a9d1b13504b464c"/>
    <p:sldId xmlns:r="http://schemas.openxmlformats.org/officeDocument/2006/relationships" id="257" r:id="R42579a2c72b54dc0"/>
    <p:sldId xmlns:r="http://schemas.openxmlformats.org/officeDocument/2006/relationships" id="258" r:id="R73dcd1223df54a91"/>
    <p:sldId xmlns:r="http://schemas.openxmlformats.org/officeDocument/2006/relationships" id="259" r:id="Rcea64f78e92e4711"/>
    <p:sldId xmlns:r="http://schemas.openxmlformats.org/officeDocument/2006/relationships" id="260" r:id="Rfea1935fcf984ed0"/>
    <p:sldId xmlns:r="http://schemas.openxmlformats.org/officeDocument/2006/relationships" id="261" r:id="R7e8b626449ce4981"/>
    <p:sldId xmlns:r="http://schemas.openxmlformats.org/officeDocument/2006/relationships" id="262" r:id="R364a711302b14da1"/>
    <p:sldId xmlns:r="http://schemas.openxmlformats.org/officeDocument/2006/relationships" id="263" r:id="Rc5d2542ea5c24be0"/>
    <p:sldId xmlns:r="http://schemas.openxmlformats.org/officeDocument/2006/relationships" id="264" r:id="Rf5bc8982a1604169"/>
    <p:sldId xmlns:r="http://schemas.openxmlformats.org/officeDocument/2006/relationships" id="265" r:id="R33f52898860f430f"/>
    <p:sldId xmlns:r="http://schemas.openxmlformats.org/officeDocument/2006/relationships" id="266" r:id="Rc1017955b2b6464c"/>
    <p:sldId xmlns:r="http://schemas.openxmlformats.org/officeDocument/2006/relationships" id="267" r:id="Re92705ace8f5452e"/>
    <p:sldId xmlns:r="http://schemas.openxmlformats.org/officeDocument/2006/relationships" id="268" r:id="R218090267a6544b7"/>
    <p:sldId xmlns:r="http://schemas.openxmlformats.org/officeDocument/2006/relationships" id="269" r:id="R20c0a29014534fbc"/>
    <p:sldId xmlns:r="http://schemas.openxmlformats.org/officeDocument/2006/relationships" id="270" r:id="Re0345575b61543c8"/>
    <p:sldId xmlns:r="http://schemas.openxmlformats.org/officeDocument/2006/relationships" id="271" r:id="R2418a248710042d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3fd2a2a3754dc5" /><Relationship Type="http://schemas.openxmlformats.org/officeDocument/2006/relationships/theme" Target="/ppt/theme/theme1.xml" Id="Rb09c3c0ef2f0418a" /><Relationship Type="http://schemas.openxmlformats.org/officeDocument/2006/relationships/notesMaster" Target="/ppt/notesMasters/notesMaster1.xml" Id="R14967755a63f487e" /><Relationship Type="http://schemas.openxmlformats.org/officeDocument/2006/relationships/presProps" Target="/ppt/presProps.xml" Id="R999c9fc59b674083" /><Relationship Type="http://schemas.openxmlformats.org/officeDocument/2006/relationships/viewProps" Target="/ppt/viewProps.xml" Id="Ree07ac50c73d4915" /><Relationship Type="http://schemas.openxmlformats.org/officeDocument/2006/relationships/tableStyles" Target="/ppt/tableStyles.xml" Id="R87f2db9e439c4276" /><Relationship Type="http://schemas.openxmlformats.org/officeDocument/2006/relationships/slide" Target="/ppt/slides/slide1.xml" Id="R9a9d1b13504b464c" /><Relationship Type="http://schemas.openxmlformats.org/officeDocument/2006/relationships/slide" Target="/ppt/slides/slide2.xml" Id="R42579a2c72b54dc0" /><Relationship Type="http://schemas.openxmlformats.org/officeDocument/2006/relationships/slide" Target="/ppt/slides/slide3.xml" Id="R73dcd1223df54a91" /><Relationship Type="http://schemas.openxmlformats.org/officeDocument/2006/relationships/slide" Target="/ppt/slides/slide4.xml" Id="Rcea64f78e92e4711" /><Relationship Type="http://schemas.openxmlformats.org/officeDocument/2006/relationships/slide" Target="/ppt/slides/slide5.xml" Id="Rfea1935fcf984ed0" /><Relationship Type="http://schemas.openxmlformats.org/officeDocument/2006/relationships/slide" Target="/ppt/slides/slide6.xml" Id="R7e8b626449ce4981" /><Relationship Type="http://schemas.openxmlformats.org/officeDocument/2006/relationships/slide" Target="/ppt/slides/slide7.xml" Id="R364a711302b14da1" /><Relationship Type="http://schemas.openxmlformats.org/officeDocument/2006/relationships/slide" Target="/ppt/slides/slide8.xml" Id="Rc5d2542ea5c24be0" /><Relationship Type="http://schemas.openxmlformats.org/officeDocument/2006/relationships/slide" Target="/ppt/slides/slide9.xml" Id="Rf5bc8982a1604169" /><Relationship Type="http://schemas.openxmlformats.org/officeDocument/2006/relationships/slide" Target="/ppt/slides/slide10.xml" Id="R33f52898860f430f" /><Relationship Type="http://schemas.openxmlformats.org/officeDocument/2006/relationships/slide" Target="/ppt/slides/slide11.xml" Id="Rc1017955b2b6464c" /><Relationship Type="http://schemas.openxmlformats.org/officeDocument/2006/relationships/slide" Target="/ppt/slides/slide12.xml" Id="Re92705ace8f5452e" /><Relationship Type="http://schemas.openxmlformats.org/officeDocument/2006/relationships/slide" Target="/ppt/slides/slide13.xml" Id="R218090267a6544b7" /><Relationship Type="http://schemas.openxmlformats.org/officeDocument/2006/relationships/slide" Target="/ppt/slides/slide14.xml" Id="R20c0a29014534fbc" /><Relationship Type="http://schemas.openxmlformats.org/officeDocument/2006/relationships/slide" Target="/ppt/slides/slide15.xml" Id="Re0345575b61543c8" /><Relationship Type="http://schemas.openxmlformats.org/officeDocument/2006/relationships/slide" Target="/ppt/slides/slide16.xml" Id="R2418a248710042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e3460a3572e43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cc47b901b84cf4" /><Relationship Type="http://schemas.openxmlformats.org/officeDocument/2006/relationships/notesMaster" Target="/ppt/notesMasters/notesMaster1.xml" Id="Raccccfd833254a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22d5e4d2454123" /><Relationship Type="http://schemas.openxmlformats.org/officeDocument/2006/relationships/notesMaster" Target="/ppt/notesMasters/notesMaster1.xml" Id="Rbaf36fdc10164e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fcbe1754e649a0" /><Relationship Type="http://schemas.openxmlformats.org/officeDocument/2006/relationships/notesMaster" Target="/ppt/notesMasters/notesMaster1.xml" Id="R0a550bc21de845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ba4201272d43a2" /><Relationship Type="http://schemas.openxmlformats.org/officeDocument/2006/relationships/notesMaster" Target="/ppt/notesMasters/notesMaster1.xml" Id="Rfe8b2287517243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57225fb7f34d4c" /><Relationship Type="http://schemas.openxmlformats.org/officeDocument/2006/relationships/notesMaster" Target="/ppt/notesMasters/notesMaster1.xml" Id="R567531c6f3704b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c893c032b54e34" /><Relationship Type="http://schemas.openxmlformats.org/officeDocument/2006/relationships/notesMaster" Target="/ppt/notesMasters/notesMaster1.xml" Id="R70f29d01cf194c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02e97d03804205" /><Relationship Type="http://schemas.openxmlformats.org/officeDocument/2006/relationships/notesMaster" Target="/ppt/notesMasters/notesMaster1.xml" Id="R7714eee632e041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bf1038b1ae46c9" /><Relationship Type="http://schemas.openxmlformats.org/officeDocument/2006/relationships/notesMaster" Target="/ppt/notesMasters/notesMaster1.xml" Id="R040828c7c60a4f1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6403447c15840d6" /><Relationship Type="http://schemas.openxmlformats.org/officeDocument/2006/relationships/notesMaster" Target="/ppt/notesMasters/notesMaster1.xml" Id="R0be48675802b40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ba116b0f2f4c13" /><Relationship Type="http://schemas.openxmlformats.org/officeDocument/2006/relationships/notesMaster" Target="/ppt/notesMasters/notesMaster1.xml" Id="Rc40f8151b54e48d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f18a231eeaf408c" /><Relationship Type="http://schemas.openxmlformats.org/officeDocument/2006/relationships/notesMaster" Target="/ppt/notesMasters/notesMaster1.xml" Id="Re2e9d19101ee4ac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564a75f4cd84718" /><Relationship Type="http://schemas.openxmlformats.org/officeDocument/2006/relationships/notesMaster" Target="/ppt/notesMasters/notesMaster1.xml" Id="Rad9aa5a2ae87477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a28661ee65649c4" /><Relationship Type="http://schemas.openxmlformats.org/officeDocument/2006/relationships/notesMaster" Target="/ppt/notesMasters/notesMaster1.xml" Id="R62d7834aca17419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401559fc37d4f26" /><Relationship Type="http://schemas.openxmlformats.org/officeDocument/2006/relationships/notesMaster" Target="/ppt/notesMasters/notesMaster1.xml" Id="R7ef4f3b7488347e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754a98d32c0460f" /><Relationship Type="http://schemas.openxmlformats.org/officeDocument/2006/relationships/notesMaster" Target="/ppt/notesMasters/notesMaster1.xml" Id="Rc66282d73c914c3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df97cb43b0d4c22" /><Relationship Type="http://schemas.openxmlformats.org/officeDocument/2006/relationships/notesMaster" Target="/ppt/notesMasters/notesMaster1.xml" Id="R582aa159e4134a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5d66cb6e454ff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a3d89dcf0904e50" /><Relationship Type="http://schemas.openxmlformats.org/officeDocument/2006/relationships/slideLayout" Target="/ppt/slideLayouts/slideLayout2.xml" Id="R5e7d10b446aa46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7d10b446aa46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6a7d91d6564bfe" /><Relationship Type="http://schemas.openxmlformats.org/officeDocument/2006/relationships/notesSlide" Target="/ppt/notesSlides/notesSlide1.xml" Id="R12c298e8388f46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023e173fd94a65" /><Relationship Type="http://schemas.openxmlformats.org/officeDocument/2006/relationships/notesSlide" Target="/ppt/notesSlides/notesSlide2.xml" Id="R2fdb3057551246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e80eee7f3d4b46" /><Relationship Type="http://schemas.openxmlformats.org/officeDocument/2006/relationships/notesSlide" Target="/ppt/notesSlides/notesSlide3.xml" Id="R1a4f077b795e42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30e9d732c64850" /><Relationship Type="http://schemas.openxmlformats.org/officeDocument/2006/relationships/notesSlide" Target="/ppt/notesSlides/notesSlide4.xml" Id="Re2f4b665c57549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6908424f5c456f" /><Relationship Type="http://schemas.openxmlformats.org/officeDocument/2006/relationships/image" Target="/ppt/media/image.png" Id="Rbe477e79d6d146dd" /><Relationship Type="http://schemas.openxmlformats.org/officeDocument/2006/relationships/image" Target="/ppt/media/image2.png" Id="Rcb1a439878d54caa" /><Relationship Type="http://schemas.openxmlformats.org/officeDocument/2006/relationships/notesSlide" Target="/ppt/notesSlides/notesSlide5.xml" Id="R9d7a60d2cbd743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dd28a540f64f7b" /><Relationship Type="http://schemas.openxmlformats.org/officeDocument/2006/relationships/image" Target="/ppt/media/image3.png" Id="Ra61fe4d7a7cb4108" /><Relationship Type="http://schemas.openxmlformats.org/officeDocument/2006/relationships/notesSlide" Target="/ppt/notesSlides/notesSlide6.xml" Id="R2ce8b5c76bee4b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b4bec3e5284501" /><Relationship Type="http://schemas.openxmlformats.org/officeDocument/2006/relationships/notesSlide" Target="/ppt/notesSlides/notesSlide7.xml" Id="R050d48a26fbf4b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d5857ef1734ad7" /><Relationship Type="http://schemas.openxmlformats.org/officeDocument/2006/relationships/notesSlide" Target="/ppt/notesSlides/notesSlide8.xml" Id="R2bf196c14eff4cc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e2fc5022ba423a" /><Relationship Type="http://schemas.openxmlformats.org/officeDocument/2006/relationships/notesSlide" Target="/ppt/notesSlides/notesSlide9.xml" Id="Rd7925a32d43845b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6e119cee4c42b2" /><Relationship Type="http://schemas.openxmlformats.org/officeDocument/2006/relationships/notesSlide" Target="/ppt/notesSlides/notesSlide10.xml" Id="R4499ed2c3733488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afa74827cf46a6" /><Relationship Type="http://schemas.openxmlformats.org/officeDocument/2006/relationships/notesSlide" Target="/ppt/notesSlides/notesSlide11.xml" Id="Ra74ffec9260149b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8b98f61eef48fc" /><Relationship Type="http://schemas.openxmlformats.org/officeDocument/2006/relationships/image" Target="/ppt/media/image4.png" Id="R4c81ded352cd42e7" /><Relationship Type="http://schemas.openxmlformats.org/officeDocument/2006/relationships/notesSlide" Target="/ppt/notesSlides/notesSlide12.xml" Id="Rf5eea4378cba4ab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642036534b4372" /><Relationship Type="http://schemas.openxmlformats.org/officeDocument/2006/relationships/notesSlide" Target="/ppt/notesSlides/notesSlide13.xml" Id="Rb6e650fc2d1e4cc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ac6f8731b94801" /><Relationship Type="http://schemas.openxmlformats.org/officeDocument/2006/relationships/image" Target="/ppt/media/image5.png" Id="R1048c44764c14d39" /><Relationship Type="http://schemas.openxmlformats.org/officeDocument/2006/relationships/notesSlide" Target="/ppt/notesSlides/notesSlide14.xml" Id="R6694cd5afe8d4dd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a5e5d6e3844f8c" /><Relationship Type="http://schemas.openxmlformats.org/officeDocument/2006/relationships/notesSlide" Target="/ppt/notesSlides/notesSlide15.xml" Id="R591978bcede34ed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13ddba17214ab0" /><Relationship Type="http://schemas.openxmlformats.org/officeDocument/2006/relationships/notesSlide" Target="/ppt/notesSlides/notesSlide16.xml" Id="Recd5442eddd2457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C8585E-0D9B-4EF7-9053-1CE673B8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B00EB-17B8-4776-9751-4B5B6147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B22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1B22"/>
                </a:solidFill>
                <a:latin typeface="Aptos Display"/>
                <a:ea typeface="Aptos Display"/>
                <a:cs typeface="Aptos Display"/>
              </a:rPr>
              <a:t>Facial Expression Recognition on FER2013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8A66A-A536-410F-BDCA-37FDA1C4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781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D6673"/>
                </a:solidFill>
                <a:latin typeface="Aptos"/>
                <a:ea typeface="Aptos"/>
                <a:cs typeface="Aptos"/>
              </a:rPr>
              <a:t>Controlled CNN baselines, transfer learning, and external validation on CK+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911715-C584-4DC3-AA00-1E78640A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530EF0-6DC6-419C-9842-E4B44E27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5C9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5C92"/>
                </a:solidFill>
                <a:latin typeface="Aptos"/>
                <a:ea typeface="Aptos"/>
                <a:cs typeface="Aptos"/>
              </a:rPr>
              <a:t>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9D0918-43D5-4522-8A77-3B59057E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576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1B22"/>
                </a:solidFill>
                <a:latin typeface="Aptos"/>
                <a:ea typeface="Aptos"/>
                <a:cs typeface="Aptos"/>
              </a:rPr>
              <a:t>7 emotions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9D3ACA-452A-47E5-B84C-09C9341D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529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6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673"/>
                </a:solidFill>
                <a:latin typeface="Aptos"/>
                <a:ea typeface="Aptos"/>
                <a:cs typeface="Aptos"/>
              </a:rPr>
              <a:t>48x48 grayscale facial crops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1E2E9C-8B5B-4D7B-902B-75E6AAFB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33375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87B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87B72"/>
                </a:solidFill>
                <a:latin typeface="Aptos"/>
                <a:ea typeface="Aptos"/>
                <a:cs typeface="Aptos"/>
              </a:rPr>
              <a:t>PRIMARY METRIC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E7A74C-1C0E-48E0-8C66-BFAACFCD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657600"/>
            <a:ext cx="295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1B22"/>
                </a:solidFill>
                <a:latin typeface="Aptos"/>
                <a:ea typeface="Aptos"/>
                <a:cs typeface="Aptos"/>
              </a:rPr>
              <a:t>Macro F1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E7D23-629D-4963-A9CE-1FCC4B11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152900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6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673"/>
                </a:solidFill>
                <a:latin typeface="Aptos"/>
                <a:ea typeface="Aptos"/>
                <a:cs typeface="Aptos"/>
              </a:rPr>
              <a:t>balanced evaluation under class imbalance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12CCF4-AD22-42C6-BF0D-9E3D8AD7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3375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5E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85E2A"/>
                </a:solidFill>
                <a:latin typeface="Aptos"/>
                <a:ea typeface="Aptos"/>
                <a:cs typeface="Aptos"/>
              </a:rPr>
              <a:t>EXTERNAL 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26C60B-8238-4C0B-AFC7-1FFFE040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57600"/>
            <a:ext cx="295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1B22"/>
                </a:solidFill>
                <a:latin typeface="Aptos"/>
                <a:ea typeface="Aptos"/>
                <a:cs typeface="Aptos"/>
              </a:rPr>
              <a:t>CK+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E08C67-0EA8-406E-A6C9-95C420C3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52900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6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673"/>
                </a:solidFill>
                <a:latin typeface="Aptos"/>
                <a:ea typeface="Aptos"/>
                <a:cs typeface="Aptos"/>
              </a:rPr>
              <a:t>zero-shot validation beyond FER2013</a:t>
            </a:r>
          </a:p>
        </p:txBody>
      </p:sp>
    </p:spTree>
    <p:extLst>
      <p:ext uri="{BB962C8B-B14F-4D97-AF65-F5344CB8AC3E}">
        <p14:creationId xmlns:p14="http://schemas.microsoft.com/office/powerpoint/2010/main" val="20905017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EC77EE-A4BD-42B8-A9B9-A385AE90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DF3ACE-F97F-46A3-B158-90D6FFE1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5C9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5C92"/>
                </a:solidFill>
                <a:latin typeface="Aptos"/>
                <a:ea typeface="Aptos"/>
                <a:cs typeface="Aptos"/>
              </a:rPr>
              <a:t>PRESENTATION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E39E2F-08F3-4206-B7F1-50504F0C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62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B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1B22"/>
                </a:solidFill>
                <a:latin typeface="Aptos Display"/>
                <a:ea typeface="Aptos Display"/>
                <a:cs typeface="Aptos Display"/>
              </a:rPr>
              <a:t>I will follow the required scientific structure explicitly.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E65071-6ACD-4132-96BC-A08B315C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858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538BE-476E-4FA6-B947-4DAD8512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6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67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0003A-A430-4253-A11A-6224B2BC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447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5C9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5C92"/>
                </a:solidFill>
                <a:latin typeface="Aptos"/>
                <a:ea typeface="Aptos"/>
                <a:cs typeface="Aptos"/>
              </a:rPr>
              <a:t>Problem and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813B9A-9B13-4425-8691-2C15E914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D6D8FF-5FB2-4061-A3F7-B38859C4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E867D9-4B89-4DC7-977C-E71416A4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62250"/>
            <a:ext cx="4210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Introduction and motivation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88E429-F4BA-41A1-8BE2-DEFB2EA6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6F434F-29F8-413A-831A-5051AE9B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90900"/>
            <a:ext cx="4210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Related work / state of the art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851E1B-5B8B-46FD-9EB0-950D9C0D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8B259E-32C4-4491-A078-AD4C880B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19550"/>
            <a:ext cx="4210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Dataset and preprocessing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CE9F16-5EA6-443A-A3C5-FE130CC8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76450"/>
            <a:ext cx="447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7B7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87B72"/>
                </a:solidFill>
                <a:latin typeface="Aptos"/>
                <a:ea typeface="Aptos"/>
                <a:cs typeface="Aptos"/>
              </a:rPr>
              <a:t>Method and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A60849-C3CE-4192-A44C-A7550BB7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6CBCA6-453A-4D64-A191-D0CD6970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57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FC6BD2-A1C2-4A75-B0DC-A8736D5C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62250"/>
            <a:ext cx="4210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Methodology and implemented models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3BCC5F-AF7F-4AE0-B267-0953F623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86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35017B-5B15-4990-B2B9-7D94B2E8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90900"/>
            <a:ext cx="4210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Experiments and evaluated configurations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F0CD41-0B4D-46CA-8A4C-DF6AC4BC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14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953233-09AB-4D5D-BABC-17EE00EA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19550"/>
            <a:ext cx="4210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Results, comparison, limitations, future work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CDFD28-5224-4AD2-911C-FF1A114F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816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1B22"/>
                </a:solidFill>
                <a:latin typeface="Aptos"/>
                <a:ea typeface="Aptos"/>
                <a:cs typeface="Aptos"/>
              </a:rPr>
              <a:t>The talk is organized as a scientific project report, not only a model leaderboard.</a:t>
            </a:r>
          </a:p>
        </p:txBody>
      </p:sp>
    </p:spTree>
    <p:extLst>
      <p:ext uri="{BB962C8B-B14F-4D97-AF65-F5344CB8AC3E}">
        <p14:creationId xmlns:p14="http://schemas.microsoft.com/office/powerpoint/2010/main" val="22159235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17D7CE-0966-41EB-8504-9DFE5CDC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01F04B-FE6E-41A8-95D5-CC6A0351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5C9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5C92"/>
                </a:solidFill>
                <a:latin typeface="Aptos"/>
                <a:ea typeface="Aptos"/>
                <a:cs typeface="Aptos"/>
              </a:rPr>
              <a:t>INTRODUCTION AND MOTIVATION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EB6A69-B7F5-4C21-BB29-3D05020C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62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B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1B22"/>
                </a:solidFill>
                <a:latin typeface="Aptos Display"/>
                <a:ea typeface="Aptos Display"/>
                <a:cs typeface="Aptos Display"/>
              </a:rPr>
              <a:t>Facial expression recognition is useful, but hard to evaluate reliably.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8AF3E8-1294-4DB6-A522-91F223FA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858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12B2AF-B5FE-4A56-9519-4A1ED58E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6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67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29B906-5B32-4F74-B1EE-9967C8A1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F86CB-3FF4-44B2-9791-1F4F2355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90750"/>
            <a:ext cx="7353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The task supports affective computing and human-computer interaction.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DA296D-CD3F-4DAE-85A1-4314D93A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29CB58-93FB-41B8-96B6-F43702EE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76550"/>
            <a:ext cx="7353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FER2013 images are low resolution, grayscale, and visually ambiguous.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A819DF-B084-4ECE-922F-41BBC7DD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E7ED35-3A08-418B-8A11-24389EEE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62350"/>
            <a:ext cx="7353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Classes are imbalanced, so accuracy alone can hide weak minority-class behavior.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17458F-7C3C-468C-9A76-07D88D84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46DA65-8D2E-4698-AB46-F13B227D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48150"/>
            <a:ext cx="7353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The project goal is not only a high score, but a controlled comparison of modeling choices.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8435FD-CDCD-4323-83CC-919672B2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956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87B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87B72"/>
                </a:solidFill>
                <a:latin typeface="Aptos"/>
                <a:ea typeface="Aptos"/>
                <a:cs typeface="Aptos"/>
              </a:rPr>
              <a:t>MAIN QUESTION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C951D6-B92E-49E2-A370-591833AC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194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1B22"/>
                </a:solidFill>
                <a:latin typeface="Aptos"/>
                <a:ea typeface="Aptos"/>
                <a:cs typeface="Aptos"/>
              </a:rPr>
              <a:t>What generalizes?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AD88D0-FDEC-4BA4-8560-3C6E28CA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147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6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673"/>
                </a:solidFill>
                <a:latin typeface="Aptos"/>
                <a:ea typeface="Aptos"/>
                <a:cs typeface="Aptos"/>
              </a:rPr>
              <a:t>from custom CNNs to pretrained models and CK+</a:t>
            </a:r>
          </a:p>
        </p:txBody>
      </p:sp>
    </p:spTree>
    <p:extLst>
      <p:ext uri="{BB962C8B-B14F-4D97-AF65-F5344CB8AC3E}">
        <p14:creationId xmlns:p14="http://schemas.microsoft.com/office/powerpoint/2010/main" val="199734350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73CF08-533A-41C2-B604-5D1DB97B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07650-8404-48AD-B620-2948BC45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5C9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5C92"/>
                </a:solidFill>
                <a:latin typeface="Aptos"/>
                <a:ea typeface="Aptos"/>
                <a:cs typeface="Aptos"/>
              </a:rPr>
              <a:t>RELATED WORK / STATE OF THE 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6BCAD6-B439-4373-8DEB-06A69052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62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B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1B22"/>
                </a:solidFill>
                <a:latin typeface="Aptos Display"/>
                <a:ea typeface="Aptos Display"/>
                <a:cs typeface="Aptos Display"/>
              </a:rPr>
              <a:t>FER has moved from handcrafted features to pretrained and attention-based deep models.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CA1AF0-7182-481F-B9F8-0DE308F9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858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2B6246-E543-4069-8BC3-AE5F29AD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6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67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136815-3D7D-46F9-AFF7-03BDD646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447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5C9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5C92"/>
                </a:solidFill>
                <a:latin typeface="Aptos"/>
                <a:ea typeface="Aptos"/>
                <a:cs typeface="Aptos"/>
              </a:rPr>
              <a:t>Earlier and standard approaches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F5B179-8D9D-4ADD-81FC-816A126A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72A3D2-2CAC-491D-BB02-EEE58CF1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DBE3DB-363D-42AA-8C86-0ABBAF87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62250"/>
            <a:ext cx="4210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Classical FER used handcrafted descriptors with shallow classifiers.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F0F5EC-81AE-460C-97BF-5E38A74A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C94EE5-2BB6-4D4B-8E61-5563BE4A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90900"/>
            <a:ext cx="4210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CNNs learn expression features directly from pixels.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ABB441-5499-4F4D-B052-D9D3E141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071655-928E-496F-BAD7-00F34168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19550"/>
            <a:ext cx="4210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ResNet and EfficientNet are common pretrained baselines for transfer learning.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3F0485-81BD-4CDA-AAE8-11C432AF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76450"/>
            <a:ext cx="447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7B7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87B72"/>
                </a:solidFill>
                <a:latin typeface="Aptos"/>
                <a:ea typeface="Aptos"/>
                <a:cs typeface="Aptos"/>
              </a:rPr>
              <a:t>State-of-the-art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E4C6A7-4F9C-4EED-8C22-21B33F75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9CC84A-6274-4E87-A188-185DCDD5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57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9C3ADF-6E5E-4B22-8198-92DEDCDE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62250"/>
            <a:ext cx="4210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Recent systems often add face alignment, attention, transformers, ensembles, or larger datasets.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CBA273-A71C-41EF-B0F2-2F901FA6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86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61D36F-20DF-4225-A644-7E84C93E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90900"/>
            <a:ext cx="4210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This project does not claim state-of-the-art performance.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928C4A-E5E3-4688-8CBD-18348DCC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14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9406DD-86B0-46C3-B948-83C430C8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19550"/>
            <a:ext cx="4210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The fair comparison is between implemented models under the same protocol.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6F1ECF-15F4-4BAD-8959-14431424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5310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1B22"/>
                </a:solidFill>
                <a:latin typeface="Aptos"/>
                <a:ea typeface="Aptos"/>
                <a:cs typeface="Aptos"/>
              </a:rPr>
              <a:t>This keeps the contribution honest: a controlled experimental study on FER2013.</a:t>
            </a:r>
          </a:p>
        </p:txBody>
      </p:sp>
    </p:spTree>
    <p:extLst>
      <p:ext uri="{BB962C8B-B14F-4D97-AF65-F5344CB8AC3E}">
        <p14:creationId xmlns:p14="http://schemas.microsoft.com/office/powerpoint/2010/main" val="20848555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5BEAFA-7A54-4806-ACFB-9FC690CF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6B470-1DB7-4764-B852-6E7D5876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5C9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5C92"/>
                </a:solidFill>
                <a:latin typeface="Aptos"/>
                <a:ea typeface="Aptos"/>
                <a:cs typeface="Aptos"/>
              </a:rPr>
              <a:t>DATASET AND PREPROCESSING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F7D25A-2E8B-473E-94B0-4F1D3249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62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B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1B22"/>
                </a:solidFill>
                <a:latin typeface="Aptos Display"/>
                <a:ea typeface="Aptos Display"/>
                <a:cs typeface="Aptos Display"/>
              </a:rPr>
              <a:t>FER2013 is compact, imbalanced, and visually ambiguous.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817ACD-64A6-4F91-BB3F-38959EA5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858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0F6E30-A44C-428E-B5DD-34439E83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6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67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160705-3209-4A4E-9EF1-672E97F3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3048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477e79d6d146dd"/>
          <a:stretch xmlns:a="http://schemas.openxmlformats.org/drawingml/2006/main"/>
        </p:blipFill>
        <p:spPr>
          <a:xfrm xmlns:a="http://schemas.openxmlformats.org/drawingml/2006/main">
            <a:off x="1389401" y="2190750"/>
            <a:ext cx="1678898" cy="2286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28DDB5-F1D1-4CF9-B0FB-AE24E466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095500"/>
            <a:ext cx="36671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1a439878d54caa"/>
          <a:stretch xmlns:a="http://schemas.openxmlformats.org/drawingml/2006/main"/>
        </p:blipFill>
        <p:spPr>
          <a:xfrm xmlns:a="http://schemas.openxmlformats.org/drawingml/2006/main">
            <a:off x="4048125" y="2258490"/>
            <a:ext cx="3476625" cy="215052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F28DCB-6243-4FB6-BFC8-CBD71C33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5C9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5C92"/>
                </a:solidFill>
                <a:latin typeface="Aptos"/>
                <a:ea typeface="Aptos"/>
                <a:cs typeface="Aptos"/>
              </a:rPr>
              <a:t>IMAGE FORMAT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ECF81D-FD67-44F2-8C5B-ABBFF437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336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1B22"/>
                </a:solidFill>
                <a:latin typeface="Aptos"/>
                <a:ea typeface="Aptos"/>
                <a:cs typeface="Aptos"/>
              </a:rPr>
              <a:t>48x48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E26B2E-BE90-4922-A0C8-52DBB05D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6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673"/>
                </a:solidFill>
                <a:latin typeface="Aptos"/>
                <a:ea typeface="Aptos"/>
                <a:cs typeface="Aptos"/>
              </a:rPr>
              <a:t>grayscale face crops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94C2B0-A08E-4B6A-8974-7C96AF57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338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5E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85E2A"/>
                </a:solidFill>
                <a:latin typeface="Aptos"/>
                <a:ea typeface="Aptos"/>
                <a:cs typeface="Aptos"/>
              </a:rPr>
              <a:t>IMBALANCE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F61503-A0E2-47E1-B49F-BE9E74C3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576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1B22"/>
                </a:solidFill>
                <a:latin typeface="Aptos"/>
                <a:ea typeface="Aptos"/>
                <a:cs typeface="Aptos"/>
              </a:rPr>
              <a:t>disgust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80AD88-85E2-4986-9772-C4DF3A53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529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6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673"/>
                </a:solidFill>
                <a:latin typeface="Aptos"/>
                <a:ea typeface="Aptos"/>
                <a:cs typeface="Aptos"/>
              </a:rPr>
              <a:t>smallest class; happy is largest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56CD05-ABC6-488F-A22E-D3C1C798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62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DA3D57-D1AC-49B8-93DF-C211E673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67300"/>
            <a:ext cx="9067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Macro F1 is used as the primary metric.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D3342D-6EF9-47CF-B620-7AB3ABDF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25501C-1527-4D25-A0A2-7644B654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15000"/>
            <a:ext cx="9067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Weighted F1, per-class scores, and confusion matrices support the analysis.</a:t>
            </a:r>
          </a:p>
        </p:txBody>
      </p:sp>
    </p:spTree>
    <p:extLst>
      <p:ext uri="{BB962C8B-B14F-4D97-AF65-F5344CB8AC3E}">
        <p14:creationId xmlns:p14="http://schemas.microsoft.com/office/powerpoint/2010/main" val="120976397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1E7358-4A81-4D05-89D7-B688C5A0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CFA91D-EC85-41A1-9A69-AF3B277B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5C9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5C92"/>
                </a:solidFill>
                <a:latin typeface="Aptos"/>
                <a:ea typeface="Aptos"/>
                <a:cs typeface="Aptos"/>
              </a:rPr>
              <a:t>DATASET AND PREPROCESSING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F39034-3294-45A5-BDBA-28D5FCCC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62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B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1B22"/>
                </a:solidFill>
                <a:latin typeface="Aptos Display"/>
                <a:ea typeface="Aptos Display"/>
                <a:cs typeface="Aptos Display"/>
              </a:rPr>
              <a:t>Preprocessing differs by model family, and affect space helps interpret errors.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CA022F-0FD1-4F7C-BCE9-63785CAF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858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4A7C1B-5B1D-4670-945B-02C8D28D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6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67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981252-39CF-44AC-9B49-86B5ADBD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197EF5-4D98-4B10-9E3C-2A7FE57E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717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Custom CNNs use 48x48 grayscale inputs with augmentation.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E1DA31-92BD-4345-8725-F1927B36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6BF749-B47F-457E-A68B-010E6EDA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194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Pretrained CNNs use resized 224x224, three-channel, normalized inputs.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051B82-961F-4FF4-9EF8-F8625A61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195777-64C5-42B1-B505-CB1C1DD8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671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Augmentation tests whether small shifts and crops improve robustness.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4E13E7-1BA2-4800-AAF8-D8D89CA7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0C3DCF-5C05-4C1A-BC64-93462A41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148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The affect circumplex explains why nearby emotions are naturally confused.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E8EC59-F568-4EF1-B2C6-C070597A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52650"/>
            <a:ext cx="3905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1fe4d7a7cb4108"/>
          <a:stretch xmlns:a="http://schemas.openxmlformats.org/drawingml/2006/main"/>
        </p:blipFill>
        <p:spPr>
          <a:xfrm xmlns:a="http://schemas.openxmlformats.org/drawingml/2006/main">
            <a:off x="7243276" y="2247900"/>
            <a:ext cx="2944198" cy="2476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41723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84F4B6-3DDA-44BC-B200-FD10311C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EC195-A9CD-436D-9E4E-D880C9E7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5C9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5C92"/>
                </a:solidFill>
                <a:latin typeface="Aptos"/>
                <a:ea typeface="Aptos"/>
                <a:cs typeface="Aptos"/>
              </a:rPr>
              <a:t>METHODOLOGY AND IMPLEMENTED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20FE6B-A96C-480C-B4B4-0CC6877B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62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B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1B22"/>
                </a:solidFill>
                <a:latin typeface="Aptos Display"/>
                <a:ea typeface="Aptos Display"/>
                <a:cs typeface="Aptos Display"/>
              </a:rPr>
              <a:t>The methodology is a controlled experiment, not a list of unrelated models.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C286CE-9DCE-4950-966D-9C6B7D51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858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EDE97C-291A-4F96-B963-C24A54C3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6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67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F5DDD0-0E24-423C-9CF3-7BAB010A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EC6C83-D5EB-46B4-A37C-5ACA9B12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6972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Fixed dataset split and label order across experiments.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C12F8B-17C2-42C9-875E-DA526AB8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5DFD5E-31C8-482B-9A94-E88EA77D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24150"/>
            <a:ext cx="6972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Changed one modeling or training choice at a time when possible.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3FE7C4-C4DD-423E-B103-6E8D487F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963B8C-9433-4BBB-B332-E6256046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95650"/>
            <a:ext cx="6972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Compared macro F1, weighted F1, per-class scores, and confusion matrices.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84F539-7D74-4C27-B0CD-857A8270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FA151A-DE41-435D-9E9C-EB5E26BB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67150"/>
            <a:ext cx="6972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Used crop/TenCrop evaluation to test whether inference-time crops improve robustness.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5E2F6A-770E-4121-9D41-8003FAF3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EC8BE8-9673-44A5-AC42-52FA8AD9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6972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Validated selected final checkpoints on CK+ to observe domain transfer.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D6E85E-2B88-4FA0-81B0-5E751143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87B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87B72"/>
                </a:solidFill>
                <a:latin typeface="Aptos"/>
                <a:ea typeface="Aptos"/>
                <a:cs typeface="Aptos"/>
              </a:rPr>
              <a:t>CONTROLLED VARIABLE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E42DE1-A2F0-467D-80E5-7166953C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956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1B22"/>
                </a:solidFill>
                <a:latin typeface="Aptos"/>
                <a:ea typeface="Aptos"/>
                <a:cs typeface="Aptos"/>
              </a:rPr>
              <a:t>configuration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392146-E34C-456B-9B32-1543B100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909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6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673"/>
                </a:solidFill>
                <a:latin typeface="Aptos"/>
                <a:ea typeface="Aptos"/>
                <a:cs typeface="Aptos"/>
              </a:rPr>
              <a:t>architecture, imbalance handling, optimizer, fine-tuning depth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92E19E-EBAD-47FC-88FE-63B0376D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95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5E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85E2A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346E09-53EC-45BC-9A24-F54BE636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196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1B22"/>
                </a:solidFill>
                <a:latin typeface="Aptos"/>
                <a:ea typeface="Aptos"/>
                <a:cs typeface="Aptos"/>
              </a:rPr>
              <a:t>same metrics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83446A-8C62-4C93-A5E6-A18F5471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149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6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673"/>
                </a:solidFill>
                <a:latin typeface="Aptos"/>
                <a:ea typeface="Aptos"/>
                <a:cs typeface="Aptos"/>
              </a:rPr>
              <a:t>so model families remain comparable</a:t>
            </a:r>
          </a:p>
        </p:txBody>
      </p:sp>
    </p:spTree>
    <p:extLst>
      <p:ext uri="{BB962C8B-B14F-4D97-AF65-F5344CB8AC3E}">
        <p14:creationId xmlns:p14="http://schemas.microsoft.com/office/powerpoint/2010/main" val="209108846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0EECE8-CAA4-46B4-9047-8F0BE72F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DDB8B-F4F2-4050-9294-051F9A19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5C9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5C92"/>
                </a:solidFill>
                <a:latin typeface="Aptos"/>
                <a:ea typeface="Aptos"/>
                <a:cs typeface="Aptos"/>
              </a:rPr>
              <a:t>METHODOLOGY AND IMPLEMENTED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12291E-4909-4F76-AEC1-3B904E27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62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B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1B22"/>
                </a:solidFill>
                <a:latin typeface="Aptos Display"/>
                <a:ea typeface="Aptos Display"/>
                <a:cs typeface="Aptos Display"/>
              </a:rPr>
              <a:t>The implemented models test from-scratch learning, capacity, pretraining, and efficiency.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C12CAC-4C3E-4A7C-8B63-F0FB388D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858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ADB1AD-108A-4993-BBFD-39F835DF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6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673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22F926-9148-408E-ABDB-CEEEF8C5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447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5C9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5C92"/>
                </a:solidFill>
                <a:latin typeface="Aptos"/>
                <a:ea typeface="Aptos"/>
                <a:cs typeface="Aptos"/>
              </a:rPr>
              <a:t>From-scratch CNNs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D30AC-F6CB-4FF5-A27E-A936024C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9B3727-F08F-4E9B-A603-F25F4DDF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F7DC70-4676-40F8-8E1D-7EC0E4C3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62250"/>
            <a:ext cx="4210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Custom CNN: simple baseline trained directly on 48x48 grayscale images.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240E52-AC34-4F93-AF37-2E52E5C1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6FA6C0-E177-4E9E-947F-A8CFC6EF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90900"/>
            <a:ext cx="4210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Deeper CNN: increased capacity and longer training.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C47F27-13BF-4C44-9D83-C84AC859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863884-55FA-41B5-B757-61E7A7B1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19550"/>
            <a:ext cx="4210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Used class weights, weighted sampling, focal loss, and SGD variants.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697C78-2814-42C0-A23E-AE0EA3E0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76450"/>
            <a:ext cx="447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7B7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87B72"/>
                </a:solidFill>
                <a:latin typeface="Aptos"/>
                <a:ea typeface="Aptos"/>
                <a:cs typeface="Aptos"/>
              </a:rPr>
              <a:t>Pretrained CNNs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0D1B0D-DC41-4946-93AD-8CCFED7C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20F1F1-ABB7-4393-86AE-1FC61A28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57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70FD52-9BA7-4617-A300-A0730B88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62250"/>
            <a:ext cx="4210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ResNet18: standard pretrained backbone with partial fine-tuning.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DBAEAC-23DF-49EE-ABF6-82619D8B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86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2BC0A3-DB8D-4403-9489-C4652FB5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90900"/>
            <a:ext cx="4210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EfficientNet-B0: lightweight pretrained comparison.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410366-7EDE-46D3-BA38-70BA7BA5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14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552239-F16D-4CE6-8207-D95E21DF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19550"/>
            <a:ext cx="4210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Both use 224x224 RGB-like inputs adapted from FER2013.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FEFFF1-388A-4522-9B5C-6B1D7F43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340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1B22"/>
                </a:solidFill>
                <a:latin typeface="Aptos"/>
                <a:ea typeface="Aptos"/>
                <a:cs typeface="Aptos"/>
              </a:rPr>
              <a:t>The design tests whether extra capacity or pretrained features matter more.</a:t>
            </a:r>
          </a:p>
        </p:txBody>
      </p:sp>
    </p:spTree>
    <p:extLst>
      <p:ext uri="{BB962C8B-B14F-4D97-AF65-F5344CB8AC3E}">
        <p14:creationId xmlns:p14="http://schemas.microsoft.com/office/powerpoint/2010/main" val="78157455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B2B5A3-AB6B-4C9A-94EF-C233CB05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680B0F-0BE7-4D27-BC83-9E744279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5C9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5C92"/>
                </a:solidFill>
                <a:latin typeface="Aptos"/>
                <a:ea typeface="Aptos"/>
                <a:cs typeface="Aptos"/>
              </a:rPr>
              <a:t>EXPERIMENTS AND EVALUATED CONFIGURATIONS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9D969A-6684-441C-8F55-216E8416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62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B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1B22"/>
                </a:solidFill>
                <a:latin typeface="Aptos Display"/>
                <a:ea typeface="Aptos Display"/>
                <a:cs typeface="Aptos Display"/>
              </a:rPr>
              <a:t>The experiments build a gradual baseline progression before transfer learning.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5E2810-2B54-4A78-8F6D-2EB4273F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858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21421C-1FB5-42FB-B988-91E0F88C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6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673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CE6847-A01F-403B-B184-7512A930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28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9C3949-6EDB-4084-889F-9E4087DB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33600"/>
            <a:ext cx="6496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Start with a basic custom CNN trained from scratch.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0070C6-2B0F-4F13-8AFB-A57009E5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144DB7-B5EB-4841-AB31-9FBC3016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6496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Add augmentation, then imbalance handling.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6B97DB-5284-4F9B-8381-BBFA326E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6326DB-CFB4-47E1-A678-185A777C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38500"/>
            <a:ext cx="6496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Tune loss/optimizer choices: cross-entropy, focal loss, SGD, LR plateau, clipping.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69810B-6EB1-4825-978F-CFE032C4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86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8AAA4B-A879-456F-8DAF-B1EA40B4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90950"/>
            <a:ext cx="6496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Increase model capacity with a deeper CNN and longer training.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C0D36D-5580-4CC2-B63B-376DB751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8692D3-A7A1-41AD-A7C0-E085C105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43400"/>
            <a:ext cx="6496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Compare against pretrained ResNet18 and EfficientNet-B0 configurations.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5218EC-F76C-46B0-BACB-458485C3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B22"/>
                </a:solidFill>
                <a:latin typeface="Aptos"/>
                <a:ea typeface="Aptos"/>
                <a:cs typeface="Aptos"/>
              </a:rPr>
              <a:t>Saved baseline results, test macro F1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EDBCB0-AE36-4874-844D-E552C1C3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956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5E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85E2A"/>
                </a:solidFill>
                <a:latin typeface="Aptos"/>
                <a:ea typeface="Aptos"/>
                <a:cs typeface="Aptos"/>
              </a:rPr>
              <a:t>oversampling + focal: 0.483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ABDFCD-FE07-4179-AB11-1DBB6D7B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099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5C9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5C92"/>
                </a:solidFill>
                <a:latin typeface="Aptos"/>
                <a:ea typeface="Aptos"/>
                <a:cs typeface="Aptos"/>
              </a:rPr>
              <a:t>weighted sampler + CE + SGD: 0.595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34440F-62EF-43D3-9416-DCA3DA00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87B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87B72"/>
                </a:solidFill>
                <a:latin typeface="Aptos"/>
                <a:ea typeface="Aptos"/>
                <a:cs typeface="Aptos"/>
              </a:rPr>
              <a:t>weighted sampler + focal + SGD: 0.603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98DC53-07D4-4EEA-A630-7ACEC308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386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5C9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5C92"/>
                </a:solidFill>
                <a:latin typeface="Aptos"/>
                <a:ea typeface="Aptos"/>
                <a:cs typeface="Aptos"/>
              </a:rPr>
              <a:t>deeper CNN, 80 epochs: 0.624</a:t>
            </a:r>
          </a:p>
        </p:txBody>
      </p:sp>
    </p:spTree>
    <p:extLst>
      <p:ext uri="{BB962C8B-B14F-4D97-AF65-F5344CB8AC3E}">
        <p14:creationId xmlns:p14="http://schemas.microsoft.com/office/powerpoint/2010/main" val="91574548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CBDB88-1E13-4058-9235-9611687F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E78DA9-5596-4E2E-BFD3-2AC02C3F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5C9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5C92"/>
                </a:solidFill>
                <a:latin typeface="Aptos"/>
                <a:ea typeface="Aptos"/>
                <a:cs typeface="Aptos"/>
              </a:rPr>
              <a:t>RESULTS AND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70B2BC-FFA9-48FF-BAFF-1DF4E4A5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62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B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1B22"/>
                </a:solidFill>
                <a:latin typeface="Aptos Display"/>
                <a:ea typeface="Aptos Display"/>
                <a:cs typeface="Aptos Display"/>
              </a:rPr>
              <a:t>Baseline improvements help, but from-scratch CNNs plateau below transfer learning.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D253D1-0B97-490D-87F7-2A46E5CD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858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8B874D-1D1C-44AD-B7AD-97E40334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6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673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609E4B-FA0A-4BC0-B0A9-F6497F11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17C060-FF3A-4DE4-BBED-7A5B6280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09800"/>
            <a:ext cx="554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Naive imbalance handling alone did not solve the task.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9EABC6-B9A0-4E45-A33B-375288FD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331A50-ADD1-4CB3-A00D-EA359142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76550"/>
            <a:ext cx="554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Weighted sampling plus SGD improved the custom CNN baseline.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AA5901-8956-403D-B741-6D12C8C6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D5858D-4214-4C7B-AF8A-A0D67AE7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43300"/>
            <a:ext cx="554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The deeper CNN was the best from-scratch model in the saved runs.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6FBDD8-D7A3-4573-AF26-BD7EACAD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9104BA-9D4E-444A-9856-B4ADF654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10050"/>
            <a:ext cx="554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The main persistent error was sad being predicted as neutral.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3E229C-D4B4-425A-9D3A-B50BDEF8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5C9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5C92"/>
                </a:solidFill>
                <a:latin typeface="Aptos"/>
                <a:ea typeface="Aptos"/>
                <a:cs typeface="Aptos"/>
              </a:rPr>
              <a:t>best custom CNN macro F1: 0.624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AED624-3609-4C77-9E62-F3075E51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7B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87B72"/>
                </a:solidFill>
                <a:latin typeface="Aptos"/>
                <a:ea typeface="Aptos"/>
                <a:cs typeface="Aptos"/>
              </a:rPr>
              <a:t>weighted F1: 0.649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588818-CD6D-4B9A-8B69-54CEF6D8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385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5E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5E2A"/>
                </a:solidFill>
                <a:latin typeface="Aptos"/>
                <a:ea typeface="Aptos"/>
                <a:cs typeface="Aptos"/>
              </a:rPr>
              <a:t>crop/TenCrop baseline: 0.597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C01637-BE47-423E-A223-BC6AD101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339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87B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87B72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C4E6CA-FD24-40C4-9811-D14F81FF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577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1B22"/>
                </a:solidFill>
                <a:latin typeface="Aptos"/>
                <a:ea typeface="Aptos"/>
                <a:cs typeface="Aptos"/>
              </a:rPr>
              <a:t>capacity helps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149682-6809-4B07-9469-2861CE58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35305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6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673"/>
                </a:solidFill>
                <a:latin typeface="Aptos"/>
                <a:ea typeface="Aptos"/>
                <a:cs typeface="Aptos"/>
              </a:rPr>
              <a:t>but not enough to close the transfer-learning gap</a:t>
            </a:r>
          </a:p>
        </p:txBody>
      </p:sp>
    </p:spTree>
    <p:extLst>
      <p:ext uri="{BB962C8B-B14F-4D97-AF65-F5344CB8AC3E}">
        <p14:creationId xmlns:p14="http://schemas.microsoft.com/office/powerpoint/2010/main" val="172323583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D218A3-B0EC-4C03-9B84-096BE179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7825AC-ABE4-4932-851C-F556CF9B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5C9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5C92"/>
                </a:solidFill>
                <a:latin typeface="Aptos"/>
                <a:ea typeface="Aptos"/>
                <a:cs typeface="Aptos"/>
              </a:rPr>
              <a:t>RESULTS AND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C1003B-24F5-44B1-9B17-C32FF7BA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62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B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1B22"/>
                </a:solidFill>
                <a:latin typeface="Aptos Display"/>
                <a:ea typeface="Aptos Display"/>
                <a:cs typeface="Aptos Display"/>
              </a:rPr>
              <a:t>Partial fine-tuning is the major gain in the pretrained models.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F900A5-017D-41A8-95A9-78AE4B98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858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C5472-8599-47EB-B71D-C24FBA2B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6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673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345426-DE60-42B9-9B69-82A5D634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DC0363-66B0-4EB3-96E3-98DD2760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09800"/>
            <a:ext cx="5924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ResNet18 feature extraction alone was too weak for FER2013.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384058-6DD8-4678-B877-8DE18135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5E1AB7-75EB-4A9B-8C03-B6BAF310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76550"/>
            <a:ext cx="5924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Unfreezing deeper layers produced the main improvement.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90B9D1-2AC2-4ABA-9D00-75C251D2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77D76B-E06F-43FF-9B02-4838A73B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43300"/>
            <a:ext cx="5924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Crop/TenCrop evaluation gave the best saved ResNet18 report.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350C21-1303-4CE9-BDA6-15A32093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94E0AA-EFF3-4FE5-9E27-346ECBF3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10050"/>
            <a:ext cx="5924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EfficientNet-B0 with crop/TenCrop slightly exceeded ResNet18 on FER2013.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134E1E-5D00-4D97-B10A-39C6E5E9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479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673"/>
                </a:solidFill>
                <a:latin typeface="Aptos"/>
                <a:ea typeface="Aptos"/>
                <a:cs typeface="Aptos"/>
              </a:rPr>
              <a:t>ResNet18 feature extraction: 0.352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617E36-BC18-4CE4-8A47-675E577D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003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5C9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5C92"/>
                </a:solidFill>
                <a:latin typeface="Aptos"/>
                <a:ea typeface="Aptos"/>
                <a:cs typeface="Aptos"/>
              </a:rPr>
              <a:t>ResNet18 fine-tuned: 0.676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00F3DD-9AD8-495E-A58D-2ECFD54D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528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87B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87B72"/>
                </a:solidFill>
                <a:latin typeface="Aptos"/>
                <a:ea typeface="Aptos"/>
                <a:cs typeface="Aptos"/>
              </a:rPr>
              <a:t>ResNet18 crop/TenCrop: 0.682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3D7290-7703-433C-A3D5-C90DEE15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052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87B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87B72"/>
                </a:solidFill>
                <a:latin typeface="Aptos"/>
                <a:ea typeface="Aptos"/>
                <a:cs typeface="Aptos"/>
              </a:rPr>
              <a:t>EfficientNet-B0 crop/TenCrop: 0.685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9ED500-01C5-41B7-A9E6-18883203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625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87B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87B72"/>
                </a:solidFill>
                <a:latin typeface="Aptos"/>
                <a:ea typeface="Aptos"/>
                <a:cs typeface="Aptos"/>
              </a:rPr>
              <a:t>BEST FER2013 REPORT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0DFB1F-B046-4949-9509-DEB7A34C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863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1B22"/>
                </a:solidFill>
                <a:latin typeface="Aptos"/>
                <a:ea typeface="Aptos"/>
                <a:cs typeface="Aptos"/>
              </a:rPr>
              <a:t>0.685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591ED7-5BFB-4B5D-985B-B0199E5C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8165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6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673"/>
                </a:solidFill>
                <a:latin typeface="Aptos"/>
                <a:ea typeface="Aptos"/>
                <a:cs typeface="Aptos"/>
              </a:rPr>
              <a:t>EfficientNet-B0 macro F1</a:t>
            </a:r>
          </a:p>
        </p:txBody>
      </p:sp>
    </p:spTree>
    <p:extLst>
      <p:ext uri="{BB962C8B-B14F-4D97-AF65-F5344CB8AC3E}">
        <p14:creationId xmlns:p14="http://schemas.microsoft.com/office/powerpoint/2010/main" val="132036127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18DCCB-A513-489D-8A65-C2DE7E03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314A8C-8026-452F-A1B3-953C3E48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5C9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5C92"/>
                </a:solidFill>
                <a:latin typeface="Aptos"/>
                <a:ea typeface="Aptos"/>
                <a:cs typeface="Aptos"/>
              </a:rPr>
              <a:t>RESULTS AND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D74C2-65D3-473D-AA0D-72DECD40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62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B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1B22"/>
                </a:solidFill>
                <a:latin typeface="Aptos Display"/>
                <a:ea typeface="Aptos Display"/>
                <a:cs typeface="Aptos Display"/>
              </a:rPr>
              <a:t>The error analysis is consistent with the confusion matrix and affect space.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EEC497-F75D-4A78-8490-351573AC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858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CFF09C-E3F1-40E0-9EF6-44B70412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6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673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756B12-883B-466D-9F37-E4851CD3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667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81ded352cd42e7"/>
          <a:stretch xmlns:a="http://schemas.openxmlformats.org/drawingml/2006/main"/>
        </p:blipFill>
        <p:spPr>
          <a:xfrm xmlns:a="http://schemas.openxmlformats.org/drawingml/2006/main">
            <a:off x="800100" y="2627102"/>
            <a:ext cx="4476750" cy="2232446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B10F79-02CE-4BCC-9CC5-6FAA5F52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38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E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879EBB-5F6E-40D2-9393-C6933B00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43150"/>
            <a:ext cx="4210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Happy and surprise are comparatively clean.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3E4A42-BE61-4DEE-B7DA-0B643190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05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E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4A3973-8D10-4387-ADD4-51DBB184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09900"/>
            <a:ext cx="4210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Fear and sad remain difficult classes.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CB26F2-3539-42F8-A492-577409A6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71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E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CA2BA1-5804-45F3-8BCD-48C35587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76650"/>
            <a:ext cx="4210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Sad -&gt; neutral is the most persistent confusion.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79E8B8-587D-4ED5-86E9-ADC6FB47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38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E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56F0-4597-4D4B-BB6C-ECA6EC66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43400"/>
            <a:ext cx="4210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This matches the affect-space interpretation: nearby affective states are harder to separate.</a:t>
            </a:r>
          </a:p>
        </p:txBody>
      </p:sp>
    </p:spTree>
    <p:extLst>
      <p:ext uri="{BB962C8B-B14F-4D97-AF65-F5344CB8AC3E}">
        <p14:creationId xmlns:p14="http://schemas.microsoft.com/office/powerpoint/2010/main" val="178812403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12A96C-2FFB-4DD9-A42A-99CC0740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FD02E1-9965-44E0-811A-9BB7AF2D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5C9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5C92"/>
                </a:solidFill>
                <a:latin typeface="Aptos"/>
                <a:ea typeface="Aptos"/>
                <a:cs typeface="Aptos"/>
              </a:rPr>
              <a:t>COMPARISON AGAINST BASELINES AND STATE OF THE 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4B4C93-38DA-4663-8B6F-69433C2E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62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B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1B22"/>
                </a:solidFill>
                <a:latin typeface="Aptos Display"/>
                <a:ea typeface="Aptos Display"/>
                <a:cs typeface="Aptos Display"/>
              </a:rPr>
              <a:t>The final comparison separates implemented baselines from broader SOTA claims.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82D20A-028E-46A7-8060-0E98F396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858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1208C0-00C6-4405-9996-A33F912B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6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673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459663-64A4-4E21-B1B0-56A69832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FE3391-E294-4141-B3C9-86061EE9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90750"/>
            <a:ext cx="659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Best custom CNN: 0.624 macro F1.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B9DF36-2BCB-47A8-9480-91A0ABEC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B59373-0259-4D26-B332-B993200B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38450"/>
            <a:ext cx="659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Best ResNet18: 0.682 macro F1 with partial fine-tuning and crop/TenCrop.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E8E96B-5FE5-4142-BB32-FE0B3F85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55CA91-AEDC-4FC7-9F7E-9B909DF1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659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Best EfficientNet-B0: 0.685 macro F1 with last blocks fine-tuned and crop/TenCrop.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38105F-2AEF-4D28-A4C1-49EEA2B4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BCEE6B-2A05-42AC-93CF-407FB2E0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33850"/>
            <a:ext cx="659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The project does not claim state-of-the-art; modern FER often uses alignment, attention, ensembles, and larger setups.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3F1954-5E41-4EC7-8274-8587A3B7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717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5E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5E2A"/>
                </a:solidFill>
                <a:latin typeface="Aptos"/>
                <a:ea typeface="Aptos"/>
                <a:cs typeface="Aptos"/>
              </a:rPr>
              <a:t>custom CNN: 0.624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5E00F4-8FC9-412E-B606-3598304E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147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5C9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5C92"/>
                </a:solidFill>
                <a:latin typeface="Aptos"/>
                <a:ea typeface="Aptos"/>
                <a:cs typeface="Aptos"/>
              </a:rPr>
              <a:t>ResNet18: 0.682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5C8B22-D3BC-4B74-88A3-D47EEB26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576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87B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87B72"/>
                </a:solidFill>
                <a:latin typeface="Aptos"/>
                <a:ea typeface="Aptos"/>
                <a:cs typeface="Aptos"/>
              </a:rPr>
              <a:t>EfficientNet-B0: 0.685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0CEFF5-7C53-40ED-A184-90A2599F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149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87B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87B72"/>
                </a:solidFill>
                <a:latin typeface="Aptos"/>
                <a:ea typeface="Aptos"/>
                <a:cs typeface="Aptos"/>
              </a:rPr>
              <a:t>MAIN CONCLUSION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5A37F6-F3A0-4DEC-9DF4-23BCA4A3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23875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1B22"/>
                </a:solidFill>
                <a:latin typeface="Aptos"/>
                <a:ea typeface="Aptos"/>
                <a:cs typeface="Aptos"/>
              </a:rPr>
              <a:t>pretraining helps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1EE087-B80F-4A14-B4D9-0384507D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734050"/>
            <a:ext cx="266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6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673"/>
                </a:solidFill>
                <a:latin typeface="Aptos"/>
                <a:ea typeface="Aptos"/>
                <a:cs typeface="Aptos"/>
              </a:rPr>
              <a:t>but architecture is not the only source of error</a:t>
            </a:r>
          </a:p>
        </p:txBody>
      </p:sp>
    </p:spTree>
    <p:extLst>
      <p:ext uri="{BB962C8B-B14F-4D97-AF65-F5344CB8AC3E}">
        <p14:creationId xmlns:p14="http://schemas.microsoft.com/office/powerpoint/2010/main" val="114079508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F4B81B-D138-44CD-B058-A7CD46D4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B18CCC-7DD9-4F46-A7EC-5D7507D9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5C9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5C92"/>
                </a:solidFill>
                <a:latin typeface="Aptos"/>
                <a:ea typeface="Aptos"/>
                <a:cs typeface="Aptos"/>
              </a:rPr>
              <a:t>COMPARISON AGAINST BASELINES AND STATE OF THE 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837ECA-873C-43C3-8AE6-CED20FA0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62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B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1B22"/>
                </a:solidFill>
                <a:latin typeface="Aptos Display"/>
                <a:ea typeface="Aptos Display"/>
                <a:cs typeface="Aptos Display"/>
              </a:rPr>
              <a:t>CK+ external validation changes the ranking and exposes domain shift.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A1933-FB79-40C4-8A98-1902273E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858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C5C2B7-A7F2-4DF3-BF26-02257043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6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673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A3D2FC-D7B9-431C-B709-E49BE1F8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4286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48c44764c14d39"/>
          <a:stretch xmlns:a="http://schemas.openxmlformats.org/drawingml/2006/main"/>
        </p:blipFill>
        <p:spPr>
          <a:xfrm xmlns:a="http://schemas.openxmlformats.org/drawingml/2006/main">
            <a:off x="800100" y="2622539"/>
            <a:ext cx="4095750" cy="212727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EBACB1-945F-4002-9BEC-C8BB3377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6220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5E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5E2A"/>
                </a:solidFill>
                <a:latin typeface="Aptos"/>
                <a:ea typeface="Aptos"/>
                <a:cs typeface="Aptos"/>
              </a:rPr>
              <a:t>baseline CNN on CK+: 0.724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16B7EF-291A-4680-8E32-C41B9A98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0990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5C9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5C92"/>
                </a:solidFill>
                <a:latin typeface="Aptos"/>
                <a:ea typeface="Aptos"/>
                <a:cs typeface="Aptos"/>
              </a:rPr>
              <a:t>ResNet18 on CK+: 0.707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A5AC74-BAAD-4F9C-8194-A9E4E085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5760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87B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87B72"/>
                </a:solidFill>
                <a:latin typeface="Aptos"/>
                <a:ea typeface="Aptos"/>
                <a:cs typeface="Aptos"/>
              </a:rPr>
              <a:t>EfficientNet-B0 on CK+: 0.556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3B29EC-DC99-4310-8729-BBCE4A57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10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E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F8BE1A-0AAA-4811-8E9A-AD967C73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14850"/>
            <a:ext cx="4210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The best FER2013 model does not automatically dominate CK+.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3FE1DA-9C75-40B7-8913-B452A4F5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95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E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8C9A7E-EB2C-4893-815C-5901B5CE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200650"/>
            <a:ext cx="4210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External validation suggests dataset shift between FER2013 and CK+.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5A1A8A-BAFC-4EF0-A4E5-ADA8E5D3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98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E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725841-F949-4915-9259-10263091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86450"/>
            <a:ext cx="4210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This is why final conclusions should not rely only on the internal test split.</a:t>
            </a:r>
          </a:p>
        </p:txBody>
      </p:sp>
    </p:spTree>
    <p:extLst>
      <p:ext uri="{BB962C8B-B14F-4D97-AF65-F5344CB8AC3E}">
        <p14:creationId xmlns:p14="http://schemas.microsoft.com/office/powerpoint/2010/main" val="134519499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C730D2-4CF1-4AFB-AA59-5436E049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86A3D5-DA21-4930-9C0F-2A8361BC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5C9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5C92"/>
                </a:solidFill>
                <a:latin typeface="Aptos"/>
                <a:ea typeface="Aptos"/>
                <a:cs typeface="Aptos"/>
              </a:rPr>
              <a:t>DISCUSSION OF LIMITATIONS AND OBSERVATIONS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C9DAFF-C6F9-46FC-8136-01270BC4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62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B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1B22"/>
                </a:solidFill>
                <a:latin typeface="Aptos Display"/>
                <a:ea typeface="Aptos Display"/>
                <a:cs typeface="Aptos Display"/>
              </a:rPr>
              <a:t>The results are useful, but the model should not be overclaimed.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D732F-C97B-4869-A74B-D7FA0DFD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858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D2030A-FB5E-42CA-B2EC-7CB87F28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6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673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AD16C3-82F3-4728-B49C-BC8B2936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E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F4CA2F-B882-462F-BF1E-E8FC1D76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6972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FER2013 is low-resolution and contains ambiguous or noisy labels.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34EEF5-7E01-4376-AA3B-C38AD57A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E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D91ED6-9609-44D7-97B3-8D9D08B9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43200"/>
            <a:ext cx="6972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Class imbalance remains visible even after sampler and loss changes.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DE8D26-82D9-4D90-99E3-0C76F0E1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E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0ED16E-CE6C-4FDA-AD04-7E64A8E3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6972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Emotion labels are categorical, but affect is continuous.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B82CB0-2980-489E-A9A4-AF621E18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E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95A2D3-2CBB-42BF-900B-EB416963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24300"/>
            <a:ext cx="6972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External validation shows domain shift between FER2013 and CK+.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184A82-C20D-4820-9801-64857D40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0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E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02E4D7-37AB-4701-AE65-C9E14832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14850"/>
            <a:ext cx="6972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No explicit face alignment pipeline was included.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C975BB-AB0C-4250-9983-C5C6D1F5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03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5C9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5C92"/>
                </a:solidFill>
                <a:latin typeface="Aptos"/>
                <a:ea typeface="Aptos"/>
                <a:cs typeface="Aptos"/>
              </a:rPr>
              <a:t>OBSERVATION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669773-F85A-4130-BDE1-14089582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2420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1B22"/>
                </a:solidFill>
                <a:latin typeface="Aptos"/>
                <a:ea typeface="Aptos"/>
                <a:cs typeface="Aptos"/>
              </a:rPr>
              <a:t>metrics matter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9F1F11-D489-453C-B4D4-6D4D3DAB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19500"/>
            <a:ext cx="266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6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673"/>
                </a:solidFill>
                <a:latin typeface="Aptos"/>
                <a:ea typeface="Aptos"/>
                <a:cs typeface="Aptos"/>
              </a:rPr>
              <a:t>macro F1 and per-class analysis reveal problems hidden by aggregate scores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DBA3C4-9AC8-411A-B9A0-6D0E4B4F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243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87B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87B72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BE0876-17C7-4B8B-9779-2CC026F8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4820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1B22"/>
                </a:solidFill>
                <a:latin typeface="Aptos"/>
                <a:ea typeface="Aptos"/>
                <a:cs typeface="Aptos"/>
              </a:rPr>
              <a:t>overfitting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FE5130-FFB8-4444-83EB-84949466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43500"/>
            <a:ext cx="266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6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673"/>
                </a:solidFill>
                <a:latin typeface="Aptos"/>
                <a:ea typeface="Aptos"/>
                <a:cs typeface="Aptos"/>
              </a:rPr>
              <a:t>improvements on FER2013 may not transfer cleanly</a:t>
            </a:r>
          </a:p>
        </p:txBody>
      </p:sp>
    </p:spTree>
    <p:extLst>
      <p:ext uri="{BB962C8B-B14F-4D97-AF65-F5344CB8AC3E}">
        <p14:creationId xmlns:p14="http://schemas.microsoft.com/office/powerpoint/2010/main" val="123573189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2E78AF-9F7F-4D51-A37E-06C7EF7D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2FCD0A-1F94-46EE-A5D0-F1BED250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5C9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5C92"/>
                </a:solidFill>
                <a:latin typeface="Aptos"/>
                <a:ea typeface="Aptos"/>
                <a:cs typeface="Aptos"/>
              </a:rPr>
              <a:t>CONCLUSIONS AND FUTURE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C712AA-A561-46AA-BBFD-6BB527B5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62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B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1B22"/>
                </a:solidFill>
                <a:latin typeface="Aptos Display"/>
                <a:ea typeface="Aptos Display"/>
                <a:cs typeface="Aptos Display"/>
              </a:rPr>
              <a:t>The project improves FER2013 performance while identifying the remaining bottlenecks.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575E0A-474A-4E00-B282-DBACE90A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858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929E44-963E-4858-96AF-1987F4DA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6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673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41309D-A2D3-4216-B869-1777316D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57400"/>
            <a:ext cx="447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5C9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5C92"/>
                </a:solidFill>
                <a:latin typeface="Aptos"/>
                <a:ea typeface="Aptos"/>
                <a:cs typeface="Aptos"/>
              </a:rPr>
              <a:t>Conclusions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25DA30-E3B7-4B16-AE1E-00D1E192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FE0411-6F40-49FF-91C1-04D79C2A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EDEEC9-64DF-48AC-A5B5-847305AC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43200"/>
            <a:ext cx="4210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Transfer learning clearly outperforms the custom CNN baseline.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239C6F-E7A8-4D58-83CD-08B3BB3C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67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0D8ED7-5C9D-4C10-8AA1-49888C90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71850"/>
            <a:ext cx="4210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EfficientNet-B0 and ResNet18 are close on FER2013 after crop/TenCrop.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82AC11-945A-49A1-AE67-45DAE9C0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F5C944-22F8-4BF9-A313-D28D9A95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00500"/>
            <a:ext cx="4210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Error analysis shows that fear, sad, and neutral remain challenging.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06834D-8814-4C91-B5FE-166A5F56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24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9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1D6F8A-187B-4693-A89B-DA099287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29150"/>
            <a:ext cx="4210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CK+ validation shows the importance of checking domain shift.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BB74C0-2F56-4FAF-8AA2-5A75A5CD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57400"/>
            <a:ext cx="447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7B7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87B72"/>
                </a:solidFill>
                <a:latin typeface="Aptos"/>
                <a:ea typeface="Aptos"/>
                <a:cs typeface="Aptos"/>
              </a:rPr>
              <a:t>Future 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723C3B-489F-40F4-A90D-5176F9A0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5745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1952F4-452E-4B6F-8819-B24E8E51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38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8C24A1-5030-49AA-998C-90C5D602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43200"/>
            <a:ext cx="4210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Add explicit face alignment and better crop consistency.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DEEE86-4204-4EDD-A451-487C3893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67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D28C64-642E-4237-965E-28744A5B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71850"/>
            <a:ext cx="4210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Handle noisy or ambiguous labels more carefully.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CE6171-DABF-44DF-B129-1EA50A86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95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254E79-17BB-4B82-A179-881C8845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00500"/>
            <a:ext cx="4210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Evaluate stronger backbones, attention, transformers, or ensembles.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89888C-79EF-4836-8F57-C3D9997F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24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D57729-6E6F-4C89-85EB-AF6A1AD4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29150"/>
            <a:ext cx="4210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1B22"/>
                </a:solidFill>
                <a:latin typeface="Aptos"/>
                <a:ea typeface="Aptos"/>
                <a:cs typeface="Aptos"/>
              </a:rPr>
              <a:t>Calibrate confidence and review high-error classes.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DD3C75-0228-42EF-AA03-B3864146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981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B2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1B22"/>
                </a:solidFill>
                <a:latin typeface="Aptos"/>
                <a:ea typeface="Aptos"/>
                <a:cs typeface="Aptos"/>
              </a:rPr>
              <a:t>Final message: the strongest result is not only the best macro F1, but the evidence explaining where it works and where it fails.</a:t>
            </a:r>
          </a:p>
        </p:txBody>
      </p:sp>
    </p:spTree>
    <p:extLst>
      <p:ext uri="{BB962C8B-B14F-4D97-AF65-F5344CB8AC3E}">
        <p14:creationId xmlns:p14="http://schemas.microsoft.com/office/powerpoint/2010/main" val="21416737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2026-05-30T16:14:00.5890000Z</dcterms:created>
  <dcterms:modified xsi:type="dcterms:W3CDTF">2026-05-30T16:14:00.5890000Z</dcterms:modified>
</coreProperties>
</file>