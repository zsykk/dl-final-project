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Play"/>
      <p:regular r:id="rId31"/>
      <p:bold r:id="rId32"/>
    </p:embeddedFont>
    <p:embeddedFont>
      <p:font typeface="Montserrat SemiBold"/>
      <p:regular r:id="rId33"/>
      <p:bold r:id="rId34"/>
      <p:italic r:id="rId35"/>
      <p:boldItalic r:id="rId36"/>
    </p:embeddedFont>
    <p:embeddedFont>
      <p:font typeface="DM Sans Medium"/>
      <p:regular r:id="rId37"/>
      <p:bold r:id="rId38"/>
      <p:italic r:id="rId39"/>
      <p:boldItalic r:id="rId40"/>
    </p:embeddedFont>
    <p:embeddedFont>
      <p:font typeface="Lexen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LSgBKH3b67lY5C+JxTmaywhVS0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LAURA GUITART MAÑÉ"/>
  <p:cmAuthor clrIdx="1" id="1" initials="" lastIdx="3" name="SHAOYA ZH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DD3A00-447F-4BFE-8946-A259EAAF3A8C}">
  <a:tblStyle styleId="{F5DD3A00-447F-4BFE-8946-A259EAAF3A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Lexend-bold.fntdata"/><Relationship Id="rId41" Type="http://schemas.openxmlformats.org/officeDocument/2006/relationships/font" Target="fonts/Lexend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Play-bold.fntdata"/><Relationship Id="rId13" Type="http://schemas.openxmlformats.org/officeDocument/2006/relationships/slide" Target="slides/slide7.xml"/><Relationship Id="rId35" Type="http://schemas.openxmlformats.org/officeDocument/2006/relationships/font" Target="fonts/MontserratSemiBold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SemiBold-bold.fntdata"/><Relationship Id="rId15" Type="http://schemas.openxmlformats.org/officeDocument/2006/relationships/slide" Target="slides/slide9.xml"/><Relationship Id="rId37" Type="http://schemas.openxmlformats.org/officeDocument/2006/relationships/font" Target="fonts/DMSansMedium-regular.fntdata"/><Relationship Id="rId14" Type="http://schemas.openxmlformats.org/officeDocument/2006/relationships/slide" Target="slides/slide8.xml"/><Relationship Id="rId36" Type="http://schemas.openxmlformats.org/officeDocument/2006/relationships/font" Target="fonts/Montserrat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DMSansMedium-italic.fntdata"/><Relationship Id="rId16" Type="http://schemas.openxmlformats.org/officeDocument/2006/relationships/slide" Target="slides/slide10.xml"/><Relationship Id="rId38" Type="http://schemas.openxmlformats.org/officeDocument/2006/relationships/font" Target="fonts/DMSans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03T10:35:52.358">
    <p:pos x="708" y="1380"/>
    <p:text>conductors no: drivers jajaj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ynxixw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02T12:52:28.944">
    <p:pos x="648" y="2428"/>
    <p:text>We normalize by that mean and std because they're the average from our data, right?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yHyzh0"/>
      </p:ext>
    </p:extLst>
  </p:cm>
  <p:cm authorId="1" idx="1" dt="2026-06-01T09:17:23.608">
    <p:pos x="648" y="2428"/>
    <p:text>i have to check, not sure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8yI8TC8"/>
      </p:ext>
    </p:extLst>
  </p:cm>
  <p:cm authorId="1" idx="2" dt="2026-06-02T12:52:28.944">
    <p:pos x="648" y="2428"/>
    <p:text>the original image after ToTensor, their pixels will become 0-1 from 0-255, then Normalize(mean=[0.5], std=[0.5])-&gt; x_normalized = (x - 0.5) / 0.5, after this, pixels values will be will become -1 to 1, in order to center it to 0, stabilize optimization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8ybQ5cw"/>
      </p:ext>
    </p:extLst>
  </p:cm>
  <p:cm authorId="1" idx="3" dt="2026-06-02T12:53:31.752">
    <p:pos x="648" y="3775"/>
    <p:text>This normalization: For ResNet18 and EfficientNet-B0, we used ImageNet normalization because their pretrained backbones were originally trained with ImageNet input statistics. Although FER2013 is grayscale, we replicated it to 3 channels and applied the ImageNet mean and standard deviation to make the input scale compatible with the pretrained weights.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ybQ5d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</a:t>
            </a:r>
            <a:r>
              <a:rPr lang="en-US"/>
              <a:t>could</a:t>
            </a:r>
            <a:r>
              <a:rPr lang="en-US"/>
              <a:t> mention other apps like preventing sleeping while driving, making blind people know emotions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dataset is great because realistically we might not have high resolution images for certain applications. 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52015e91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52015e91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40952015e91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40952015e91_1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40952015e91_1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40952015e91_1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40952015e91_1_1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40952015e91_1_1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40952015e91_1_1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4" name="Google Shape;68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4095462f90a_0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4095462f90a_0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4095462f90a_0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4095462f90a_0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4095462f90a_0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4095462f90a_0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researchgate.net/publication/368541260_DTL-I-ResNet18_facial_emotion_recognition_based_on_deep_transfer_learning_and_improved_ResNet18" TargetMode="External"/><Relationship Id="rId4" Type="http://schemas.openxmlformats.org/officeDocument/2006/relationships/hyperlink" Target="https://www.ijs.uobaghdad.edu.iq/index.php/eijs/article/view/13867/784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26150" y="2395650"/>
            <a:ext cx="11939700" cy="1218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25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Facial Expression Recognition on FER2013</a:t>
            </a:r>
            <a:endParaRPr sz="2400"/>
          </a:p>
        </p:txBody>
      </p:sp>
      <p:sp>
        <p:nvSpPr>
          <p:cNvPr id="17" name="Google Shape;17;p1"/>
          <p:cNvSpPr/>
          <p:nvPr/>
        </p:nvSpPr>
        <p:spPr>
          <a:xfrm>
            <a:off x="1360500" y="3203300"/>
            <a:ext cx="9471000" cy="623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rgbClr val="566172"/>
                </a:solidFill>
                <a:latin typeface="Lexend"/>
                <a:ea typeface="Lexend"/>
                <a:cs typeface="Lexend"/>
                <a:sym typeface="Lexend"/>
              </a:rPr>
              <a:t>Controlled experiments with</a:t>
            </a:r>
            <a:r>
              <a:rPr lang="en-US" sz="2075">
                <a:solidFill>
                  <a:srgbClr val="56617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075">
                <a:solidFill>
                  <a:srgbClr val="566172"/>
                </a:solidFill>
                <a:latin typeface="Lexend"/>
                <a:ea typeface="Lexend"/>
                <a:cs typeface="Lexend"/>
                <a:sym typeface="Lexend"/>
              </a:rPr>
              <a:t>a custom CNN, ResNet18, EfficientNet-B0, and CK+ external validation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2642250" y="3974475"/>
            <a:ext cx="6907500" cy="78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5">
                <a:solidFill>
                  <a:srgbClr val="999999"/>
                </a:solidFill>
                <a:latin typeface="Lexend"/>
                <a:ea typeface="Lexend"/>
                <a:cs typeface="Lexend"/>
                <a:sym typeface="Lexend"/>
              </a:rPr>
              <a:t>Shaoya Zhang and Laura Guitart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Presentation structure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20764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1. Introduction and motivation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14400" y="25146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2. Related work / state of the art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914400" y="29527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3. Dataset and preprocessing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914400" y="3390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4. Methodology and implemented models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14400" y="38290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5. Experiments and evaluated configurations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914400" y="42672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6. Results and analysis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914400" y="47053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7. Comparison against baselines and state-of-the-art approaches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14400" y="5121822"/>
            <a:ext cx="93345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9. Conclusions and future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647700" y="3502974"/>
            <a:ext cx="9906000" cy="2832600"/>
          </a:xfrm>
          <a:prstGeom prst="rect">
            <a:avLst/>
          </a:prstGeom>
          <a:noFill/>
          <a:ln cap="flat" cmpd="sng" w="2857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INTRODUCTION AND MOTIVATION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47700" y="72390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The goal of our project: emotion classification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876300" y="22860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123950" y="2190750"/>
            <a:ext cx="7563000" cy="963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151922"/>
                </a:solidFill>
              </a:rPr>
              <a:t>Identifying facial expressions can be interesting for human-computer interactions, to prevent accidents by driver</a:t>
            </a:r>
            <a:r>
              <a:rPr lang="en-US" sz="1875">
                <a:solidFill>
                  <a:srgbClr val="151922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s</a:t>
            </a:r>
            <a:r>
              <a:rPr lang="en-US" sz="1875">
                <a:solidFill>
                  <a:srgbClr val="151922"/>
                </a:solidFill>
              </a:rPr>
              <a:t> falling asleep, blind people being able to detect emotions, etc.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03875" y="3552149"/>
            <a:ext cx="2476500" cy="402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57B72"/>
                </a:solidFill>
              </a:rPr>
              <a:t>Our goal:</a:t>
            </a:r>
            <a:endParaRPr sz="2200"/>
          </a:p>
        </p:txBody>
      </p:sp>
      <p:sp>
        <p:nvSpPr>
          <p:cNvPr id="47" name="Google Shape;47;p3"/>
          <p:cNvSpPr/>
          <p:nvPr/>
        </p:nvSpPr>
        <p:spPr>
          <a:xfrm>
            <a:off x="984850" y="4229400"/>
            <a:ext cx="4465800" cy="210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1922"/>
                </a:solidFill>
              </a:rPr>
              <a:t>Evaluation of:</a:t>
            </a:r>
            <a:endParaRPr b="1" sz="2200">
              <a:solidFill>
                <a:srgbClr val="151922"/>
              </a:solidFill>
            </a:endParaRPr>
          </a:p>
          <a:p>
            <a:pPr indent="-3683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51922"/>
              </a:buClr>
              <a:buSzPts val="2200"/>
              <a:buChar char="-"/>
            </a:pPr>
            <a:r>
              <a:rPr b="1" lang="en-US" sz="2200">
                <a:solidFill>
                  <a:srgbClr val="151922"/>
                </a:solidFill>
              </a:rPr>
              <a:t>Architectures</a:t>
            </a:r>
            <a:endParaRPr b="1" sz="2200">
              <a:solidFill>
                <a:srgbClr val="151922"/>
              </a:solidFill>
            </a:endParaRPr>
          </a:p>
          <a:p>
            <a:pPr indent="-3683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51922"/>
              </a:buClr>
              <a:buSzPts val="2200"/>
              <a:buChar char="-"/>
            </a:pPr>
            <a:r>
              <a:rPr b="1" lang="en-US" sz="2200">
                <a:solidFill>
                  <a:srgbClr val="151922"/>
                </a:solidFill>
              </a:rPr>
              <a:t>Transfer learning techniques</a:t>
            </a:r>
            <a:endParaRPr b="1" sz="2200">
              <a:solidFill>
                <a:srgbClr val="151922"/>
              </a:solidFill>
            </a:endParaRPr>
          </a:p>
          <a:p>
            <a:pPr indent="-3683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151922"/>
              </a:buClr>
              <a:buSzPts val="2200"/>
              <a:buChar char="-"/>
            </a:pPr>
            <a:r>
              <a:rPr b="1" lang="en-US" sz="2200">
                <a:solidFill>
                  <a:srgbClr val="151922"/>
                </a:solidFill>
              </a:rPr>
              <a:t>Training approaches</a:t>
            </a:r>
            <a:endParaRPr b="1" sz="2200">
              <a:solidFill>
                <a:srgbClr val="151922"/>
              </a:solidFill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46203" y="4693449"/>
            <a:ext cx="8211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7B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6843614" y="4501149"/>
            <a:ext cx="3249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250">
                <a:solidFill>
                  <a:srgbClr val="257B72"/>
                </a:solidFill>
              </a:rPr>
              <a:t>F</a:t>
            </a:r>
            <a:r>
              <a:rPr b="1" lang="en-US" sz="2250">
                <a:solidFill>
                  <a:srgbClr val="257B72"/>
                </a:solidFill>
              </a:rPr>
              <a:t>or the classification of FER2013 dataset</a:t>
            </a:r>
            <a:endParaRPr sz="1700">
              <a:solidFill>
                <a:srgbClr val="257B7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0952015e91_1_0"/>
          <p:cNvSpPr/>
          <p:nvPr/>
        </p:nvSpPr>
        <p:spPr>
          <a:xfrm>
            <a:off x="647700" y="72390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Similar researches for FER2013 emotion classification</a:t>
            </a:r>
            <a:endParaRPr/>
          </a:p>
        </p:txBody>
      </p:sp>
      <p:sp>
        <p:nvSpPr>
          <p:cNvPr id="56" name="Google Shape;56;g40952015e91_1_0"/>
          <p:cNvSpPr/>
          <p:nvPr/>
        </p:nvSpPr>
        <p:spPr>
          <a:xfrm>
            <a:off x="647700" y="1657350"/>
            <a:ext cx="9906000" cy="144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40952015e91_1_0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RELATED WORK / STATE OF THE ART</a:t>
            </a:r>
            <a:endParaRPr/>
          </a:p>
        </p:txBody>
      </p:sp>
      <p:sp>
        <p:nvSpPr>
          <p:cNvPr id="58" name="Google Shape;58;g40952015e91_1_0"/>
          <p:cNvSpPr/>
          <p:nvPr/>
        </p:nvSpPr>
        <p:spPr>
          <a:xfrm>
            <a:off x="647700" y="1899375"/>
            <a:ext cx="9906000" cy="63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5">
                <a:solidFill>
                  <a:srgbClr val="1E5F99"/>
                </a:solidFill>
              </a:rPr>
              <a:t>DTL-I-ResNet18: facial emotion recognition based on deep transfer learning and improved ResNet18</a:t>
            </a:r>
            <a:endParaRPr sz="2400"/>
          </a:p>
        </p:txBody>
      </p:sp>
      <p:sp>
        <p:nvSpPr>
          <p:cNvPr id="59" name="Google Shape;59;g40952015e91_1_0"/>
          <p:cNvSpPr/>
          <p:nvPr/>
        </p:nvSpPr>
        <p:spPr>
          <a:xfrm>
            <a:off x="647700" y="4105290"/>
            <a:ext cx="8995200" cy="47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5">
                <a:solidFill>
                  <a:srgbClr val="1E5F99"/>
                </a:solidFill>
              </a:rPr>
              <a:t>FacialExpression Recognition Using Deep Learning EfficientNetB0</a:t>
            </a:r>
            <a:endParaRPr sz="1600"/>
          </a:p>
        </p:txBody>
      </p:sp>
      <p:sp>
        <p:nvSpPr>
          <p:cNvPr id="60" name="Google Shape;60;g40952015e91_1_0"/>
          <p:cNvSpPr/>
          <p:nvPr/>
        </p:nvSpPr>
        <p:spPr>
          <a:xfrm>
            <a:off x="960175" y="2664063"/>
            <a:ext cx="10130100" cy="11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Comparison of different popular CNNs architectures for FER2013 classification problem. </a:t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They achieved a </a:t>
            </a:r>
            <a:r>
              <a:rPr lang="en-US" sz="1650">
                <a:solidFill>
                  <a:srgbClr val="151922"/>
                </a:solidFill>
              </a:rPr>
              <a:t>macro </a:t>
            </a:r>
            <a:r>
              <a:rPr lang="en-US" sz="1650">
                <a:solidFill>
                  <a:srgbClr val="151922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F1</a:t>
            </a:r>
            <a:r>
              <a:rPr lang="en-US" sz="1650">
                <a:solidFill>
                  <a:srgbClr val="151922"/>
                </a:solidFill>
              </a:rPr>
              <a:t> Score of 64%.</a:t>
            </a:r>
            <a:endParaRPr/>
          </a:p>
        </p:txBody>
      </p:sp>
      <p:sp>
        <p:nvSpPr>
          <p:cNvPr id="61" name="Google Shape;61;g40952015e91_1_0"/>
          <p:cNvSpPr/>
          <p:nvPr/>
        </p:nvSpPr>
        <p:spPr>
          <a:xfrm>
            <a:off x="746102" y="2764861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40952015e91_1_0"/>
          <p:cNvSpPr/>
          <p:nvPr/>
        </p:nvSpPr>
        <p:spPr>
          <a:xfrm>
            <a:off x="750488" y="3262628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40952015e91_1_0"/>
          <p:cNvSpPr/>
          <p:nvPr/>
        </p:nvSpPr>
        <p:spPr>
          <a:xfrm>
            <a:off x="960175" y="4645374"/>
            <a:ext cx="10130100" cy="11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They compared two </a:t>
            </a:r>
            <a:r>
              <a:rPr lang="en-US" sz="1650">
                <a:solidFill>
                  <a:srgbClr val="151922"/>
                </a:solidFill>
              </a:rPr>
              <a:t>Transfer</a:t>
            </a:r>
            <a:r>
              <a:rPr lang="en-US" sz="1650">
                <a:solidFill>
                  <a:srgbClr val="151922"/>
                </a:solidFill>
              </a:rPr>
              <a:t> Learning techniques for Efficientnetb0.</a:t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They achieved a </a:t>
            </a:r>
            <a:r>
              <a:rPr lang="en-US" sz="1650">
                <a:solidFill>
                  <a:srgbClr val="151922"/>
                </a:solidFill>
              </a:rPr>
              <a:t>macro F1</a:t>
            </a:r>
            <a:r>
              <a:rPr lang="en-US" sz="1650">
                <a:solidFill>
                  <a:srgbClr val="151922"/>
                </a:solidFill>
              </a:rPr>
              <a:t> Score of 72%.</a:t>
            </a:r>
            <a:endParaRPr/>
          </a:p>
        </p:txBody>
      </p:sp>
      <p:sp>
        <p:nvSpPr>
          <p:cNvPr id="64" name="Google Shape;64;g40952015e91_1_0"/>
          <p:cNvSpPr/>
          <p:nvPr/>
        </p:nvSpPr>
        <p:spPr>
          <a:xfrm>
            <a:off x="750488" y="4759886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40952015e91_1_0"/>
          <p:cNvSpPr/>
          <p:nvPr/>
        </p:nvSpPr>
        <p:spPr>
          <a:xfrm>
            <a:off x="754874" y="5224760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40952015e91_1_0"/>
          <p:cNvSpPr txBox="1"/>
          <p:nvPr/>
        </p:nvSpPr>
        <p:spPr>
          <a:xfrm>
            <a:off x="894391" y="3577046"/>
            <a:ext cx="10442700" cy="33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hlinkClick r:id="rId3"/>
              </a:rPr>
              <a:t>DTL-I-ResNet18: facial emotion recognition based on deep transfer learning and improved ResNet18 | Request PDF</a:t>
            </a:r>
            <a:endParaRPr sz="700">
              <a:solidFill>
                <a:srgbClr val="566172"/>
              </a:solidFill>
            </a:endParaRPr>
          </a:p>
        </p:txBody>
      </p:sp>
      <p:sp>
        <p:nvSpPr>
          <p:cNvPr id="67" name="Google Shape;67;g40952015e91_1_0"/>
          <p:cNvSpPr txBox="1"/>
          <p:nvPr/>
        </p:nvSpPr>
        <p:spPr>
          <a:xfrm>
            <a:off x="894391" y="5665221"/>
            <a:ext cx="10442700" cy="33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hlinkClick r:id="rId4"/>
              </a:rPr>
              <a:t>https://www.ijs.uobaghdad.edu.iq/index.php/eijs/article/view/13867/7846</a:t>
            </a:r>
            <a:r>
              <a:rPr lang="en-US" sz="950">
                <a:solidFill>
                  <a:srgbClr val="566172"/>
                </a:solidFill>
              </a:rPr>
              <a:t> </a:t>
            </a:r>
            <a:endParaRPr sz="700">
              <a:solidFill>
                <a:srgbClr val="56617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FER2013: 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Sample images reveal ambiguity and low resolution.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 b="41766" l="0" r="0" t="0"/>
          <a:stretch/>
        </p:blipFill>
        <p:spPr>
          <a:xfrm>
            <a:off x="647700" y="2074638"/>
            <a:ext cx="4524700" cy="35877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5600850" y="2948414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848500" y="2853164"/>
            <a:ext cx="4705200" cy="58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Faces are </a:t>
            </a: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small</a:t>
            </a: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 (48x48), grayscale, and sometimes poorly aligned.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600850" y="3672314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848500" y="3577064"/>
            <a:ext cx="4705200" cy="58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Several classes differ by subtle mouth, eye, or eyebrow cues.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600850" y="4396214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848500" y="4300964"/>
            <a:ext cx="4705200" cy="58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Human-visible ambiguity justifies evaluating more than a single aggregate score.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Class imbalance and affect proximity explain why this dataset is difficult.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815800" y="1845777"/>
            <a:ext cx="5950800" cy="3624300"/>
          </a:xfrm>
          <a:prstGeom prst="rect">
            <a:avLst/>
          </a:prstGeom>
          <a:noFill/>
          <a:ln cap="flat" cmpd="sng" w="244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25" lIns="117525" spcFirstLastPara="1" rIns="117525" wrap="square" tIns="58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9904" y="1943729"/>
            <a:ext cx="5542350" cy="342830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2656429" y="5821562"/>
            <a:ext cx="66600" cy="666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904079" y="5726312"/>
            <a:ext cx="6048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Happy has much more support than minority classes such as disgust.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656429" y="6221612"/>
            <a:ext cx="66600" cy="666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904075" y="6126362"/>
            <a:ext cx="663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1922"/>
                </a:solidFill>
              </a:rPr>
              <a:t>We will need to handle this class imbalance during the training of our models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914400" y="7848600"/>
            <a:ext cx="13208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5F72"/>
                </a:solidFill>
                <a:latin typeface="Arial"/>
                <a:ea typeface="Arial"/>
                <a:cs typeface="Arial"/>
                <a:sym typeface="Arial"/>
              </a:rPr>
              <a:t>Takeaway: FER2013 requires augmentation, imbalance handling, macro/per-class F1, and confusion analysis.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The split is fixed, and validation is created from the training folder.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60181" y="23050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755431" y="2400300"/>
            <a:ext cx="14289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FER2013 train</a:t>
            </a:r>
            <a:endParaRPr sz="1200"/>
          </a:p>
        </p:txBody>
      </p:sp>
      <p:sp>
        <p:nvSpPr>
          <p:cNvPr id="108" name="Google Shape;108;p7"/>
          <p:cNvSpPr/>
          <p:nvPr/>
        </p:nvSpPr>
        <p:spPr>
          <a:xfrm>
            <a:off x="2374681" y="2552700"/>
            <a:ext cx="254100" cy="14400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723931" y="23050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819181" y="2400300"/>
            <a:ext cx="14289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</a:rPr>
              <a:t>stratified split with fixed seed</a:t>
            </a:r>
            <a:endParaRPr sz="1200"/>
          </a:p>
        </p:txBody>
      </p:sp>
      <p:sp>
        <p:nvSpPr>
          <p:cNvPr id="111" name="Google Shape;111;p7"/>
          <p:cNvSpPr/>
          <p:nvPr/>
        </p:nvSpPr>
        <p:spPr>
          <a:xfrm>
            <a:off x="4438431" y="2552700"/>
            <a:ext cx="254100" cy="14400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87681" y="23050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882931" y="2400300"/>
            <a:ext cx="14289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90% train</a:t>
            </a:r>
            <a:endParaRPr sz="1200"/>
          </a:p>
        </p:txBody>
      </p:sp>
      <p:sp>
        <p:nvSpPr>
          <p:cNvPr id="114" name="Google Shape;114;p7"/>
          <p:cNvSpPr/>
          <p:nvPr/>
        </p:nvSpPr>
        <p:spPr>
          <a:xfrm>
            <a:off x="6502181" y="2552700"/>
            <a:ext cx="254100" cy="14400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851431" y="23050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946681" y="2400300"/>
            <a:ext cx="14289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10% validation</a:t>
            </a:r>
            <a:endParaRPr sz="1200"/>
          </a:p>
        </p:txBody>
      </p:sp>
      <p:sp>
        <p:nvSpPr>
          <p:cNvPr id="117" name="Google Shape;117;p7"/>
          <p:cNvSpPr/>
          <p:nvPr/>
        </p:nvSpPr>
        <p:spPr>
          <a:xfrm>
            <a:off x="660181" y="34861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55431" y="3581400"/>
            <a:ext cx="14289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</a:rPr>
              <a:t>FER2013 official test</a:t>
            </a:r>
            <a:endParaRPr sz="1200"/>
          </a:p>
        </p:txBody>
      </p:sp>
      <p:sp>
        <p:nvSpPr>
          <p:cNvPr id="119" name="Google Shape;119;p7"/>
          <p:cNvSpPr/>
          <p:nvPr/>
        </p:nvSpPr>
        <p:spPr>
          <a:xfrm>
            <a:off x="2374681" y="3733800"/>
            <a:ext cx="333300" cy="144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2803306" y="3486150"/>
            <a:ext cx="16191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898556" y="3524400"/>
            <a:ext cx="142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</a:rPr>
              <a:t>full held-out test set</a:t>
            </a:r>
            <a:endParaRPr sz="1200"/>
          </a:p>
        </p:txBody>
      </p:sp>
      <p:sp>
        <p:nvSpPr>
          <p:cNvPr id="122" name="Google Shape;122;p7"/>
          <p:cNvSpPr/>
          <p:nvPr/>
        </p:nvSpPr>
        <p:spPr>
          <a:xfrm>
            <a:off x="876300" y="49149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23950" y="4819650"/>
            <a:ext cx="5122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The train/validation split is stratified and reproducible with seed 42.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76300" y="5494056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123950" y="5398806"/>
            <a:ext cx="490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The official FER2013 test set is kept fixed and used without resampling.</a:t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51922"/>
              </a:solidFill>
            </a:endParaRPr>
          </a:p>
        </p:txBody>
      </p:sp>
      <p:graphicFrame>
        <p:nvGraphicFramePr>
          <p:cNvPr id="126" name="Google Shape;126;p7"/>
          <p:cNvGraphicFramePr/>
          <p:nvPr/>
        </p:nvGraphicFramePr>
        <p:xfrm>
          <a:off x="8849925" y="230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{F5DD3A00-447F-4BFE-8946-A259EAAF3A8C}</a:tableStyleId>
              </a:tblPr>
              <a:tblGrid>
                <a:gridCol w="1223575"/>
                <a:gridCol w="895175"/>
                <a:gridCol w="866200"/>
              </a:tblGrid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Emotion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Test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Train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Angry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0.13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0.14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Disgust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0.02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0.02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Fear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0.14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0.14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Happy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0.25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0.25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Neutral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0.17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0.17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Sad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0.17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0.17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51922"/>
                          </a:solidFill>
                        </a:rPr>
                        <a:t>Surprise</a:t>
                      </a:r>
                      <a:endParaRPr b="1"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0.12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51922"/>
                          </a:solidFill>
                        </a:rPr>
                        <a:t>0.11</a:t>
                      </a:r>
                      <a:endParaRPr sz="1600">
                        <a:solidFill>
                          <a:srgbClr val="151922"/>
                        </a:solidFill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7"/>
          <p:cNvSpPr/>
          <p:nvPr/>
        </p:nvSpPr>
        <p:spPr>
          <a:xfrm>
            <a:off x="6851413" y="3433747"/>
            <a:ext cx="1582500" cy="1178700"/>
          </a:xfrm>
          <a:prstGeom prst="rect">
            <a:avLst/>
          </a:prstGeom>
          <a:noFill/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933988" y="3511000"/>
            <a:ext cx="14289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Dataset size</a:t>
            </a:r>
            <a:endParaRPr sz="1800"/>
          </a:p>
        </p:txBody>
      </p:sp>
      <p:sp>
        <p:nvSpPr>
          <p:cNvPr id="129" name="Google Shape;129;p7"/>
          <p:cNvSpPr/>
          <p:nvPr/>
        </p:nvSpPr>
        <p:spPr>
          <a:xfrm>
            <a:off x="6933998" y="379675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28,709 train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933998" y="4177750"/>
            <a:ext cx="14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7,178 test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Input preprocessing depends on whether the model is trained from scratch or pretrained.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239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CUSTOM CNN</a:t>
            </a:r>
            <a:endParaRPr sz="1600"/>
          </a:p>
        </p:txBody>
      </p:sp>
      <p:sp>
        <p:nvSpPr>
          <p:cNvPr id="140" name="Google Shape;140;p8"/>
          <p:cNvSpPr/>
          <p:nvPr/>
        </p:nvSpPr>
        <p:spPr>
          <a:xfrm>
            <a:off x="723900" y="2343150"/>
            <a:ext cx="3429000" cy="14288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81050" y="276225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28700" y="26670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48x48 grayscale input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81050" y="325755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28700" y="31623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H</a:t>
            </a:r>
            <a:r>
              <a:rPr b="0" lang="en-US" sz="157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orizontal flip, affine transformations a</a:t>
            </a:r>
            <a:r>
              <a:rPr lang="en-US" sz="1575">
                <a:solidFill>
                  <a:srgbClr val="151922"/>
                </a:solidFill>
              </a:rPr>
              <a:t>nd rotations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81050" y="3949919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028700" y="3854669"/>
            <a:ext cx="3467100" cy="400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mean 0.5 / std 0.5 </a:t>
            </a:r>
            <a:r>
              <a:rPr b="0" lang="en-US" sz="157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normalization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23900" y="4572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RESNET18 AND EFFICIENTNET-B0</a:t>
            </a:r>
            <a:endParaRPr sz="1600"/>
          </a:p>
        </p:txBody>
      </p:sp>
      <p:sp>
        <p:nvSpPr>
          <p:cNvPr id="148" name="Google Shape;148;p8"/>
          <p:cNvSpPr/>
          <p:nvPr/>
        </p:nvSpPr>
        <p:spPr>
          <a:xfrm>
            <a:off x="723900" y="4800600"/>
            <a:ext cx="3429000" cy="14288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81050" y="5200650"/>
            <a:ext cx="66675" cy="66675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28700" y="51054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same transfer preprocessing for both pretrained backbones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81050" y="5693979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28700" y="5631574"/>
            <a:ext cx="47052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resize to 224x224 and replicate grayscale to 3 channels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81050" y="6088774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028700" y="5993524"/>
            <a:ext cx="47052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lang="en-US" sz="14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mageNet normalization to match pretrained weights</a:t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115050" y="2324100"/>
            <a:ext cx="4629150" cy="2724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581065"/>
            <a:ext cx="4476750" cy="2210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The methodology is built around controlled experiments/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ablation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81050" y="2247900"/>
            <a:ext cx="1524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763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Fix split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2400300" y="2495550"/>
            <a:ext cx="238125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2733675" y="2247900"/>
            <a:ext cx="1524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82892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Change one factor/ablation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352925" y="2495550"/>
            <a:ext cx="238125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686300" y="2247900"/>
            <a:ext cx="1524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78155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Train / select checkpoint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305550" y="2495550"/>
            <a:ext cx="238125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638925" y="2247900"/>
            <a:ext cx="1524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73417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Evaluate same metrics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258175" y="2495550"/>
            <a:ext cx="238125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591550" y="2247900"/>
            <a:ext cx="1524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868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Analyze errors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876300" y="36957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123950" y="36004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The experiment compares model families under consistent train/validation/test logic.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76300" y="4336156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23950" y="4240906"/>
            <a:ext cx="8896500" cy="58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Variables include architecture, imbalance handling, loss function, optimizer, </a:t>
            </a:r>
            <a:r>
              <a:rPr lang="en-US" sz="1800">
                <a:solidFill>
                  <a:srgbClr val="151922"/>
                </a:solidFill>
              </a:rPr>
              <a:t>transfer learning techniques</a:t>
            </a: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, crop/</a:t>
            </a: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TenCrop</a:t>
            </a: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 evaluation, and depth addition.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76300" y="5154667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123950" y="5059417"/>
            <a:ext cx="8896500" cy="58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The same evidence types are reported: macro F1, weighted F1, per-class F1, loss curves, and confusion matrices.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Architecture: custom CNN baseline trained from scratch.</a:t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66750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76200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48x48x1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1733550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807369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902619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3x3 conv 32 x2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874169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947988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043238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MaxPool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4014788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088606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183856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3x3 conv 64 x2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155406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229225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324475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MaxPool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296025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369844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465094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3x3 conv 128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436644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510463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605713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MaxPool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8577263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651081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746331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FC 256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9717881" y="262890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791700" y="2381250"/>
            <a:ext cx="97155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88695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 logits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5F99"/>
                </a:solidFill>
              </a:rPr>
              <a:t>Baseline CNN</a:t>
            </a:r>
            <a:r>
              <a:rPr b="1" lang="en-US" sz="165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 implementation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914400" y="401955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162050" y="39243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Feature channels: 32, 64, 128.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914400" y="45339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162050" y="44386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Convolution filters: 3x3, padding 1; block depths: 2, 2, 1.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914400" y="504825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162050" y="49530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Dropout2d after </a:t>
            </a: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early</a:t>
            </a: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 pooling blocks; dropout before classifier output.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914400" y="55626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162050" y="54673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Purpose: establish a reproducible from-scratch baseline.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7746750" y="3328575"/>
            <a:ext cx="33843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1,321,191 T</a:t>
            </a:r>
            <a:r>
              <a:rPr lang="en-US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rainable</a:t>
            </a:r>
            <a:r>
              <a:rPr lang="en-US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Parameters</a:t>
            </a:r>
            <a:endParaRPr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Architecture: ResNet18 transfer learning.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572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9525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224x224x3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20193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20383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1336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7x7 stem conv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2004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2194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3147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3x3 residual blocks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3815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4005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4958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layer2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5626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5816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6769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layer3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7437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7627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8580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layer4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79248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9438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0391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FC head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91059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9124950" y="2362200"/>
            <a:ext cx="10668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92202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 logits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5F99"/>
                </a:solidFill>
              </a:rPr>
              <a:t>Why RestNet18 as Pretrained Model</a:t>
            </a:r>
            <a:endParaRPr b="1" sz="1650">
              <a:solidFill>
                <a:srgbClr val="1E5F9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1E5F99"/>
              </a:solidFill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162050" y="3943350"/>
            <a:ext cx="8705700" cy="323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Standard and widely used transfer-</a:t>
            </a:r>
            <a:r>
              <a:rPr lang="en-US" sz="1575">
                <a:solidFill>
                  <a:srgbClr val="151922"/>
                </a:solidFill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learning</a:t>
            </a:r>
            <a:r>
              <a:rPr lang="en-US" sz="1575">
                <a:solidFill>
                  <a:srgbClr val="151922"/>
                </a:solidFill>
              </a:rPr>
              <a:t> baseline for image classification.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914400" y="4418739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162050" y="4323489"/>
            <a:ext cx="8705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Residual connections make deeper convolutional networks easier to optimize.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930822" y="5190838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161975" y="5100638"/>
            <a:ext cx="8705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Easy to fine-tune systematically by progressively unfreezing later layers.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7116175" y="3177875"/>
            <a:ext cx="3818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~11.69M Trainable Parameters</a:t>
            </a:r>
            <a:endParaRPr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25567" y="4778922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56795" y="4683672"/>
            <a:ext cx="8705700" cy="38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Moderate model size: stronger than a small custom CNN but still practical for FER2013.</a:t>
            </a:r>
            <a:endParaRPr sz="1575">
              <a:solidFill>
                <a:srgbClr val="1519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15192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Architecture: EfficientNet-B0 transfer learning.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5250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047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224x224x3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19075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25425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2349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3x3 stem conv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34925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55600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651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MBConv 1-5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79425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85775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9530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last MBConv blocks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0960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15950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254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739775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746125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7556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FC head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8699500" y="2609850"/>
            <a:ext cx="95250" cy="14288"/>
          </a:xfrm>
          <a:prstGeom prst="rect">
            <a:avLst/>
          </a:prstGeom>
          <a:solidFill>
            <a:srgbClr val="5661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8763000" y="2362200"/>
            <a:ext cx="1143000" cy="495300"/>
          </a:xfrm>
          <a:prstGeom prst="rect">
            <a:avLst/>
          </a:prstGeom>
          <a:solidFill>
            <a:srgbClr val="F1F3F3"/>
          </a:solidFill>
          <a:ln cap="flat" cmpd="sng" w="9525">
            <a:solidFill>
              <a:srgbClr val="D8D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8858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7 logits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Why include </a:t>
            </a:r>
            <a:r>
              <a:rPr b="1" lang="en-US" sz="1650">
                <a:solidFill>
                  <a:srgbClr val="257B72"/>
                </a:solidFill>
              </a:rPr>
              <a:t>Efficient-B0</a:t>
            </a:r>
            <a:r>
              <a:rPr b="1" lang="en-US" sz="165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Lightweight ImageNet-pretrained backbone, much smaller than ResNet18.</a:t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914400" y="4402028"/>
            <a:ext cx="648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155204" y="4323200"/>
            <a:ext cx="8465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MBConv blocks and depthwise convolutions make feature extraction parameter-efficient.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930822" y="5216784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145628" y="5121534"/>
            <a:ext cx="8705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Useful comparison against ResNet18: standard transfer backbone vs efficient transfer backbone.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7876600" y="3234200"/>
            <a:ext cx="32529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5,288,548 parameters</a:t>
            </a:r>
            <a:endParaRPr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4400" y="4793235"/>
            <a:ext cx="648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138778" y="4730830"/>
            <a:ext cx="8465100" cy="38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51922"/>
                </a:solidFill>
              </a:rPr>
              <a:t>Tests whether a compact pretrained model can achieve competitive FER2013 performance.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The evaluation uses complementary metrics, not only one score.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001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MAIN METRICS</a:t>
            </a:r>
            <a:endParaRPr sz="1600"/>
          </a:p>
        </p:txBody>
      </p:sp>
      <p:sp>
        <p:nvSpPr>
          <p:cNvPr id="317" name="Google Shape;317;p14"/>
          <p:cNvSpPr/>
          <p:nvPr/>
        </p:nvSpPr>
        <p:spPr>
          <a:xfrm>
            <a:off x="800100" y="2343150"/>
            <a:ext cx="3429000" cy="14288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57250" y="27432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104900" y="26479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Macro F1: primary metric because all classes count equally.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104900" y="33337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Weighted F1: reflects performance under the real class distribution.</a:t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857250" y="41148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104900" y="40195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Precision and recall: show whether each class is over- or under-predicted.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64770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SUPPORTING EVIDENCE</a:t>
            </a:r>
            <a:endParaRPr sz="1600"/>
          </a:p>
        </p:txBody>
      </p:sp>
      <p:sp>
        <p:nvSpPr>
          <p:cNvPr id="325" name="Google Shape;325;p14"/>
          <p:cNvSpPr/>
          <p:nvPr/>
        </p:nvSpPr>
        <p:spPr>
          <a:xfrm>
            <a:off x="6477000" y="2343150"/>
            <a:ext cx="3429000" cy="14288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6534150" y="2743200"/>
            <a:ext cx="66675" cy="66675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781800" y="2647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Loss curves: diagnose optimization and overfitting.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534150" y="3314700"/>
            <a:ext cx="66675" cy="66675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781800" y="3219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F1 per class: identifies weak emotion categories.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6534150" y="3886200"/>
            <a:ext cx="66675" cy="66675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6781800" y="3790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Confusion matrix: shows the actual error pattern.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Custom CNN results improve gradually, but plateau below transfer learning.</a:t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990600" y="381000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04850" y="37338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990600" y="347472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704850" y="339852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0.50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990600" y="313944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704850" y="306324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990600" y="280416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704850" y="272796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990600" y="246888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704850" y="239268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990600" y="213360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704850" y="20574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990600" y="3810000"/>
            <a:ext cx="5534025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090612" y="3583805"/>
            <a:ext cx="323850" cy="22619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966788" y="341235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0.485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704850" y="3886200"/>
            <a:ext cx="1095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CNN aug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+ CE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2262188" y="3049195"/>
            <a:ext cx="323850" cy="76080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2138362" y="287774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0.566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1876425" y="3886200"/>
            <a:ext cx="1095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aug + sampler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+ CE</a:t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3433762" y="2648190"/>
            <a:ext cx="323850" cy="116181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3309938" y="247674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0.627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048000" y="3886200"/>
            <a:ext cx="1095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aug + sampler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+ CE + SGD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4605338" y="2539492"/>
            <a:ext cx="323850" cy="1270508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4481512" y="236804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0.644</a:t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4219575" y="3886200"/>
            <a:ext cx="1095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crop/TenCrop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CE + SGD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5776912" y="2417641"/>
            <a:ext cx="323850" cy="1392359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653088" y="224619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0.662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391150" y="3886200"/>
            <a:ext cx="1095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crop/TenCrop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CE 80ep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095875" y="2038350"/>
            <a:ext cx="85725" cy="8572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229225" y="2000250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best val macro F1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7086600" y="1943100"/>
            <a:ext cx="3429000" cy="287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seline confusion matrix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019300"/>
            <a:ext cx="3276600" cy="27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/>
          <p:nvPr/>
        </p:nvSpPr>
        <p:spPr>
          <a:xfrm>
            <a:off x="666750" y="4953000"/>
            <a:ext cx="981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Selected custom CNN test per-class precision / recall / F1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666750" y="5200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800"/>
          </a:p>
        </p:txBody>
      </p:sp>
      <p:sp>
        <p:nvSpPr>
          <p:cNvPr id="374" name="Google Shape;374;p15"/>
          <p:cNvSpPr/>
          <p:nvPr/>
        </p:nvSpPr>
        <p:spPr>
          <a:xfrm>
            <a:off x="1428750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800"/>
          </a:p>
        </p:txBody>
      </p:sp>
      <p:sp>
        <p:nvSpPr>
          <p:cNvPr id="375" name="Google Shape;375;p15"/>
          <p:cNvSpPr/>
          <p:nvPr/>
        </p:nvSpPr>
        <p:spPr>
          <a:xfrm>
            <a:off x="2721429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800"/>
          </a:p>
        </p:txBody>
      </p:sp>
      <p:sp>
        <p:nvSpPr>
          <p:cNvPr id="376" name="Google Shape;376;p15"/>
          <p:cNvSpPr/>
          <p:nvPr/>
        </p:nvSpPr>
        <p:spPr>
          <a:xfrm>
            <a:off x="4014107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800"/>
          </a:p>
        </p:txBody>
      </p:sp>
      <p:sp>
        <p:nvSpPr>
          <p:cNvPr id="377" name="Google Shape;377;p15"/>
          <p:cNvSpPr/>
          <p:nvPr/>
        </p:nvSpPr>
        <p:spPr>
          <a:xfrm>
            <a:off x="5306786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800"/>
          </a:p>
        </p:txBody>
      </p:sp>
      <p:sp>
        <p:nvSpPr>
          <p:cNvPr id="378" name="Google Shape;378;p15"/>
          <p:cNvSpPr/>
          <p:nvPr/>
        </p:nvSpPr>
        <p:spPr>
          <a:xfrm>
            <a:off x="6599464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800"/>
          </a:p>
        </p:txBody>
      </p:sp>
      <p:sp>
        <p:nvSpPr>
          <p:cNvPr id="379" name="Google Shape;379;p15"/>
          <p:cNvSpPr/>
          <p:nvPr/>
        </p:nvSpPr>
        <p:spPr>
          <a:xfrm>
            <a:off x="7892143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800"/>
          </a:p>
        </p:txBody>
      </p:sp>
      <p:sp>
        <p:nvSpPr>
          <p:cNvPr id="380" name="Google Shape;380;p15"/>
          <p:cNvSpPr/>
          <p:nvPr/>
        </p:nvSpPr>
        <p:spPr>
          <a:xfrm>
            <a:off x="9184821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sz="1800"/>
          </a:p>
        </p:txBody>
      </p:sp>
      <p:sp>
        <p:nvSpPr>
          <p:cNvPr id="381" name="Google Shape;381;p15"/>
          <p:cNvSpPr/>
          <p:nvPr/>
        </p:nvSpPr>
        <p:spPr>
          <a:xfrm>
            <a:off x="666750" y="5391150"/>
            <a:ext cx="8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800"/>
          </a:p>
        </p:txBody>
      </p:sp>
      <p:sp>
        <p:nvSpPr>
          <p:cNvPr id="382" name="Google Shape;382;p15"/>
          <p:cNvSpPr/>
          <p:nvPr/>
        </p:nvSpPr>
        <p:spPr>
          <a:xfrm>
            <a:off x="1428750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383" name="Google Shape;383;p15"/>
          <p:cNvSpPr/>
          <p:nvPr/>
        </p:nvSpPr>
        <p:spPr>
          <a:xfrm>
            <a:off x="2721429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0.67</a:t>
            </a:r>
            <a:endParaRPr sz="1800"/>
          </a:p>
        </p:txBody>
      </p:sp>
      <p:sp>
        <p:nvSpPr>
          <p:cNvPr id="384" name="Google Shape;384;p15"/>
          <p:cNvSpPr/>
          <p:nvPr/>
        </p:nvSpPr>
        <p:spPr>
          <a:xfrm>
            <a:off x="4014107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0.57</a:t>
            </a:r>
            <a:endParaRPr sz="1800"/>
          </a:p>
        </p:txBody>
      </p:sp>
      <p:sp>
        <p:nvSpPr>
          <p:cNvPr id="385" name="Google Shape;385;p15"/>
          <p:cNvSpPr/>
          <p:nvPr/>
        </p:nvSpPr>
        <p:spPr>
          <a:xfrm>
            <a:off x="5306786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1800"/>
          </a:p>
        </p:txBody>
      </p:sp>
      <p:sp>
        <p:nvSpPr>
          <p:cNvPr id="386" name="Google Shape;386;p15"/>
          <p:cNvSpPr/>
          <p:nvPr/>
        </p:nvSpPr>
        <p:spPr>
          <a:xfrm>
            <a:off x="6599464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0.53</a:t>
            </a:r>
            <a:endParaRPr sz="1800"/>
          </a:p>
        </p:txBody>
      </p:sp>
      <p:sp>
        <p:nvSpPr>
          <p:cNvPr id="387" name="Google Shape;387;p15"/>
          <p:cNvSpPr/>
          <p:nvPr/>
        </p:nvSpPr>
        <p:spPr>
          <a:xfrm>
            <a:off x="7892143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0.77</a:t>
            </a:r>
            <a:endParaRPr sz="1800"/>
          </a:p>
        </p:txBody>
      </p:sp>
      <p:sp>
        <p:nvSpPr>
          <p:cNvPr id="388" name="Google Shape;388;p15"/>
          <p:cNvSpPr/>
          <p:nvPr/>
        </p:nvSpPr>
        <p:spPr>
          <a:xfrm>
            <a:off x="9184821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0.61</a:t>
            </a:r>
            <a:endParaRPr sz="1800"/>
          </a:p>
        </p:txBody>
      </p:sp>
      <p:sp>
        <p:nvSpPr>
          <p:cNvPr id="389" name="Google Shape;389;p15"/>
          <p:cNvSpPr/>
          <p:nvPr/>
        </p:nvSpPr>
        <p:spPr>
          <a:xfrm>
            <a:off x="666750" y="5581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800"/>
          </a:p>
        </p:txBody>
      </p:sp>
      <p:sp>
        <p:nvSpPr>
          <p:cNvPr id="390" name="Google Shape;390;p15"/>
          <p:cNvSpPr/>
          <p:nvPr/>
        </p:nvSpPr>
        <p:spPr>
          <a:xfrm>
            <a:off x="1428750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391" name="Google Shape;391;p15"/>
          <p:cNvSpPr/>
          <p:nvPr/>
        </p:nvSpPr>
        <p:spPr>
          <a:xfrm>
            <a:off x="2721429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sz="1800"/>
          </a:p>
        </p:txBody>
      </p:sp>
      <p:sp>
        <p:nvSpPr>
          <p:cNvPr id="392" name="Google Shape;392;p15"/>
          <p:cNvSpPr/>
          <p:nvPr/>
        </p:nvSpPr>
        <p:spPr>
          <a:xfrm>
            <a:off x="4014107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0.38</a:t>
            </a:r>
            <a:endParaRPr sz="1800"/>
          </a:p>
        </p:txBody>
      </p:sp>
      <p:sp>
        <p:nvSpPr>
          <p:cNvPr id="393" name="Google Shape;393;p15"/>
          <p:cNvSpPr/>
          <p:nvPr/>
        </p:nvSpPr>
        <p:spPr>
          <a:xfrm>
            <a:off x="5306786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0.86</a:t>
            </a:r>
            <a:endParaRPr sz="1800"/>
          </a:p>
        </p:txBody>
      </p:sp>
      <p:sp>
        <p:nvSpPr>
          <p:cNvPr id="394" name="Google Shape;394;p15"/>
          <p:cNvSpPr/>
          <p:nvPr/>
        </p:nvSpPr>
        <p:spPr>
          <a:xfrm>
            <a:off x="6599464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395" name="Google Shape;395;p15"/>
          <p:cNvSpPr/>
          <p:nvPr/>
        </p:nvSpPr>
        <p:spPr>
          <a:xfrm>
            <a:off x="7892143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1800"/>
          </a:p>
        </p:txBody>
      </p:sp>
      <p:sp>
        <p:nvSpPr>
          <p:cNvPr id="396" name="Google Shape;396;p15"/>
          <p:cNvSpPr/>
          <p:nvPr/>
        </p:nvSpPr>
        <p:spPr>
          <a:xfrm>
            <a:off x="9184821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0.67</a:t>
            </a:r>
            <a:endParaRPr sz="1800"/>
          </a:p>
        </p:txBody>
      </p:sp>
      <p:sp>
        <p:nvSpPr>
          <p:cNvPr id="397" name="Google Shape;397;p15"/>
          <p:cNvSpPr/>
          <p:nvPr/>
        </p:nvSpPr>
        <p:spPr>
          <a:xfrm>
            <a:off x="666750" y="57721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800"/>
          </a:p>
        </p:txBody>
      </p:sp>
      <p:sp>
        <p:nvSpPr>
          <p:cNvPr id="398" name="Google Shape;398;p15"/>
          <p:cNvSpPr/>
          <p:nvPr/>
        </p:nvSpPr>
        <p:spPr>
          <a:xfrm>
            <a:off x="1428750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399" name="Google Shape;399;p15"/>
          <p:cNvSpPr/>
          <p:nvPr/>
        </p:nvSpPr>
        <p:spPr>
          <a:xfrm>
            <a:off x="2721429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sz="1800"/>
          </a:p>
        </p:txBody>
      </p:sp>
      <p:sp>
        <p:nvSpPr>
          <p:cNvPr id="400" name="Google Shape;400;p15"/>
          <p:cNvSpPr/>
          <p:nvPr/>
        </p:nvSpPr>
        <p:spPr>
          <a:xfrm>
            <a:off x="4014107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sz="1800"/>
          </a:p>
        </p:txBody>
      </p:sp>
      <p:sp>
        <p:nvSpPr>
          <p:cNvPr id="401" name="Google Shape;401;p15"/>
          <p:cNvSpPr/>
          <p:nvPr/>
        </p:nvSpPr>
        <p:spPr>
          <a:xfrm>
            <a:off x="5306786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1800"/>
          </a:p>
        </p:txBody>
      </p:sp>
      <p:sp>
        <p:nvSpPr>
          <p:cNvPr id="402" name="Google Shape;402;p15"/>
          <p:cNvSpPr/>
          <p:nvPr/>
        </p:nvSpPr>
        <p:spPr>
          <a:xfrm>
            <a:off x="6599464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 sz="1800"/>
          </a:p>
        </p:txBody>
      </p:sp>
      <p:sp>
        <p:nvSpPr>
          <p:cNvPr id="403" name="Google Shape;403;p15"/>
          <p:cNvSpPr/>
          <p:nvPr/>
        </p:nvSpPr>
        <p:spPr>
          <a:xfrm>
            <a:off x="7892143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1800"/>
          </a:p>
        </p:txBody>
      </p:sp>
      <p:sp>
        <p:nvSpPr>
          <p:cNvPr id="404" name="Google Shape;404;p15"/>
          <p:cNvSpPr/>
          <p:nvPr/>
        </p:nvSpPr>
        <p:spPr>
          <a:xfrm>
            <a:off x="9184821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1800"/>
          </a:p>
        </p:txBody>
      </p:sp>
      <p:sp>
        <p:nvSpPr>
          <p:cNvPr id="405" name="Google Shape;405;p15"/>
          <p:cNvSpPr/>
          <p:nvPr/>
        </p:nvSpPr>
        <p:spPr>
          <a:xfrm>
            <a:off x="666750" y="51625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66750" y="59626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7" name="Google Shape;407;p15"/>
          <p:cNvGraphicFramePr/>
          <p:nvPr/>
        </p:nvGraphicFramePr>
        <p:xfrm>
          <a:off x="704800" y="43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{F5DD3A00-447F-4BFE-8946-A259EAAF3A8C}</a:tableStyleId>
              </a:tblPr>
              <a:tblGrid>
                <a:gridCol w="1454950"/>
                <a:gridCol w="1454950"/>
                <a:gridCol w="1454950"/>
                <a:gridCol w="1454950"/>
              </a:tblGrid>
              <a:tr h="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E5F99"/>
                          </a:solidFill>
                        </a:rPr>
                        <a:t>Test Macro F1</a:t>
                      </a:r>
                      <a:endParaRPr b="1" sz="1200">
                        <a:solidFill>
                          <a:srgbClr val="1E5F9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0.663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E5F99"/>
                          </a:solidFill>
                        </a:rPr>
                        <a:t>Test Weighted F1</a:t>
                      </a:r>
                      <a:endParaRPr b="1" sz="1200">
                        <a:solidFill>
                          <a:srgbClr val="1E5F9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0.675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ResNet18 improves when deeper layers are fine-tuned.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1009650" y="2285546"/>
            <a:ext cx="5753100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90600" y="381000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704850" y="37338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0.30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990600" y="3410857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704850" y="3334657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0.40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990600" y="3011714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704850" y="2935514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0.50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990600" y="2612571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704850" y="2536371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990600" y="2213429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704850" y="2137229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990600" y="3810000"/>
            <a:ext cx="5534025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117124" y="3631386"/>
            <a:ext cx="251052" cy="178614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956900" y="3459936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0.346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862330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1796483" y="2633341"/>
            <a:ext cx="251052" cy="1176659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636259" y="246189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0.602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1541689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unfreeze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layer4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2633322" y="2451099"/>
            <a:ext cx="251052" cy="1358901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2473098" y="2279649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0.648</a:t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2378529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unfreeze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layer3</a:t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3470162" y="2448932"/>
            <a:ext cx="251052" cy="1361068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3309938" y="227748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0.649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3215368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4307001" y="2431068"/>
            <a:ext cx="251052" cy="1378932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146777" y="2259618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0.654</a:t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4052207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weights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focal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5143840" y="2344730"/>
            <a:ext cx="251052" cy="146527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4983616" y="217328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0.676</a:t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4889046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focal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5980679" y="2309657"/>
            <a:ext cx="251052" cy="1500343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5820455" y="2138207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0.685</a:t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5725886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crop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TenCrop</a:t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5095875" y="2038350"/>
            <a:ext cx="85725" cy="8572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229225" y="2000250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best val macro F1</a:t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7086600" y="1943100"/>
            <a:ext cx="3429000" cy="2876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net confusion matrix" id="452" name="Google Shape;4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019300"/>
            <a:ext cx="32766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6"/>
          <p:cNvSpPr/>
          <p:nvPr/>
        </p:nvSpPr>
        <p:spPr>
          <a:xfrm>
            <a:off x="666750" y="4953000"/>
            <a:ext cx="981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Best ResNet18 test per-class precision / recall / F1</a:t>
            </a: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666750" y="5200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800"/>
          </a:p>
        </p:txBody>
      </p:sp>
      <p:sp>
        <p:nvSpPr>
          <p:cNvPr id="455" name="Google Shape;455;p16"/>
          <p:cNvSpPr/>
          <p:nvPr/>
        </p:nvSpPr>
        <p:spPr>
          <a:xfrm>
            <a:off x="1428750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800"/>
          </a:p>
        </p:txBody>
      </p:sp>
      <p:sp>
        <p:nvSpPr>
          <p:cNvPr id="456" name="Google Shape;456;p16"/>
          <p:cNvSpPr/>
          <p:nvPr/>
        </p:nvSpPr>
        <p:spPr>
          <a:xfrm>
            <a:off x="2721429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800"/>
          </a:p>
        </p:txBody>
      </p:sp>
      <p:sp>
        <p:nvSpPr>
          <p:cNvPr id="457" name="Google Shape;457;p16"/>
          <p:cNvSpPr/>
          <p:nvPr/>
        </p:nvSpPr>
        <p:spPr>
          <a:xfrm>
            <a:off x="4014107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800"/>
          </a:p>
        </p:txBody>
      </p:sp>
      <p:sp>
        <p:nvSpPr>
          <p:cNvPr id="458" name="Google Shape;458;p16"/>
          <p:cNvSpPr/>
          <p:nvPr/>
        </p:nvSpPr>
        <p:spPr>
          <a:xfrm>
            <a:off x="5306786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800"/>
          </a:p>
        </p:txBody>
      </p:sp>
      <p:sp>
        <p:nvSpPr>
          <p:cNvPr id="459" name="Google Shape;459;p16"/>
          <p:cNvSpPr/>
          <p:nvPr/>
        </p:nvSpPr>
        <p:spPr>
          <a:xfrm>
            <a:off x="6599464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800"/>
          </a:p>
        </p:txBody>
      </p:sp>
      <p:sp>
        <p:nvSpPr>
          <p:cNvPr id="460" name="Google Shape;460;p16"/>
          <p:cNvSpPr/>
          <p:nvPr/>
        </p:nvSpPr>
        <p:spPr>
          <a:xfrm>
            <a:off x="7892143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800"/>
          </a:p>
        </p:txBody>
      </p:sp>
      <p:sp>
        <p:nvSpPr>
          <p:cNvPr id="461" name="Google Shape;461;p16"/>
          <p:cNvSpPr/>
          <p:nvPr/>
        </p:nvSpPr>
        <p:spPr>
          <a:xfrm>
            <a:off x="9184821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sz="1800"/>
          </a:p>
        </p:txBody>
      </p:sp>
      <p:sp>
        <p:nvSpPr>
          <p:cNvPr id="462" name="Google Shape;462;p16"/>
          <p:cNvSpPr/>
          <p:nvPr/>
        </p:nvSpPr>
        <p:spPr>
          <a:xfrm>
            <a:off x="666750" y="5391150"/>
            <a:ext cx="861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800"/>
          </a:p>
        </p:txBody>
      </p:sp>
      <p:sp>
        <p:nvSpPr>
          <p:cNvPr id="463" name="Google Shape;463;p16"/>
          <p:cNvSpPr/>
          <p:nvPr/>
        </p:nvSpPr>
        <p:spPr>
          <a:xfrm>
            <a:off x="1428750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sz="1800"/>
          </a:p>
        </p:txBody>
      </p:sp>
      <p:sp>
        <p:nvSpPr>
          <p:cNvPr id="464" name="Google Shape;464;p16"/>
          <p:cNvSpPr/>
          <p:nvPr/>
        </p:nvSpPr>
        <p:spPr>
          <a:xfrm>
            <a:off x="2721429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sz="1800"/>
          </a:p>
        </p:txBody>
      </p:sp>
      <p:sp>
        <p:nvSpPr>
          <p:cNvPr id="465" name="Google Shape;465;p16"/>
          <p:cNvSpPr/>
          <p:nvPr/>
        </p:nvSpPr>
        <p:spPr>
          <a:xfrm>
            <a:off x="4014107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sz="1800"/>
          </a:p>
        </p:txBody>
      </p:sp>
      <p:sp>
        <p:nvSpPr>
          <p:cNvPr id="466" name="Google Shape;466;p16"/>
          <p:cNvSpPr/>
          <p:nvPr/>
        </p:nvSpPr>
        <p:spPr>
          <a:xfrm>
            <a:off x="5306786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800"/>
          </a:p>
        </p:txBody>
      </p:sp>
      <p:sp>
        <p:nvSpPr>
          <p:cNvPr id="467" name="Google Shape;467;p16"/>
          <p:cNvSpPr/>
          <p:nvPr/>
        </p:nvSpPr>
        <p:spPr>
          <a:xfrm>
            <a:off x="6599464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0.58</a:t>
            </a:r>
            <a:endParaRPr sz="1800"/>
          </a:p>
        </p:txBody>
      </p:sp>
      <p:sp>
        <p:nvSpPr>
          <p:cNvPr id="468" name="Google Shape;468;p16"/>
          <p:cNvSpPr/>
          <p:nvPr/>
        </p:nvSpPr>
        <p:spPr>
          <a:xfrm>
            <a:off x="7892143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0.77</a:t>
            </a:r>
            <a:endParaRPr sz="1800"/>
          </a:p>
        </p:txBody>
      </p:sp>
      <p:sp>
        <p:nvSpPr>
          <p:cNvPr id="469" name="Google Shape;469;p16"/>
          <p:cNvSpPr/>
          <p:nvPr/>
        </p:nvSpPr>
        <p:spPr>
          <a:xfrm>
            <a:off x="9184821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1800"/>
          </a:p>
        </p:txBody>
      </p:sp>
      <p:sp>
        <p:nvSpPr>
          <p:cNvPr id="470" name="Google Shape;470;p16"/>
          <p:cNvSpPr/>
          <p:nvPr/>
        </p:nvSpPr>
        <p:spPr>
          <a:xfrm>
            <a:off x="666750" y="5581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800"/>
          </a:p>
        </p:txBody>
      </p:sp>
      <p:sp>
        <p:nvSpPr>
          <p:cNvPr id="471" name="Google Shape;471;p16"/>
          <p:cNvSpPr/>
          <p:nvPr/>
        </p:nvSpPr>
        <p:spPr>
          <a:xfrm>
            <a:off x="1428750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1800"/>
          </a:p>
        </p:txBody>
      </p:sp>
      <p:sp>
        <p:nvSpPr>
          <p:cNvPr id="472" name="Google Shape;472;p16"/>
          <p:cNvSpPr/>
          <p:nvPr/>
        </p:nvSpPr>
        <p:spPr>
          <a:xfrm>
            <a:off x="2721429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sz="1800"/>
          </a:p>
        </p:txBody>
      </p:sp>
      <p:sp>
        <p:nvSpPr>
          <p:cNvPr id="473" name="Google Shape;473;p16"/>
          <p:cNvSpPr/>
          <p:nvPr/>
        </p:nvSpPr>
        <p:spPr>
          <a:xfrm>
            <a:off x="4014107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1800"/>
          </a:p>
        </p:txBody>
      </p:sp>
      <p:sp>
        <p:nvSpPr>
          <p:cNvPr id="474" name="Google Shape;474;p16"/>
          <p:cNvSpPr/>
          <p:nvPr/>
        </p:nvSpPr>
        <p:spPr>
          <a:xfrm>
            <a:off x="5306786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1800"/>
          </a:p>
        </p:txBody>
      </p:sp>
      <p:sp>
        <p:nvSpPr>
          <p:cNvPr id="475" name="Google Shape;475;p16"/>
          <p:cNvSpPr/>
          <p:nvPr/>
        </p:nvSpPr>
        <p:spPr>
          <a:xfrm>
            <a:off x="6599464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476" name="Google Shape;476;p16"/>
          <p:cNvSpPr/>
          <p:nvPr/>
        </p:nvSpPr>
        <p:spPr>
          <a:xfrm>
            <a:off x="7892143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0.85</a:t>
            </a:r>
            <a:endParaRPr sz="1800"/>
          </a:p>
        </p:txBody>
      </p:sp>
      <p:sp>
        <p:nvSpPr>
          <p:cNvPr id="477" name="Google Shape;477;p16"/>
          <p:cNvSpPr/>
          <p:nvPr/>
        </p:nvSpPr>
        <p:spPr>
          <a:xfrm>
            <a:off x="9184821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sz="1800"/>
          </a:p>
        </p:txBody>
      </p:sp>
      <p:sp>
        <p:nvSpPr>
          <p:cNvPr id="478" name="Google Shape;478;p16"/>
          <p:cNvSpPr/>
          <p:nvPr/>
        </p:nvSpPr>
        <p:spPr>
          <a:xfrm>
            <a:off x="666750" y="57721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800"/>
          </a:p>
        </p:txBody>
      </p:sp>
      <p:sp>
        <p:nvSpPr>
          <p:cNvPr id="479" name="Google Shape;479;p16"/>
          <p:cNvSpPr/>
          <p:nvPr/>
        </p:nvSpPr>
        <p:spPr>
          <a:xfrm>
            <a:off x="1428750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1800"/>
          </a:p>
        </p:txBody>
      </p:sp>
      <p:sp>
        <p:nvSpPr>
          <p:cNvPr id="480" name="Google Shape;480;p16"/>
          <p:cNvSpPr/>
          <p:nvPr/>
        </p:nvSpPr>
        <p:spPr>
          <a:xfrm>
            <a:off x="2721429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sz="1800"/>
          </a:p>
        </p:txBody>
      </p:sp>
      <p:sp>
        <p:nvSpPr>
          <p:cNvPr id="481" name="Google Shape;481;p16"/>
          <p:cNvSpPr/>
          <p:nvPr/>
        </p:nvSpPr>
        <p:spPr>
          <a:xfrm>
            <a:off x="4014107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0.53</a:t>
            </a:r>
            <a:endParaRPr sz="1800"/>
          </a:p>
        </p:txBody>
      </p:sp>
      <p:sp>
        <p:nvSpPr>
          <p:cNvPr id="482" name="Google Shape;482;p16"/>
          <p:cNvSpPr/>
          <p:nvPr/>
        </p:nvSpPr>
        <p:spPr>
          <a:xfrm>
            <a:off x="5306786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1800"/>
          </a:p>
        </p:txBody>
      </p:sp>
      <p:sp>
        <p:nvSpPr>
          <p:cNvPr id="483" name="Google Shape;483;p16"/>
          <p:cNvSpPr/>
          <p:nvPr/>
        </p:nvSpPr>
        <p:spPr>
          <a:xfrm>
            <a:off x="6599464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0.58</a:t>
            </a:r>
            <a:endParaRPr sz="1800">
              <a:solidFill>
                <a:srgbClr val="A5622C"/>
              </a:solidFill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7892143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800"/>
          </a:p>
        </p:txBody>
      </p:sp>
      <p:sp>
        <p:nvSpPr>
          <p:cNvPr id="485" name="Google Shape;485;p16"/>
          <p:cNvSpPr/>
          <p:nvPr/>
        </p:nvSpPr>
        <p:spPr>
          <a:xfrm>
            <a:off x="9184821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0.66</a:t>
            </a:r>
            <a:endParaRPr sz="1800"/>
          </a:p>
        </p:txBody>
      </p:sp>
      <p:sp>
        <p:nvSpPr>
          <p:cNvPr id="486" name="Google Shape;486;p16"/>
          <p:cNvSpPr/>
          <p:nvPr/>
        </p:nvSpPr>
        <p:spPr>
          <a:xfrm>
            <a:off x="666750" y="51625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666750" y="59626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8" name="Google Shape;488;p16"/>
          <p:cNvGraphicFramePr/>
          <p:nvPr/>
        </p:nvGraphicFramePr>
        <p:xfrm>
          <a:off x="704800" y="43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{F5DD3A00-447F-4BFE-8946-A259EAAF3A8C}</a:tableStyleId>
              </a:tblPr>
              <a:tblGrid>
                <a:gridCol w="1454950"/>
                <a:gridCol w="1454950"/>
                <a:gridCol w="1454950"/>
                <a:gridCol w="1454950"/>
              </a:tblGrid>
              <a:tr h="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E5F99"/>
                          </a:solidFill>
                        </a:rPr>
                        <a:t>Test Macro F1</a:t>
                      </a:r>
                      <a:endParaRPr b="1" sz="1200">
                        <a:solidFill>
                          <a:srgbClr val="1E5F9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0.685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E5F99"/>
                          </a:solidFill>
                        </a:rPr>
                        <a:t>Test Weighted F1</a:t>
                      </a:r>
                      <a:endParaRPr b="1" sz="1200">
                        <a:solidFill>
                          <a:srgbClr val="1E5F9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0.695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EfficientNet-B0 is competitive on FER2013 after stronger fine-tuning.</a:t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990600" y="3810000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704850" y="37338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0.35</a:t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990600" y="3356919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704850" y="3280719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990600" y="2903838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704850" y="2827638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990600" y="2450757"/>
            <a:ext cx="5534025" cy="9525"/>
          </a:xfrm>
          <a:prstGeom prst="rect">
            <a:avLst/>
          </a:prstGeom>
          <a:solidFill>
            <a:srgbClr val="E6E2DA"/>
          </a:solidFill>
          <a:ln cap="flat" cmpd="sng" w="95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704850" y="2374557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990600" y="3810000"/>
            <a:ext cx="5534025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959644" y="3670196"/>
            <a:ext cx="251052" cy="139804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799420" y="3498746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0.382</a:t>
            </a:r>
            <a:endParaRPr/>
          </a:p>
        </p:txBody>
      </p:sp>
      <p:sp>
        <p:nvSpPr>
          <p:cNvPr id="508" name="Google Shape;508;p17"/>
          <p:cNvSpPr/>
          <p:nvPr/>
        </p:nvSpPr>
        <p:spPr>
          <a:xfrm>
            <a:off x="704850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1796483" y="3305611"/>
            <a:ext cx="251052" cy="504389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1636259" y="313416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0.464</a:t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1541689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unfreeze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last block</a:t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2633322" y="2747891"/>
            <a:ext cx="251052" cy="1062109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2473098" y="257644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0.590</a:t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2378529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unfreeze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last 2</a:t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3470162" y="2541284"/>
            <a:ext cx="251052" cy="1268716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3309938" y="2369834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0.637</a:t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3215368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unfreeze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last 3</a:t>
            </a: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4307001" y="2468141"/>
            <a:ext cx="251052" cy="1341859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146777" y="229669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0.653</a:t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4052207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last 3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sampler</a:t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5143840" y="2450136"/>
            <a:ext cx="251052" cy="1359864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4983616" y="2278686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0.657</a:t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4889046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sampler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5980679" y="2394580"/>
            <a:ext cx="251052" cy="141542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5820455" y="222313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0.670</a:t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5725886" y="3886200"/>
            <a:ext cx="7606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crop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TenCrop</a:t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5095875" y="2038350"/>
            <a:ext cx="85725" cy="85725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25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229225" y="2000250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best val macro F1</a:t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7086600" y="1943100"/>
            <a:ext cx="3429000" cy="2876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fficient confusion matrix" id="530" name="Google Shape;5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019300"/>
            <a:ext cx="32766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7"/>
          <p:cNvSpPr/>
          <p:nvPr/>
        </p:nvSpPr>
        <p:spPr>
          <a:xfrm>
            <a:off x="666750" y="4953000"/>
            <a:ext cx="981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Best EfficientNet-B0 test per-class precision / recall / F1</a:t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666750" y="5200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800"/>
          </a:p>
        </p:txBody>
      </p:sp>
      <p:sp>
        <p:nvSpPr>
          <p:cNvPr id="533" name="Google Shape;533;p17"/>
          <p:cNvSpPr/>
          <p:nvPr/>
        </p:nvSpPr>
        <p:spPr>
          <a:xfrm>
            <a:off x="1428750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800"/>
          </a:p>
        </p:txBody>
      </p:sp>
      <p:sp>
        <p:nvSpPr>
          <p:cNvPr id="534" name="Google Shape;534;p17"/>
          <p:cNvSpPr/>
          <p:nvPr/>
        </p:nvSpPr>
        <p:spPr>
          <a:xfrm>
            <a:off x="2721429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800"/>
          </a:p>
        </p:txBody>
      </p:sp>
      <p:sp>
        <p:nvSpPr>
          <p:cNvPr id="535" name="Google Shape;535;p17"/>
          <p:cNvSpPr/>
          <p:nvPr/>
        </p:nvSpPr>
        <p:spPr>
          <a:xfrm>
            <a:off x="4014107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800"/>
          </a:p>
        </p:txBody>
      </p:sp>
      <p:sp>
        <p:nvSpPr>
          <p:cNvPr id="536" name="Google Shape;536;p17"/>
          <p:cNvSpPr/>
          <p:nvPr/>
        </p:nvSpPr>
        <p:spPr>
          <a:xfrm>
            <a:off x="5306786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800"/>
          </a:p>
        </p:txBody>
      </p:sp>
      <p:sp>
        <p:nvSpPr>
          <p:cNvPr id="537" name="Google Shape;537;p17"/>
          <p:cNvSpPr/>
          <p:nvPr/>
        </p:nvSpPr>
        <p:spPr>
          <a:xfrm>
            <a:off x="6599464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800"/>
          </a:p>
        </p:txBody>
      </p:sp>
      <p:sp>
        <p:nvSpPr>
          <p:cNvPr id="538" name="Google Shape;538;p17"/>
          <p:cNvSpPr/>
          <p:nvPr/>
        </p:nvSpPr>
        <p:spPr>
          <a:xfrm>
            <a:off x="7892143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800"/>
          </a:p>
        </p:txBody>
      </p:sp>
      <p:sp>
        <p:nvSpPr>
          <p:cNvPr id="539" name="Google Shape;539;p17"/>
          <p:cNvSpPr/>
          <p:nvPr/>
        </p:nvSpPr>
        <p:spPr>
          <a:xfrm>
            <a:off x="9184821" y="5200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sz="1700"/>
          </a:p>
        </p:txBody>
      </p:sp>
      <p:sp>
        <p:nvSpPr>
          <p:cNvPr id="540" name="Google Shape;540;p17"/>
          <p:cNvSpPr/>
          <p:nvPr/>
        </p:nvSpPr>
        <p:spPr>
          <a:xfrm>
            <a:off x="666750" y="5391150"/>
            <a:ext cx="798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800"/>
          </a:p>
        </p:txBody>
      </p:sp>
      <p:sp>
        <p:nvSpPr>
          <p:cNvPr id="541" name="Google Shape;541;p17"/>
          <p:cNvSpPr/>
          <p:nvPr/>
        </p:nvSpPr>
        <p:spPr>
          <a:xfrm>
            <a:off x="1428750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1800"/>
          </a:p>
        </p:txBody>
      </p:sp>
      <p:sp>
        <p:nvSpPr>
          <p:cNvPr id="542" name="Google Shape;542;p17"/>
          <p:cNvSpPr/>
          <p:nvPr/>
        </p:nvSpPr>
        <p:spPr>
          <a:xfrm>
            <a:off x="2721429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0.77</a:t>
            </a:r>
            <a:endParaRPr sz="1800"/>
          </a:p>
        </p:txBody>
      </p:sp>
      <p:sp>
        <p:nvSpPr>
          <p:cNvPr id="543" name="Google Shape;543;p17"/>
          <p:cNvSpPr/>
          <p:nvPr/>
        </p:nvSpPr>
        <p:spPr>
          <a:xfrm>
            <a:off x="4014107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0.56</a:t>
            </a:r>
            <a:endParaRPr sz="1800"/>
          </a:p>
        </p:txBody>
      </p:sp>
      <p:sp>
        <p:nvSpPr>
          <p:cNvPr id="544" name="Google Shape;544;p17"/>
          <p:cNvSpPr/>
          <p:nvPr/>
        </p:nvSpPr>
        <p:spPr>
          <a:xfrm>
            <a:off x="5306786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1800"/>
          </a:p>
        </p:txBody>
      </p:sp>
      <p:sp>
        <p:nvSpPr>
          <p:cNvPr id="545" name="Google Shape;545;p17"/>
          <p:cNvSpPr/>
          <p:nvPr/>
        </p:nvSpPr>
        <p:spPr>
          <a:xfrm>
            <a:off x="6599464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800"/>
          </a:p>
        </p:txBody>
      </p:sp>
      <p:sp>
        <p:nvSpPr>
          <p:cNvPr id="546" name="Google Shape;546;p17"/>
          <p:cNvSpPr/>
          <p:nvPr/>
        </p:nvSpPr>
        <p:spPr>
          <a:xfrm>
            <a:off x="7892143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800"/>
          </a:p>
        </p:txBody>
      </p:sp>
      <p:sp>
        <p:nvSpPr>
          <p:cNvPr id="547" name="Google Shape;547;p17"/>
          <p:cNvSpPr/>
          <p:nvPr/>
        </p:nvSpPr>
        <p:spPr>
          <a:xfrm>
            <a:off x="9184821" y="5391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666750" y="55816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800"/>
          </a:p>
        </p:txBody>
      </p:sp>
      <p:sp>
        <p:nvSpPr>
          <p:cNvPr id="549" name="Google Shape;549;p17"/>
          <p:cNvSpPr/>
          <p:nvPr/>
        </p:nvSpPr>
        <p:spPr>
          <a:xfrm>
            <a:off x="1428750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endParaRPr sz="1800"/>
          </a:p>
        </p:txBody>
      </p:sp>
      <p:sp>
        <p:nvSpPr>
          <p:cNvPr id="550" name="Google Shape;550;p17"/>
          <p:cNvSpPr/>
          <p:nvPr/>
        </p:nvSpPr>
        <p:spPr>
          <a:xfrm>
            <a:off x="2721429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1800"/>
          </a:p>
        </p:txBody>
      </p:sp>
      <p:sp>
        <p:nvSpPr>
          <p:cNvPr id="551" name="Google Shape;551;p17"/>
          <p:cNvSpPr/>
          <p:nvPr/>
        </p:nvSpPr>
        <p:spPr>
          <a:xfrm>
            <a:off x="4014107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0.54</a:t>
            </a:r>
            <a:endParaRPr sz="1800"/>
          </a:p>
        </p:txBody>
      </p:sp>
      <p:sp>
        <p:nvSpPr>
          <p:cNvPr id="552" name="Google Shape;552;p17"/>
          <p:cNvSpPr/>
          <p:nvPr/>
        </p:nvSpPr>
        <p:spPr>
          <a:xfrm>
            <a:off x="5306786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1800"/>
          </a:p>
        </p:txBody>
      </p:sp>
      <p:sp>
        <p:nvSpPr>
          <p:cNvPr id="553" name="Google Shape;553;p17"/>
          <p:cNvSpPr/>
          <p:nvPr/>
        </p:nvSpPr>
        <p:spPr>
          <a:xfrm>
            <a:off x="6599464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0.56</a:t>
            </a:r>
            <a:endParaRPr sz="1800"/>
          </a:p>
        </p:txBody>
      </p:sp>
      <p:sp>
        <p:nvSpPr>
          <p:cNvPr id="554" name="Google Shape;554;p17"/>
          <p:cNvSpPr/>
          <p:nvPr/>
        </p:nvSpPr>
        <p:spPr>
          <a:xfrm>
            <a:off x="7892143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800"/>
          </a:p>
        </p:txBody>
      </p:sp>
      <p:sp>
        <p:nvSpPr>
          <p:cNvPr id="555" name="Google Shape;555;p17"/>
          <p:cNvSpPr/>
          <p:nvPr/>
        </p:nvSpPr>
        <p:spPr>
          <a:xfrm>
            <a:off x="9184821" y="55816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66750" y="57721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800"/>
          </a:p>
        </p:txBody>
      </p:sp>
      <p:sp>
        <p:nvSpPr>
          <p:cNvPr id="557" name="Google Shape;557;p17"/>
          <p:cNvSpPr/>
          <p:nvPr/>
        </p:nvSpPr>
        <p:spPr>
          <a:xfrm>
            <a:off x="1428750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1800"/>
          </a:p>
        </p:txBody>
      </p:sp>
      <p:sp>
        <p:nvSpPr>
          <p:cNvPr id="558" name="Google Shape;558;p17"/>
          <p:cNvSpPr/>
          <p:nvPr/>
        </p:nvSpPr>
        <p:spPr>
          <a:xfrm>
            <a:off x="2721429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1800"/>
          </a:p>
        </p:txBody>
      </p:sp>
      <p:sp>
        <p:nvSpPr>
          <p:cNvPr id="559" name="Google Shape;559;p17"/>
          <p:cNvSpPr/>
          <p:nvPr/>
        </p:nvSpPr>
        <p:spPr>
          <a:xfrm>
            <a:off x="4014107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 sz="1800"/>
          </a:p>
        </p:txBody>
      </p:sp>
      <p:sp>
        <p:nvSpPr>
          <p:cNvPr id="560" name="Google Shape;560;p17"/>
          <p:cNvSpPr/>
          <p:nvPr/>
        </p:nvSpPr>
        <p:spPr>
          <a:xfrm>
            <a:off x="5306786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1800"/>
          </a:p>
        </p:txBody>
      </p:sp>
      <p:sp>
        <p:nvSpPr>
          <p:cNvPr id="561" name="Google Shape;561;p17"/>
          <p:cNvSpPr/>
          <p:nvPr/>
        </p:nvSpPr>
        <p:spPr>
          <a:xfrm>
            <a:off x="6599464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0.58</a:t>
            </a:r>
            <a:endParaRPr sz="1800"/>
          </a:p>
        </p:txBody>
      </p:sp>
      <p:sp>
        <p:nvSpPr>
          <p:cNvPr id="562" name="Google Shape;562;p17"/>
          <p:cNvSpPr/>
          <p:nvPr/>
        </p:nvSpPr>
        <p:spPr>
          <a:xfrm>
            <a:off x="7892143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800"/>
          </a:p>
        </p:txBody>
      </p:sp>
      <p:sp>
        <p:nvSpPr>
          <p:cNvPr id="563" name="Google Shape;563;p17"/>
          <p:cNvSpPr/>
          <p:nvPr/>
        </p:nvSpPr>
        <p:spPr>
          <a:xfrm>
            <a:off x="9184821" y="5772150"/>
            <a:ext cx="1273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666750" y="51625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666750" y="5962650"/>
            <a:ext cx="9810750" cy="9525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6" name="Google Shape;566;p17"/>
          <p:cNvGraphicFramePr/>
          <p:nvPr/>
        </p:nvGraphicFramePr>
        <p:xfrm>
          <a:off x="704800" y="43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{F5DD3A00-447F-4BFE-8946-A259EAAF3A8C}</a:tableStyleId>
              </a:tblPr>
              <a:tblGrid>
                <a:gridCol w="1454950"/>
                <a:gridCol w="1454950"/>
                <a:gridCol w="1454950"/>
                <a:gridCol w="1454950"/>
              </a:tblGrid>
              <a:tr h="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57B72"/>
                          </a:solidFill>
                        </a:rPr>
                        <a:t>Test Macro F1</a:t>
                      </a:r>
                      <a:endParaRPr b="1" sz="1200"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0.667 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57B72"/>
                          </a:solidFill>
                        </a:rPr>
                        <a:t>Test Weighted F1</a:t>
                      </a:r>
                      <a:endParaRPr b="1" sz="1200"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0.686</a:t>
                      </a:r>
                      <a:endParaRPr sz="1200"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8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Top confusions show that errors cluster 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around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 similar emotions.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762000" y="2095500"/>
            <a:ext cx="1537200" cy="205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2352146" y="2095500"/>
            <a:ext cx="2173200" cy="205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TOP CONFUSION</a:t>
            </a: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4356649" y="2095500"/>
            <a:ext cx="763200" cy="205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5341550" y="2083167"/>
            <a:ext cx="11448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CLASS RATE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762000" y="2368734"/>
            <a:ext cx="5724600" cy="17100"/>
          </a:xfrm>
          <a:prstGeom prst="rect">
            <a:avLst/>
          </a:prstGeom>
          <a:solidFill>
            <a:srgbClr val="CFCBC1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762000" y="2528120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Custom CNN</a:t>
            </a:r>
            <a:endParaRPr sz="1944"/>
          </a:p>
        </p:txBody>
      </p:sp>
      <p:sp>
        <p:nvSpPr>
          <p:cNvPr id="581" name="Google Shape;581;p18"/>
          <p:cNvSpPr/>
          <p:nvPr/>
        </p:nvSpPr>
        <p:spPr>
          <a:xfrm>
            <a:off x="2352146" y="2528120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sad -&gt; neutral</a:t>
            </a:r>
            <a:endParaRPr sz="1944"/>
          </a:p>
        </p:txBody>
      </p:sp>
      <p:sp>
        <p:nvSpPr>
          <p:cNvPr id="582" name="Google Shape;582;p18"/>
          <p:cNvSpPr/>
          <p:nvPr/>
        </p:nvSpPr>
        <p:spPr>
          <a:xfrm>
            <a:off x="4578350" y="2528120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259</a:t>
            </a:r>
            <a:endParaRPr sz="1944"/>
          </a:p>
        </p:txBody>
      </p:sp>
      <p:sp>
        <p:nvSpPr>
          <p:cNvPr id="583" name="Google Shape;583;p18"/>
          <p:cNvSpPr/>
          <p:nvPr/>
        </p:nvSpPr>
        <p:spPr>
          <a:xfrm>
            <a:off x="5426428" y="2528120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20.8%</a:t>
            </a:r>
            <a:endParaRPr sz="1944"/>
          </a:p>
        </p:txBody>
      </p:sp>
      <p:sp>
        <p:nvSpPr>
          <p:cNvPr id="584" name="Google Shape;584;p18"/>
          <p:cNvSpPr/>
          <p:nvPr/>
        </p:nvSpPr>
        <p:spPr>
          <a:xfrm>
            <a:off x="762000" y="2835508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762000" y="2915201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Custom CNN</a:t>
            </a:r>
            <a:endParaRPr sz="1944"/>
          </a:p>
        </p:txBody>
      </p:sp>
      <p:sp>
        <p:nvSpPr>
          <p:cNvPr id="586" name="Google Shape;586;p18"/>
          <p:cNvSpPr/>
          <p:nvPr/>
        </p:nvSpPr>
        <p:spPr>
          <a:xfrm>
            <a:off x="2352146" y="2915201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fear -&gt; sad</a:t>
            </a:r>
            <a:endParaRPr sz="1944"/>
          </a:p>
        </p:txBody>
      </p:sp>
      <p:sp>
        <p:nvSpPr>
          <p:cNvPr id="587" name="Google Shape;587;p18"/>
          <p:cNvSpPr/>
          <p:nvPr/>
        </p:nvSpPr>
        <p:spPr>
          <a:xfrm>
            <a:off x="4578350" y="2915201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233</a:t>
            </a:r>
            <a:endParaRPr sz="1944"/>
          </a:p>
        </p:txBody>
      </p:sp>
      <p:sp>
        <p:nvSpPr>
          <p:cNvPr id="588" name="Google Shape;588;p18"/>
          <p:cNvSpPr/>
          <p:nvPr/>
        </p:nvSpPr>
        <p:spPr>
          <a:xfrm>
            <a:off x="5426428" y="2915201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22.8%</a:t>
            </a:r>
            <a:endParaRPr sz="1944"/>
          </a:p>
        </p:txBody>
      </p:sp>
      <p:sp>
        <p:nvSpPr>
          <p:cNvPr id="589" name="Google Shape;589;p18"/>
          <p:cNvSpPr/>
          <p:nvPr/>
        </p:nvSpPr>
        <p:spPr>
          <a:xfrm>
            <a:off x="762000" y="3222589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762000" y="3302282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Custom CNN</a:t>
            </a:r>
            <a:endParaRPr sz="1944"/>
          </a:p>
        </p:txBody>
      </p:sp>
      <p:sp>
        <p:nvSpPr>
          <p:cNvPr id="591" name="Google Shape;591;p18"/>
          <p:cNvSpPr/>
          <p:nvPr/>
        </p:nvSpPr>
        <p:spPr>
          <a:xfrm>
            <a:off x="2352146" y="3302282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neutral -&gt; sad</a:t>
            </a:r>
            <a:endParaRPr sz="1944"/>
          </a:p>
        </p:txBody>
      </p:sp>
      <p:sp>
        <p:nvSpPr>
          <p:cNvPr id="592" name="Google Shape;592;p18"/>
          <p:cNvSpPr/>
          <p:nvPr/>
        </p:nvSpPr>
        <p:spPr>
          <a:xfrm>
            <a:off x="4578350" y="3302282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162</a:t>
            </a:r>
            <a:endParaRPr sz="1944"/>
          </a:p>
        </p:txBody>
      </p:sp>
      <p:sp>
        <p:nvSpPr>
          <p:cNvPr id="593" name="Google Shape;593;p18"/>
          <p:cNvSpPr/>
          <p:nvPr/>
        </p:nvSpPr>
        <p:spPr>
          <a:xfrm>
            <a:off x="5426428" y="3302282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13.1%</a:t>
            </a:r>
            <a:endParaRPr sz="1944"/>
          </a:p>
        </p:txBody>
      </p:sp>
      <p:sp>
        <p:nvSpPr>
          <p:cNvPr id="594" name="Google Shape;594;p18"/>
          <p:cNvSpPr/>
          <p:nvPr/>
        </p:nvSpPr>
        <p:spPr>
          <a:xfrm>
            <a:off x="762000" y="3609670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762000" y="3689363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sz="1944"/>
          </a:p>
        </p:txBody>
      </p:sp>
      <p:sp>
        <p:nvSpPr>
          <p:cNvPr id="596" name="Google Shape;596;p18"/>
          <p:cNvSpPr/>
          <p:nvPr/>
        </p:nvSpPr>
        <p:spPr>
          <a:xfrm>
            <a:off x="2352146" y="3689363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sad -&gt; neutral</a:t>
            </a:r>
            <a:endParaRPr sz="1944"/>
          </a:p>
        </p:txBody>
      </p:sp>
      <p:sp>
        <p:nvSpPr>
          <p:cNvPr id="597" name="Google Shape;597;p18"/>
          <p:cNvSpPr/>
          <p:nvPr/>
        </p:nvSpPr>
        <p:spPr>
          <a:xfrm>
            <a:off x="4578350" y="3689363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z="1944"/>
          </a:p>
        </p:txBody>
      </p:sp>
      <p:sp>
        <p:nvSpPr>
          <p:cNvPr id="598" name="Google Shape;598;p18"/>
          <p:cNvSpPr/>
          <p:nvPr/>
        </p:nvSpPr>
        <p:spPr>
          <a:xfrm>
            <a:off x="5426428" y="3689363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16.0%</a:t>
            </a:r>
            <a:endParaRPr sz="1944"/>
          </a:p>
        </p:txBody>
      </p:sp>
      <p:sp>
        <p:nvSpPr>
          <p:cNvPr id="599" name="Google Shape;599;p18"/>
          <p:cNvSpPr/>
          <p:nvPr/>
        </p:nvSpPr>
        <p:spPr>
          <a:xfrm>
            <a:off x="762000" y="3996751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762000" y="4076444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sz="1944"/>
          </a:p>
        </p:txBody>
      </p:sp>
      <p:sp>
        <p:nvSpPr>
          <p:cNvPr id="601" name="Google Shape;601;p18"/>
          <p:cNvSpPr/>
          <p:nvPr/>
        </p:nvSpPr>
        <p:spPr>
          <a:xfrm>
            <a:off x="2352146" y="4076444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fear -&gt; sad</a:t>
            </a:r>
            <a:endParaRPr sz="1944"/>
          </a:p>
        </p:txBody>
      </p:sp>
      <p:sp>
        <p:nvSpPr>
          <p:cNvPr id="602" name="Google Shape;602;p18"/>
          <p:cNvSpPr/>
          <p:nvPr/>
        </p:nvSpPr>
        <p:spPr>
          <a:xfrm>
            <a:off x="4578350" y="4076444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197</a:t>
            </a:r>
            <a:endParaRPr sz="1944"/>
          </a:p>
        </p:txBody>
      </p:sp>
      <p:sp>
        <p:nvSpPr>
          <p:cNvPr id="603" name="Google Shape;603;p18"/>
          <p:cNvSpPr/>
          <p:nvPr/>
        </p:nvSpPr>
        <p:spPr>
          <a:xfrm>
            <a:off x="5426428" y="4076444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19.2%</a:t>
            </a:r>
            <a:endParaRPr sz="1944"/>
          </a:p>
        </p:txBody>
      </p:sp>
      <p:sp>
        <p:nvSpPr>
          <p:cNvPr id="604" name="Google Shape;604;p18"/>
          <p:cNvSpPr/>
          <p:nvPr/>
        </p:nvSpPr>
        <p:spPr>
          <a:xfrm>
            <a:off x="762000" y="4383832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762000" y="4463525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sz="1944"/>
          </a:p>
        </p:txBody>
      </p:sp>
      <p:sp>
        <p:nvSpPr>
          <p:cNvPr id="606" name="Google Shape;606;p18"/>
          <p:cNvSpPr/>
          <p:nvPr/>
        </p:nvSpPr>
        <p:spPr>
          <a:xfrm>
            <a:off x="2352146" y="4463525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neutral -&gt; sad</a:t>
            </a:r>
            <a:endParaRPr sz="1944"/>
          </a:p>
        </p:txBody>
      </p:sp>
      <p:sp>
        <p:nvSpPr>
          <p:cNvPr id="607" name="Google Shape;607;p18"/>
          <p:cNvSpPr/>
          <p:nvPr/>
        </p:nvSpPr>
        <p:spPr>
          <a:xfrm>
            <a:off x="4578350" y="4463525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162</a:t>
            </a:r>
            <a:endParaRPr sz="1944"/>
          </a:p>
        </p:txBody>
      </p:sp>
      <p:sp>
        <p:nvSpPr>
          <p:cNvPr id="608" name="Google Shape;608;p18"/>
          <p:cNvSpPr/>
          <p:nvPr/>
        </p:nvSpPr>
        <p:spPr>
          <a:xfrm>
            <a:off x="5426428" y="4463525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13.1%</a:t>
            </a:r>
            <a:endParaRPr sz="1944"/>
          </a:p>
        </p:txBody>
      </p:sp>
      <p:sp>
        <p:nvSpPr>
          <p:cNvPr id="609" name="Google Shape;609;p18"/>
          <p:cNvSpPr/>
          <p:nvPr/>
        </p:nvSpPr>
        <p:spPr>
          <a:xfrm>
            <a:off x="762000" y="4770913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762000" y="4850607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sz="1944"/>
          </a:p>
        </p:txBody>
      </p:sp>
      <p:sp>
        <p:nvSpPr>
          <p:cNvPr id="611" name="Google Shape;611;p18"/>
          <p:cNvSpPr/>
          <p:nvPr/>
        </p:nvSpPr>
        <p:spPr>
          <a:xfrm>
            <a:off x="2352146" y="4850607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sad -&gt; neutral</a:t>
            </a:r>
            <a:endParaRPr sz="1944"/>
          </a:p>
        </p:txBody>
      </p:sp>
      <p:sp>
        <p:nvSpPr>
          <p:cNvPr id="612" name="Google Shape;612;p18"/>
          <p:cNvSpPr/>
          <p:nvPr/>
        </p:nvSpPr>
        <p:spPr>
          <a:xfrm>
            <a:off x="4578350" y="4850607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206</a:t>
            </a:r>
            <a:endParaRPr sz="1944"/>
          </a:p>
        </p:txBody>
      </p:sp>
      <p:sp>
        <p:nvSpPr>
          <p:cNvPr id="613" name="Google Shape;613;p18"/>
          <p:cNvSpPr/>
          <p:nvPr/>
        </p:nvSpPr>
        <p:spPr>
          <a:xfrm>
            <a:off x="5426428" y="4850607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16.5%</a:t>
            </a:r>
            <a:endParaRPr sz="1944"/>
          </a:p>
        </p:txBody>
      </p:sp>
      <p:sp>
        <p:nvSpPr>
          <p:cNvPr id="614" name="Google Shape;614;p18"/>
          <p:cNvSpPr/>
          <p:nvPr/>
        </p:nvSpPr>
        <p:spPr>
          <a:xfrm>
            <a:off x="762000" y="5157994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762000" y="5237688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sz="1944"/>
          </a:p>
        </p:txBody>
      </p:sp>
      <p:sp>
        <p:nvSpPr>
          <p:cNvPr id="616" name="Google Shape;616;p18"/>
          <p:cNvSpPr/>
          <p:nvPr/>
        </p:nvSpPr>
        <p:spPr>
          <a:xfrm>
            <a:off x="2352146" y="5237688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fear -&gt; sad</a:t>
            </a:r>
            <a:endParaRPr sz="1944"/>
          </a:p>
        </p:txBody>
      </p:sp>
      <p:sp>
        <p:nvSpPr>
          <p:cNvPr id="617" name="Google Shape;617;p18"/>
          <p:cNvSpPr/>
          <p:nvPr/>
        </p:nvSpPr>
        <p:spPr>
          <a:xfrm>
            <a:off x="4578350" y="5237688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163</a:t>
            </a:r>
            <a:endParaRPr sz="1944"/>
          </a:p>
        </p:txBody>
      </p:sp>
      <p:sp>
        <p:nvSpPr>
          <p:cNvPr id="618" name="Google Shape;618;p18"/>
          <p:cNvSpPr/>
          <p:nvPr/>
        </p:nvSpPr>
        <p:spPr>
          <a:xfrm>
            <a:off x="5426428" y="5237688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15.9%</a:t>
            </a:r>
            <a:endParaRPr sz="1944"/>
          </a:p>
        </p:txBody>
      </p:sp>
      <p:sp>
        <p:nvSpPr>
          <p:cNvPr id="619" name="Google Shape;619;p18"/>
          <p:cNvSpPr/>
          <p:nvPr/>
        </p:nvSpPr>
        <p:spPr>
          <a:xfrm>
            <a:off x="762000" y="5545076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762000" y="5624769"/>
            <a:ext cx="1537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sz="1944"/>
          </a:p>
        </p:txBody>
      </p:sp>
      <p:sp>
        <p:nvSpPr>
          <p:cNvPr id="621" name="Google Shape;621;p18"/>
          <p:cNvSpPr/>
          <p:nvPr/>
        </p:nvSpPr>
        <p:spPr>
          <a:xfrm>
            <a:off x="2352146" y="5624769"/>
            <a:ext cx="217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sad -&gt; fear</a:t>
            </a:r>
            <a:endParaRPr sz="1944"/>
          </a:p>
        </p:txBody>
      </p:sp>
      <p:sp>
        <p:nvSpPr>
          <p:cNvPr id="622" name="Google Shape;622;p18"/>
          <p:cNvSpPr/>
          <p:nvPr/>
        </p:nvSpPr>
        <p:spPr>
          <a:xfrm>
            <a:off x="4578350" y="5624769"/>
            <a:ext cx="7632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154</a:t>
            </a:r>
            <a:endParaRPr sz="1944"/>
          </a:p>
        </p:txBody>
      </p:sp>
      <p:sp>
        <p:nvSpPr>
          <p:cNvPr id="623" name="Google Shape;623;p18"/>
          <p:cNvSpPr/>
          <p:nvPr/>
        </p:nvSpPr>
        <p:spPr>
          <a:xfrm>
            <a:off x="5426428" y="5624769"/>
            <a:ext cx="848100" cy="25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4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12.3%</a:t>
            </a:r>
            <a:endParaRPr sz="1944"/>
          </a:p>
        </p:txBody>
      </p:sp>
      <p:sp>
        <p:nvSpPr>
          <p:cNvPr id="624" name="Google Shape;624;p18"/>
          <p:cNvSpPr/>
          <p:nvPr/>
        </p:nvSpPr>
        <p:spPr>
          <a:xfrm>
            <a:off x="762000" y="5932157"/>
            <a:ext cx="5724600" cy="11400"/>
          </a:xfrm>
          <a:prstGeom prst="rect">
            <a:avLst/>
          </a:prstGeom>
          <a:solidFill>
            <a:srgbClr val="D8D5CC"/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50" spcFirstLastPara="1" rIns="98750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838950" y="2520813"/>
            <a:ext cx="66600" cy="666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7086600" y="2425563"/>
            <a:ext cx="3848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Sad, fear, and </a:t>
            </a: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neutral</a:t>
            </a: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 dominate the top mistakes.</a:t>
            </a:r>
            <a:endParaRPr/>
          </a:p>
        </p:txBody>
      </p:sp>
      <p:sp>
        <p:nvSpPr>
          <p:cNvPr id="627" name="Google Shape;627;p18"/>
          <p:cNvSpPr/>
          <p:nvPr/>
        </p:nvSpPr>
        <p:spPr>
          <a:xfrm>
            <a:off x="6838950" y="3187563"/>
            <a:ext cx="66600" cy="666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7086600" y="3092313"/>
            <a:ext cx="3848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The same error families appear across model architectures.</a:t>
            </a:r>
            <a:endParaRPr/>
          </a:p>
        </p:txBody>
      </p:sp>
      <p:sp>
        <p:nvSpPr>
          <p:cNvPr id="629" name="Google Shape;629;p18"/>
          <p:cNvSpPr/>
          <p:nvPr/>
        </p:nvSpPr>
        <p:spPr>
          <a:xfrm>
            <a:off x="6838950" y="3910673"/>
            <a:ext cx="66600" cy="66600"/>
          </a:xfrm>
          <a:prstGeom prst="rect">
            <a:avLst/>
          </a:prstGeom>
          <a:solidFill>
            <a:srgbClr val="A5622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7086600" y="3815423"/>
            <a:ext cx="3848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The best model improves the score, but does not remove class ambiguity.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40952015e91_1_29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COMPARISON AGAINST BASELINES AND STATE OF THE ART</a:t>
            </a:r>
            <a:endParaRPr/>
          </a:p>
        </p:txBody>
      </p:sp>
      <p:sp>
        <p:nvSpPr>
          <p:cNvPr id="637" name="Google Shape;637;g40952015e91_1_29"/>
          <p:cNvSpPr/>
          <p:nvPr/>
        </p:nvSpPr>
        <p:spPr>
          <a:xfrm>
            <a:off x="647700" y="72390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Comparison of our models with literature results</a:t>
            </a:r>
            <a:endParaRPr/>
          </a:p>
        </p:txBody>
      </p:sp>
      <p:sp>
        <p:nvSpPr>
          <p:cNvPr id="638" name="Google Shape;638;g40952015e91_1_29"/>
          <p:cNvSpPr/>
          <p:nvPr/>
        </p:nvSpPr>
        <p:spPr>
          <a:xfrm>
            <a:off x="647700" y="1657350"/>
            <a:ext cx="9906000" cy="144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9" name="Google Shape;639;g40952015e91_1_29"/>
          <p:cNvGraphicFramePr/>
          <p:nvPr/>
        </p:nvGraphicFramePr>
        <p:xfrm>
          <a:off x="6477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{F5DD3A00-447F-4BFE-8946-A259EAAF3A8C}</a:tableStyleId>
              </a:tblPr>
              <a:tblGrid>
                <a:gridCol w="1765300"/>
                <a:gridCol w="1765300"/>
                <a:gridCol w="1765300"/>
                <a:gridCol w="1765300"/>
                <a:gridCol w="1765300"/>
                <a:gridCol w="1765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Literature Resnet18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Our Resnet18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Literature EfficientNet-B0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Our EfficientNet-B0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Our Baseline 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Neutral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0.66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0.65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Happy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0.88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0.88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Sad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0.58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Surprise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0.81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0.81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Fear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0.53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0.55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Disgust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0.69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0.70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Angry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57B72"/>
                          </a:solidFill>
                        </a:rPr>
                        <a:t>0.62</a:t>
                      </a:r>
                      <a:endParaRPr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5622C"/>
                          </a:solidFill>
                        </a:rPr>
                        <a:t>0.62</a:t>
                      </a:r>
                      <a:endParaRPr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Macro-average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0.64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257B72"/>
                          </a:solidFill>
                        </a:rPr>
                        <a:t>0.69</a:t>
                      </a:r>
                      <a:endParaRPr b="1">
                        <a:solidFill>
                          <a:srgbClr val="257B7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0.72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A5622C"/>
                          </a:solidFill>
                        </a:rPr>
                        <a:t>0.67</a:t>
                      </a:r>
                      <a:endParaRPr b="1">
                        <a:solidFill>
                          <a:srgbClr val="A562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0.66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40" name="Google Shape;640;g40952015e91_1_29"/>
          <p:cNvSpPr txBox="1"/>
          <p:nvPr/>
        </p:nvSpPr>
        <p:spPr>
          <a:xfrm>
            <a:off x="578450" y="1824000"/>
            <a:ext cx="71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</a:rPr>
              <a:t>MACRO F1 COMPARISON BETWEEN OUR RESULTS AND STATE OF THE ART</a:t>
            </a:r>
            <a:endParaRPr sz="1700">
              <a:solidFill>
                <a:srgbClr val="1E5F9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40952015e91_1_150"/>
          <p:cNvSpPr/>
          <p:nvPr/>
        </p:nvSpPr>
        <p:spPr>
          <a:xfrm>
            <a:off x="1115986" y="5082508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40952015e91_1_150"/>
          <p:cNvSpPr/>
          <p:nvPr/>
        </p:nvSpPr>
        <p:spPr>
          <a:xfrm>
            <a:off x="614575" y="4948799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0.50</a:t>
            </a:r>
            <a:endParaRPr sz="2457"/>
          </a:p>
        </p:txBody>
      </p:sp>
      <p:sp>
        <p:nvSpPr>
          <p:cNvPr id="648" name="Google Shape;648;g40952015e91_1_150"/>
          <p:cNvSpPr/>
          <p:nvPr/>
        </p:nvSpPr>
        <p:spPr>
          <a:xfrm>
            <a:off x="1115986" y="4587785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40952015e91_1_150"/>
          <p:cNvSpPr/>
          <p:nvPr/>
        </p:nvSpPr>
        <p:spPr>
          <a:xfrm>
            <a:off x="614575" y="4454076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 sz="2457"/>
          </a:p>
        </p:txBody>
      </p:sp>
      <p:sp>
        <p:nvSpPr>
          <p:cNvPr id="650" name="Google Shape;650;g40952015e91_1_150"/>
          <p:cNvSpPr/>
          <p:nvPr/>
        </p:nvSpPr>
        <p:spPr>
          <a:xfrm>
            <a:off x="1115986" y="4093061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40952015e91_1_150"/>
          <p:cNvSpPr/>
          <p:nvPr/>
        </p:nvSpPr>
        <p:spPr>
          <a:xfrm>
            <a:off x="614575" y="3959353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sz="2457"/>
          </a:p>
        </p:txBody>
      </p:sp>
      <p:sp>
        <p:nvSpPr>
          <p:cNvPr id="652" name="Google Shape;652;g40952015e91_1_150"/>
          <p:cNvSpPr/>
          <p:nvPr/>
        </p:nvSpPr>
        <p:spPr>
          <a:xfrm>
            <a:off x="1115986" y="3598338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40952015e91_1_150"/>
          <p:cNvSpPr/>
          <p:nvPr/>
        </p:nvSpPr>
        <p:spPr>
          <a:xfrm>
            <a:off x="614575" y="3464629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 sz="2457"/>
          </a:p>
        </p:txBody>
      </p:sp>
      <p:sp>
        <p:nvSpPr>
          <p:cNvPr id="654" name="Google Shape;654;g40952015e91_1_150"/>
          <p:cNvSpPr/>
          <p:nvPr/>
        </p:nvSpPr>
        <p:spPr>
          <a:xfrm>
            <a:off x="1115986" y="3103615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40952015e91_1_150"/>
          <p:cNvSpPr/>
          <p:nvPr/>
        </p:nvSpPr>
        <p:spPr>
          <a:xfrm>
            <a:off x="614575" y="2969906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2457"/>
          </a:p>
        </p:txBody>
      </p:sp>
      <p:sp>
        <p:nvSpPr>
          <p:cNvPr id="656" name="Google Shape;656;g40952015e91_1_150"/>
          <p:cNvSpPr/>
          <p:nvPr/>
        </p:nvSpPr>
        <p:spPr>
          <a:xfrm>
            <a:off x="1115986" y="2608892"/>
            <a:ext cx="6016800" cy="16800"/>
          </a:xfrm>
          <a:prstGeom prst="rect">
            <a:avLst/>
          </a:prstGeom>
          <a:solidFill>
            <a:srgbClr val="E6E2DA"/>
          </a:solidFill>
          <a:ln cap="flat" cmpd="sng" w="16725">
            <a:solidFill>
              <a:srgbClr val="E6E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40952015e91_1_150"/>
          <p:cNvSpPr/>
          <p:nvPr/>
        </p:nvSpPr>
        <p:spPr>
          <a:xfrm>
            <a:off x="614575" y="2475183"/>
            <a:ext cx="468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0.75</a:t>
            </a:r>
            <a:endParaRPr sz="2457"/>
          </a:p>
        </p:txBody>
      </p:sp>
      <p:sp>
        <p:nvSpPr>
          <p:cNvPr id="658" name="Google Shape;658;g40952015e91_1_150"/>
          <p:cNvSpPr/>
          <p:nvPr/>
        </p:nvSpPr>
        <p:spPr>
          <a:xfrm>
            <a:off x="1115986" y="5082508"/>
            <a:ext cx="6016800" cy="25200"/>
          </a:xfrm>
          <a:prstGeom prst="rect">
            <a:avLst/>
          </a:prstGeom>
          <a:solidFill>
            <a:srgbClr val="CFCBC1"/>
          </a:solidFill>
          <a:ln cap="flat" cmpd="sng" w="167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40952015e91_1_150"/>
          <p:cNvSpPr/>
          <p:nvPr/>
        </p:nvSpPr>
        <p:spPr>
          <a:xfrm>
            <a:off x="1372263" y="3600755"/>
            <a:ext cx="267600" cy="1482000"/>
          </a:xfrm>
          <a:prstGeom prst="rect">
            <a:avLst/>
          </a:prstGeom>
          <a:solidFill>
            <a:srgbClr val="1E5F99"/>
          </a:solidFill>
          <a:ln cap="flat" cmpd="sng" w="167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40952015e91_1_150"/>
          <p:cNvSpPr/>
          <p:nvPr/>
        </p:nvSpPr>
        <p:spPr>
          <a:xfrm>
            <a:off x="1071416" y="3366764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0.654</a:t>
            </a:r>
            <a:endParaRPr sz="2457"/>
          </a:p>
        </p:txBody>
      </p:sp>
      <p:sp>
        <p:nvSpPr>
          <p:cNvPr id="661" name="Google Shape;661;g40952015e91_1_150"/>
          <p:cNvSpPr/>
          <p:nvPr/>
        </p:nvSpPr>
        <p:spPr>
          <a:xfrm>
            <a:off x="1706537" y="3448912"/>
            <a:ext cx="267600" cy="1633500"/>
          </a:xfrm>
          <a:prstGeom prst="rect">
            <a:avLst/>
          </a:prstGeom>
          <a:solidFill>
            <a:srgbClr val="A5622C"/>
          </a:solidFill>
          <a:ln cap="flat" cmpd="sng" w="16725">
            <a:solidFill>
              <a:srgbClr val="A562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40952015e91_1_150"/>
          <p:cNvSpPr/>
          <p:nvPr/>
        </p:nvSpPr>
        <p:spPr>
          <a:xfrm>
            <a:off x="1405690" y="3214922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0.670</a:t>
            </a:r>
            <a:endParaRPr sz="2457"/>
          </a:p>
        </p:txBody>
      </p:sp>
      <p:sp>
        <p:nvSpPr>
          <p:cNvPr id="663" name="Google Shape;663;g40952015e91_1_150"/>
          <p:cNvSpPr/>
          <p:nvPr/>
        </p:nvSpPr>
        <p:spPr>
          <a:xfrm>
            <a:off x="648002" y="5199503"/>
            <a:ext cx="20502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Custom</a:t>
            </a:r>
            <a:endParaRPr sz="245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CNN</a:t>
            </a:r>
            <a:endParaRPr sz="2457"/>
          </a:p>
        </p:txBody>
      </p:sp>
      <p:sp>
        <p:nvSpPr>
          <p:cNvPr id="664" name="Google Shape;664;g40952015e91_1_150"/>
          <p:cNvSpPr/>
          <p:nvPr/>
        </p:nvSpPr>
        <p:spPr>
          <a:xfrm>
            <a:off x="3556187" y="3328541"/>
            <a:ext cx="267600" cy="1754100"/>
          </a:xfrm>
          <a:prstGeom prst="rect">
            <a:avLst/>
          </a:prstGeom>
          <a:solidFill>
            <a:srgbClr val="1E5F99"/>
          </a:solidFill>
          <a:ln cap="flat" cmpd="sng" w="167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40952015e91_1_150"/>
          <p:cNvSpPr/>
          <p:nvPr/>
        </p:nvSpPr>
        <p:spPr>
          <a:xfrm>
            <a:off x="3255340" y="3094550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0.682</a:t>
            </a:r>
            <a:endParaRPr sz="2457"/>
          </a:p>
        </p:txBody>
      </p:sp>
      <p:sp>
        <p:nvSpPr>
          <p:cNvPr id="666" name="Google Shape;666;g40952015e91_1_150"/>
          <p:cNvSpPr/>
          <p:nvPr/>
        </p:nvSpPr>
        <p:spPr>
          <a:xfrm>
            <a:off x="3890461" y="3089625"/>
            <a:ext cx="267600" cy="1992900"/>
          </a:xfrm>
          <a:prstGeom prst="rect">
            <a:avLst/>
          </a:prstGeom>
          <a:solidFill>
            <a:srgbClr val="A5622C"/>
          </a:solidFill>
          <a:ln cap="flat" cmpd="sng" w="16725">
            <a:solidFill>
              <a:srgbClr val="A562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40952015e91_1_150"/>
          <p:cNvSpPr/>
          <p:nvPr/>
        </p:nvSpPr>
        <p:spPr>
          <a:xfrm>
            <a:off x="3589614" y="2855634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0.707</a:t>
            </a:r>
            <a:endParaRPr sz="2457"/>
          </a:p>
        </p:txBody>
      </p:sp>
      <p:sp>
        <p:nvSpPr>
          <p:cNvPr id="668" name="Google Shape;668;g40952015e91_1_150"/>
          <p:cNvSpPr/>
          <p:nvPr/>
        </p:nvSpPr>
        <p:spPr>
          <a:xfrm>
            <a:off x="2831926" y="5199503"/>
            <a:ext cx="20502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sz="2457"/>
          </a:p>
        </p:txBody>
      </p:sp>
      <p:sp>
        <p:nvSpPr>
          <p:cNvPr id="669" name="Google Shape;669;g40952015e91_1_150"/>
          <p:cNvSpPr/>
          <p:nvPr/>
        </p:nvSpPr>
        <p:spPr>
          <a:xfrm>
            <a:off x="5740111" y="3299706"/>
            <a:ext cx="267600" cy="1782900"/>
          </a:xfrm>
          <a:prstGeom prst="rect">
            <a:avLst/>
          </a:prstGeom>
          <a:solidFill>
            <a:srgbClr val="1E5F99"/>
          </a:solidFill>
          <a:ln cap="flat" cmpd="sng" w="167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40952015e91_1_150"/>
          <p:cNvSpPr/>
          <p:nvPr/>
        </p:nvSpPr>
        <p:spPr>
          <a:xfrm>
            <a:off x="5439264" y="3065715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0.685</a:t>
            </a:r>
            <a:endParaRPr sz="2457"/>
          </a:p>
        </p:txBody>
      </p:sp>
      <p:sp>
        <p:nvSpPr>
          <p:cNvPr id="671" name="Google Shape;671;g40952015e91_1_150"/>
          <p:cNvSpPr/>
          <p:nvPr/>
        </p:nvSpPr>
        <p:spPr>
          <a:xfrm>
            <a:off x="6074385" y="4541104"/>
            <a:ext cx="267600" cy="541200"/>
          </a:xfrm>
          <a:prstGeom prst="rect">
            <a:avLst/>
          </a:prstGeom>
          <a:solidFill>
            <a:srgbClr val="A5622C"/>
          </a:solidFill>
          <a:ln cap="flat" cmpd="sng" w="16725">
            <a:solidFill>
              <a:srgbClr val="A562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40952015e91_1_150"/>
          <p:cNvSpPr/>
          <p:nvPr/>
        </p:nvSpPr>
        <p:spPr>
          <a:xfrm>
            <a:off x="5773538" y="4307113"/>
            <a:ext cx="90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0.556</a:t>
            </a:r>
            <a:endParaRPr sz="2457"/>
          </a:p>
        </p:txBody>
      </p:sp>
      <p:sp>
        <p:nvSpPr>
          <p:cNvPr id="673" name="Google Shape;673;g40952015e91_1_150"/>
          <p:cNvSpPr/>
          <p:nvPr/>
        </p:nvSpPr>
        <p:spPr>
          <a:xfrm>
            <a:off x="5015850" y="5199503"/>
            <a:ext cx="20502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EfficientNet</a:t>
            </a:r>
            <a:endParaRPr sz="245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-B0</a:t>
            </a:r>
            <a:endParaRPr sz="2457"/>
          </a:p>
        </p:txBody>
      </p:sp>
      <p:sp>
        <p:nvSpPr>
          <p:cNvPr id="674" name="Google Shape;674;g40952015e91_1_150"/>
          <p:cNvSpPr/>
          <p:nvPr/>
        </p:nvSpPr>
        <p:spPr>
          <a:xfrm>
            <a:off x="4325017" y="2441756"/>
            <a:ext cx="133500" cy="133500"/>
          </a:xfrm>
          <a:prstGeom prst="rect">
            <a:avLst/>
          </a:prstGeom>
          <a:solidFill>
            <a:srgbClr val="1E5F99"/>
          </a:solidFill>
          <a:ln cap="flat" cmpd="sng" w="16725">
            <a:solidFill>
              <a:srgbClr val="1E5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40952015e91_1_150"/>
          <p:cNvSpPr/>
          <p:nvPr/>
        </p:nvSpPr>
        <p:spPr>
          <a:xfrm>
            <a:off x="4525582" y="2374902"/>
            <a:ext cx="9699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9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FER2013</a:t>
            </a:r>
            <a:endParaRPr sz="2457"/>
          </a:p>
        </p:txBody>
      </p:sp>
      <p:sp>
        <p:nvSpPr>
          <p:cNvPr id="676" name="Google Shape;676;g40952015e91_1_150"/>
          <p:cNvSpPr/>
          <p:nvPr/>
        </p:nvSpPr>
        <p:spPr>
          <a:xfrm>
            <a:off x="5662114" y="2441756"/>
            <a:ext cx="133500" cy="133500"/>
          </a:xfrm>
          <a:prstGeom prst="rect">
            <a:avLst/>
          </a:prstGeom>
          <a:solidFill>
            <a:srgbClr val="A5622C"/>
          </a:solidFill>
          <a:ln cap="flat" cmpd="sng" w="16725">
            <a:solidFill>
              <a:srgbClr val="A562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0425" lIns="160425" spcFirstLastPara="1" rIns="160425" wrap="square" tIns="1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40952015e91_1_150"/>
          <p:cNvSpPr/>
          <p:nvPr/>
        </p:nvSpPr>
        <p:spPr>
          <a:xfrm>
            <a:off x="5862678" y="2374902"/>
            <a:ext cx="835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9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CK+</a:t>
            </a:r>
            <a:endParaRPr sz="2457"/>
          </a:p>
        </p:txBody>
      </p:sp>
      <p:sp>
        <p:nvSpPr>
          <p:cNvPr id="678" name="Google Shape;678;g40952015e91_1_150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COMPARISON AGAINST BASELINES AND STATE OF THE ART</a:t>
            </a:r>
            <a:endParaRPr/>
          </a:p>
        </p:txBody>
      </p:sp>
      <p:sp>
        <p:nvSpPr>
          <p:cNvPr id="679" name="Google Shape;679;g40952015e91_1_150"/>
          <p:cNvSpPr/>
          <p:nvPr/>
        </p:nvSpPr>
        <p:spPr>
          <a:xfrm>
            <a:off x="647700" y="72390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FER2013 and CK+ MacroF1 comparisons show promising results for ResNet18 and our custom CNN</a:t>
            </a:r>
            <a:endParaRPr/>
          </a:p>
        </p:txBody>
      </p:sp>
      <p:sp>
        <p:nvSpPr>
          <p:cNvPr id="680" name="Google Shape;680;g40952015e91_1_150"/>
          <p:cNvSpPr/>
          <p:nvPr/>
        </p:nvSpPr>
        <p:spPr>
          <a:xfrm>
            <a:off x="647700" y="1657350"/>
            <a:ext cx="9906000" cy="144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40952015e91_1_150"/>
          <p:cNvSpPr/>
          <p:nvPr/>
        </p:nvSpPr>
        <p:spPr>
          <a:xfrm>
            <a:off x="7343125" y="2876225"/>
            <a:ext cx="3508500" cy="199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EfficientNet was not able to mantain performance regarding MacroF1.</a:t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519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This probably means it was not able to generalize expressions features, and learnt specifically the ones from FER2013.</a:t>
            </a:r>
            <a:endParaRPr sz="1650">
              <a:solidFill>
                <a:srgbClr val="15192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9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COMPARISON AGAINST BASELINES AND STATE OF THE ART</a:t>
            </a: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CK+ performance 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is worse in most emotions</a:t>
            </a:r>
            <a:endParaRPr/>
          </a:p>
        </p:txBody>
      </p:sp>
      <p:sp>
        <p:nvSpPr>
          <p:cNvPr id="689" name="Google Shape;689;p19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731902" y="2042333"/>
            <a:ext cx="25485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4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Custom CNN CK+</a:t>
            </a:r>
            <a:endParaRPr sz="2497"/>
          </a:p>
        </p:txBody>
      </p:sp>
      <p:sp>
        <p:nvSpPr>
          <p:cNvPr id="691" name="Google Shape;691;p19"/>
          <p:cNvSpPr/>
          <p:nvPr/>
        </p:nvSpPr>
        <p:spPr>
          <a:xfrm>
            <a:off x="4437105" y="2038735"/>
            <a:ext cx="2451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ResNet18 CK+</a:t>
            </a:r>
            <a:endParaRPr sz="2401"/>
          </a:p>
        </p:txBody>
      </p:sp>
      <p:sp>
        <p:nvSpPr>
          <p:cNvPr id="692" name="Google Shape;692;p19"/>
          <p:cNvSpPr/>
          <p:nvPr/>
        </p:nvSpPr>
        <p:spPr>
          <a:xfrm>
            <a:off x="8102957" y="2033508"/>
            <a:ext cx="2548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4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EfficientNet-B0 CK+</a:t>
            </a:r>
            <a:endParaRPr sz="2497"/>
          </a:p>
        </p:txBody>
      </p:sp>
      <p:sp>
        <p:nvSpPr>
          <p:cNvPr id="693" name="Google Shape;693;p19"/>
          <p:cNvSpPr/>
          <p:nvPr/>
        </p:nvSpPr>
        <p:spPr>
          <a:xfrm>
            <a:off x="647700" y="4800670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CK+ Custom CNN per-class F1</a:t>
            </a:r>
            <a:endParaRPr/>
          </a:p>
        </p:txBody>
      </p:sp>
      <p:sp>
        <p:nvSpPr>
          <p:cNvPr id="694" name="Google Shape;694;p19"/>
          <p:cNvSpPr/>
          <p:nvPr/>
        </p:nvSpPr>
        <p:spPr>
          <a:xfrm>
            <a:off x="647700" y="502927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9"/>
          <p:cNvSpPr/>
          <p:nvPr/>
        </p:nvSpPr>
        <p:spPr>
          <a:xfrm>
            <a:off x="64770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100"/>
          </a:p>
        </p:txBody>
      </p:sp>
      <p:sp>
        <p:nvSpPr>
          <p:cNvPr id="696" name="Google Shape;696;p19"/>
          <p:cNvSpPr/>
          <p:nvPr/>
        </p:nvSpPr>
        <p:spPr>
          <a:xfrm>
            <a:off x="64770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1100"/>
          </a:p>
        </p:txBody>
      </p:sp>
      <p:sp>
        <p:nvSpPr>
          <p:cNvPr id="697" name="Google Shape;697;p19"/>
          <p:cNvSpPr/>
          <p:nvPr/>
        </p:nvSpPr>
        <p:spPr>
          <a:xfrm>
            <a:off x="117157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100"/>
          </a:p>
        </p:txBody>
      </p:sp>
      <p:sp>
        <p:nvSpPr>
          <p:cNvPr id="698" name="Google Shape;698;p19"/>
          <p:cNvSpPr/>
          <p:nvPr/>
        </p:nvSpPr>
        <p:spPr>
          <a:xfrm>
            <a:off x="117157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0.71</a:t>
            </a:r>
            <a:endParaRPr sz="1100"/>
          </a:p>
        </p:txBody>
      </p:sp>
      <p:sp>
        <p:nvSpPr>
          <p:cNvPr id="699" name="Google Shape;699;p19"/>
          <p:cNvSpPr/>
          <p:nvPr/>
        </p:nvSpPr>
        <p:spPr>
          <a:xfrm>
            <a:off x="169545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100"/>
          </a:p>
        </p:txBody>
      </p:sp>
      <p:sp>
        <p:nvSpPr>
          <p:cNvPr id="700" name="Google Shape;700;p19"/>
          <p:cNvSpPr/>
          <p:nvPr/>
        </p:nvSpPr>
        <p:spPr>
          <a:xfrm>
            <a:off x="169545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0.43</a:t>
            </a:r>
            <a:endParaRPr sz="1100"/>
          </a:p>
        </p:txBody>
      </p:sp>
      <p:sp>
        <p:nvSpPr>
          <p:cNvPr id="701" name="Google Shape;701;p19"/>
          <p:cNvSpPr/>
          <p:nvPr/>
        </p:nvSpPr>
        <p:spPr>
          <a:xfrm>
            <a:off x="221932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100"/>
          </a:p>
        </p:txBody>
      </p:sp>
      <p:sp>
        <p:nvSpPr>
          <p:cNvPr id="702" name="Google Shape;702;p19"/>
          <p:cNvSpPr/>
          <p:nvPr/>
        </p:nvSpPr>
        <p:spPr>
          <a:xfrm>
            <a:off x="221932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0.97</a:t>
            </a:r>
            <a:endParaRPr sz="1100"/>
          </a:p>
        </p:txBody>
      </p:sp>
      <p:sp>
        <p:nvSpPr>
          <p:cNvPr id="703" name="Google Shape;703;p19"/>
          <p:cNvSpPr/>
          <p:nvPr/>
        </p:nvSpPr>
        <p:spPr>
          <a:xfrm>
            <a:off x="274320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100"/>
          </a:p>
        </p:txBody>
      </p:sp>
      <p:sp>
        <p:nvSpPr>
          <p:cNvPr id="704" name="Google Shape;704;p19"/>
          <p:cNvSpPr/>
          <p:nvPr/>
        </p:nvSpPr>
        <p:spPr>
          <a:xfrm>
            <a:off x="274320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0.49</a:t>
            </a:r>
            <a:endParaRPr sz="1100"/>
          </a:p>
        </p:txBody>
      </p:sp>
      <p:sp>
        <p:nvSpPr>
          <p:cNvPr id="705" name="Google Shape;705;p19"/>
          <p:cNvSpPr/>
          <p:nvPr/>
        </p:nvSpPr>
        <p:spPr>
          <a:xfrm>
            <a:off x="3267075" y="5095950"/>
            <a:ext cx="611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100"/>
          </a:p>
        </p:txBody>
      </p:sp>
      <p:sp>
        <p:nvSpPr>
          <p:cNvPr id="706" name="Google Shape;706;p19"/>
          <p:cNvSpPr/>
          <p:nvPr/>
        </p:nvSpPr>
        <p:spPr>
          <a:xfrm>
            <a:off x="326707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0.95</a:t>
            </a:r>
            <a:endParaRPr sz="1100"/>
          </a:p>
        </p:txBody>
      </p:sp>
      <p:sp>
        <p:nvSpPr>
          <p:cNvPr id="707" name="Google Shape;707;p19"/>
          <p:cNvSpPr/>
          <p:nvPr/>
        </p:nvSpPr>
        <p:spPr>
          <a:xfrm>
            <a:off x="647700" y="554362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08" name="Google Shape;708;p19"/>
          <p:cNvSpPr/>
          <p:nvPr/>
        </p:nvSpPr>
        <p:spPr>
          <a:xfrm>
            <a:off x="4362450" y="4800670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CK+ ResNet18 per-class F1</a:t>
            </a:r>
            <a:endParaRPr/>
          </a:p>
        </p:txBody>
      </p:sp>
      <p:sp>
        <p:nvSpPr>
          <p:cNvPr id="709" name="Google Shape;709;p19"/>
          <p:cNvSpPr/>
          <p:nvPr/>
        </p:nvSpPr>
        <p:spPr>
          <a:xfrm>
            <a:off x="4362450" y="502927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436245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100"/>
          </a:p>
        </p:txBody>
      </p:sp>
      <p:sp>
        <p:nvSpPr>
          <p:cNvPr id="711" name="Google Shape;711;p19"/>
          <p:cNvSpPr/>
          <p:nvPr/>
        </p:nvSpPr>
        <p:spPr>
          <a:xfrm>
            <a:off x="436245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0.57</a:t>
            </a:r>
            <a:endParaRPr sz="1100"/>
          </a:p>
        </p:txBody>
      </p:sp>
      <p:sp>
        <p:nvSpPr>
          <p:cNvPr id="712" name="Google Shape;712;p19"/>
          <p:cNvSpPr/>
          <p:nvPr/>
        </p:nvSpPr>
        <p:spPr>
          <a:xfrm>
            <a:off x="488632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100"/>
          </a:p>
        </p:txBody>
      </p:sp>
      <p:sp>
        <p:nvSpPr>
          <p:cNvPr id="713" name="Google Shape;713;p19"/>
          <p:cNvSpPr/>
          <p:nvPr/>
        </p:nvSpPr>
        <p:spPr>
          <a:xfrm>
            <a:off x="488632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0.66</a:t>
            </a:r>
            <a:endParaRPr sz="1100"/>
          </a:p>
        </p:txBody>
      </p:sp>
      <p:sp>
        <p:nvSpPr>
          <p:cNvPr id="714" name="Google Shape;714;p19"/>
          <p:cNvSpPr/>
          <p:nvPr/>
        </p:nvSpPr>
        <p:spPr>
          <a:xfrm>
            <a:off x="541020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100"/>
          </a:p>
        </p:txBody>
      </p:sp>
      <p:sp>
        <p:nvSpPr>
          <p:cNvPr id="715" name="Google Shape;715;p19"/>
          <p:cNvSpPr/>
          <p:nvPr/>
        </p:nvSpPr>
        <p:spPr>
          <a:xfrm>
            <a:off x="541020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0.41</a:t>
            </a:r>
            <a:endParaRPr sz="1100"/>
          </a:p>
        </p:txBody>
      </p:sp>
      <p:sp>
        <p:nvSpPr>
          <p:cNvPr id="716" name="Google Shape;716;p19"/>
          <p:cNvSpPr/>
          <p:nvPr/>
        </p:nvSpPr>
        <p:spPr>
          <a:xfrm>
            <a:off x="593407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100"/>
          </a:p>
        </p:txBody>
      </p:sp>
      <p:sp>
        <p:nvSpPr>
          <p:cNvPr id="717" name="Google Shape;717;p19"/>
          <p:cNvSpPr/>
          <p:nvPr/>
        </p:nvSpPr>
        <p:spPr>
          <a:xfrm>
            <a:off x="593407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0.96</a:t>
            </a:r>
            <a:endParaRPr sz="1100"/>
          </a:p>
        </p:txBody>
      </p:sp>
      <p:sp>
        <p:nvSpPr>
          <p:cNvPr id="718" name="Google Shape;718;p19"/>
          <p:cNvSpPr/>
          <p:nvPr/>
        </p:nvSpPr>
        <p:spPr>
          <a:xfrm>
            <a:off x="645795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100"/>
          </a:p>
        </p:txBody>
      </p:sp>
      <p:sp>
        <p:nvSpPr>
          <p:cNvPr id="719" name="Google Shape;719;p19"/>
          <p:cNvSpPr/>
          <p:nvPr/>
        </p:nvSpPr>
        <p:spPr>
          <a:xfrm>
            <a:off x="645795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sz="1100"/>
          </a:p>
        </p:txBody>
      </p:sp>
      <p:sp>
        <p:nvSpPr>
          <p:cNvPr id="720" name="Google Shape;720;p19"/>
          <p:cNvSpPr/>
          <p:nvPr/>
        </p:nvSpPr>
        <p:spPr>
          <a:xfrm>
            <a:off x="6981825" y="5095950"/>
            <a:ext cx="611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100"/>
          </a:p>
        </p:txBody>
      </p:sp>
      <p:sp>
        <p:nvSpPr>
          <p:cNvPr id="721" name="Google Shape;721;p19"/>
          <p:cNvSpPr/>
          <p:nvPr/>
        </p:nvSpPr>
        <p:spPr>
          <a:xfrm>
            <a:off x="698182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0.94</a:t>
            </a:r>
            <a:endParaRPr sz="1100"/>
          </a:p>
        </p:txBody>
      </p:sp>
      <p:sp>
        <p:nvSpPr>
          <p:cNvPr id="722" name="Google Shape;722;p19"/>
          <p:cNvSpPr/>
          <p:nvPr/>
        </p:nvSpPr>
        <p:spPr>
          <a:xfrm>
            <a:off x="4362450" y="554362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23" name="Google Shape;723;p19"/>
          <p:cNvSpPr/>
          <p:nvPr/>
        </p:nvSpPr>
        <p:spPr>
          <a:xfrm>
            <a:off x="8077200" y="4800670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CK+ EfficientNet-B0 per-class F1</a:t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8077200" y="502927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807720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sz="1100"/>
          </a:p>
        </p:txBody>
      </p:sp>
      <p:sp>
        <p:nvSpPr>
          <p:cNvPr id="726" name="Google Shape;726;p19"/>
          <p:cNvSpPr/>
          <p:nvPr/>
        </p:nvSpPr>
        <p:spPr>
          <a:xfrm>
            <a:off x="807720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0.42</a:t>
            </a:r>
            <a:endParaRPr sz="1100"/>
          </a:p>
        </p:txBody>
      </p:sp>
      <p:sp>
        <p:nvSpPr>
          <p:cNvPr id="727" name="Google Shape;727;p19"/>
          <p:cNvSpPr/>
          <p:nvPr/>
        </p:nvSpPr>
        <p:spPr>
          <a:xfrm>
            <a:off x="860107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disgust</a:t>
            </a:r>
            <a:endParaRPr sz="1100"/>
          </a:p>
        </p:txBody>
      </p:sp>
      <p:sp>
        <p:nvSpPr>
          <p:cNvPr id="728" name="Google Shape;728;p19"/>
          <p:cNvSpPr/>
          <p:nvPr/>
        </p:nvSpPr>
        <p:spPr>
          <a:xfrm>
            <a:off x="860107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0.28</a:t>
            </a:r>
            <a:endParaRPr sz="1100"/>
          </a:p>
        </p:txBody>
      </p:sp>
      <p:sp>
        <p:nvSpPr>
          <p:cNvPr id="729" name="Google Shape;729;p19"/>
          <p:cNvSpPr/>
          <p:nvPr/>
        </p:nvSpPr>
        <p:spPr>
          <a:xfrm>
            <a:off x="912495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sz="1100"/>
          </a:p>
        </p:txBody>
      </p:sp>
      <p:sp>
        <p:nvSpPr>
          <p:cNvPr id="730" name="Google Shape;730;p19"/>
          <p:cNvSpPr/>
          <p:nvPr/>
        </p:nvSpPr>
        <p:spPr>
          <a:xfrm>
            <a:off x="912495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0.26</a:t>
            </a:r>
            <a:endParaRPr sz="1100"/>
          </a:p>
        </p:txBody>
      </p:sp>
      <p:sp>
        <p:nvSpPr>
          <p:cNvPr id="731" name="Google Shape;731;p19"/>
          <p:cNvSpPr/>
          <p:nvPr/>
        </p:nvSpPr>
        <p:spPr>
          <a:xfrm>
            <a:off x="9648825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sz="1100"/>
          </a:p>
        </p:txBody>
      </p:sp>
      <p:sp>
        <p:nvSpPr>
          <p:cNvPr id="732" name="Google Shape;732;p19"/>
          <p:cNvSpPr/>
          <p:nvPr/>
        </p:nvSpPr>
        <p:spPr>
          <a:xfrm>
            <a:off x="964882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0.96</a:t>
            </a:r>
            <a:endParaRPr sz="1100"/>
          </a:p>
        </p:txBody>
      </p:sp>
      <p:sp>
        <p:nvSpPr>
          <p:cNvPr id="733" name="Google Shape;733;p19"/>
          <p:cNvSpPr/>
          <p:nvPr/>
        </p:nvSpPr>
        <p:spPr>
          <a:xfrm>
            <a:off x="10172700" y="5095945"/>
            <a:ext cx="50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sz="1100"/>
          </a:p>
        </p:txBody>
      </p:sp>
      <p:sp>
        <p:nvSpPr>
          <p:cNvPr id="734" name="Google Shape;734;p19"/>
          <p:cNvSpPr/>
          <p:nvPr/>
        </p:nvSpPr>
        <p:spPr>
          <a:xfrm>
            <a:off x="10172700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0.51</a:t>
            </a:r>
            <a:endParaRPr sz="1100"/>
          </a:p>
        </p:txBody>
      </p:sp>
      <p:sp>
        <p:nvSpPr>
          <p:cNvPr id="735" name="Google Shape;735;p19"/>
          <p:cNvSpPr/>
          <p:nvPr/>
        </p:nvSpPr>
        <p:spPr>
          <a:xfrm>
            <a:off x="10696575" y="5095950"/>
            <a:ext cx="611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66172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sz="1100"/>
          </a:p>
        </p:txBody>
      </p:sp>
      <p:sp>
        <p:nvSpPr>
          <p:cNvPr id="736" name="Google Shape;736;p19"/>
          <p:cNvSpPr/>
          <p:nvPr/>
        </p:nvSpPr>
        <p:spPr>
          <a:xfrm>
            <a:off x="10696575" y="5324545"/>
            <a:ext cx="5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0.91</a:t>
            </a:r>
            <a:endParaRPr sz="1100"/>
          </a:p>
        </p:txBody>
      </p:sp>
      <p:sp>
        <p:nvSpPr>
          <p:cNvPr id="737" name="Google Shape;737;p19"/>
          <p:cNvSpPr/>
          <p:nvPr/>
        </p:nvSpPr>
        <p:spPr>
          <a:xfrm>
            <a:off x="8077200" y="5543620"/>
            <a:ext cx="3143400" cy="96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CFCB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738" name="Google Shape;738;p19"/>
          <p:cNvPicPr preferRelativeResize="0"/>
          <p:nvPr/>
        </p:nvPicPr>
        <p:blipFill rotWithShape="1">
          <a:blip r:embed="rId3">
            <a:alphaModFix/>
          </a:blip>
          <a:srcRect b="1778" l="24733" r="23512" t="6090"/>
          <a:stretch/>
        </p:blipFill>
        <p:spPr>
          <a:xfrm>
            <a:off x="647775" y="2474185"/>
            <a:ext cx="3143098" cy="2229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19"/>
          <p:cNvPicPr preferRelativeResize="0"/>
          <p:nvPr/>
        </p:nvPicPr>
        <p:blipFill rotWithShape="1">
          <a:blip r:embed="rId4">
            <a:alphaModFix/>
          </a:blip>
          <a:srcRect b="0" l="24522" r="24240" t="5482"/>
          <a:stretch/>
        </p:blipFill>
        <p:spPr>
          <a:xfrm>
            <a:off x="4312050" y="2442192"/>
            <a:ext cx="2958300" cy="222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19"/>
          <p:cNvPicPr preferRelativeResize="0"/>
          <p:nvPr/>
        </p:nvPicPr>
        <p:blipFill rotWithShape="1">
          <a:blip r:embed="rId5">
            <a:alphaModFix/>
          </a:blip>
          <a:srcRect b="0" l="24140" r="23517" t="6174"/>
          <a:stretch/>
        </p:blipFill>
        <p:spPr>
          <a:xfrm>
            <a:off x="8077200" y="2459491"/>
            <a:ext cx="2958301" cy="219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0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DISCUSSION OF LIMITATIONS AND OBSERVATIONS</a:t>
            </a:r>
            <a:endParaRPr/>
          </a:p>
        </p:txBody>
      </p:sp>
      <p:sp>
        <p:nvSpPr>
          <p:cNvPr id="747" name="Google Shape;747;p20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Remaining 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errors</a:t>
            </a: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 come from ambiguous classes</a:t>
            </a:r>
            <a:endParaRPr b="1" sz="2550">
              <a:solidFill>
                <a:srgbClr val="15192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9" name="Google Shape;749;p20"/>
          <p:cNvPicPr preferRelativeResize="0"/>
          <p:nvPr/>
        </p:nvPicPr>
        <p:blipFill rotWithShape="1">
          <a:blip r:embed="rId3">
            <a:alphaModFix/>
          </a:blip>
          <a:srcRect b="11894" l="0" r="49089" t="0"/>
          <a:stretch/>
        </p:blipFill>
        <p:spPr>
          <a:xfrm>
            <a:off x="976100" y="2060601"/>
            <a:ext cx="2946252" cy="254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20"/>
          <p:cNvPicPr preferRelativeResize="0"/>
          <p:nvPr/>
        </p:nvPicPr>
        <p:blipFill rotWithShape="1">
          <a:blip r:embed="rId4">
            <a:alphaModFix/>
          </a:blip>
          <a:srcRect b="10539" l="0" r="50217" t="0"/>
          <a:stretch/>
        </p:blipFill>
        <p:spPr>
          <a:xfrm>
            <a:off x="4510375" y="2060601"/>
            <a:ext cx="2837456" cy="254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20"/>
          <p:cNvPicPr preferRelativeResize="0"/>
          <p:nvPr/>
        </p:nvPicPr>
        <p:blipFill rotWithShape="1">
          <a:blip r:embed="rId5">
            <a:alphaModFix/>
          </a:blip>
          <a:srcRect b="10579" l="0" r="50115" t="0"/>
          <a:stretch/>
        </p:blipFill>
        <p:spPr>
          <a:xfrm>
            <a:off x="7935850" y="2111403"/>
            <a:ext cx="2837449" cy="2536298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0"/>
          <p:cNvSpPr/>
          <p:nvPr/>
        </p:nvSpPr>
        <p:spPr>
          <a:xfrm>
            <a:off x="1174977" y="1771271"/>
            <a:ext cx="25485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4">
                <a:solidFill>
                  <a:srgbClr val="A5622C"/>
                </a:solidFill>
                <a:latin typeface="Arial"/>
                <a:ea typeface="Arial"/>
                <a:cs typeface="Arial"/>
                <a:sym typeface="Arial"/>
              </a:rPr>
              <a:t>Custom CNN</a:t>
            </a:r>
            <a:endParaRPr sz="2497"/>
          </a:p>
        </p:txBody>
      </p:sp>
      <p:sp>
        <p:nvSpPr>
          <p:cNvPr id="753" name="Google Shape;753;p20"/>
          <p:cNvSpPr/>
          <p:nvPr/>
        </p:nvSpPr>
        <p:spPr>
          <a:xfrm>
            <a:off x="4870505" y="1797049"/>
            <a:ext cx="2451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0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sz="2401"/>
          </a:p>
        </p:txBody>
      </p:sp>
      <p:sp>
        <p:nvSpPr>
          <p:cNvPr id="754" name="Google Shape;754;p20"/>
          <p:cNvSpPr/>
          <p:nvPr/>
        </p:nvSpPr>
        <p:spPr>
          <a:xfrm>
            <a:off x="8080182" y="1824046"/>
            <a:ext cx="2548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4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EfficientNet-B</a:t>
            </a:r>
            <a:r>
              <a:rPr b="1" lang="en-US" sz="1694">
                <a:solidFill>
                  <a:srgbClr val="257B72"/>
                </a:solidFill>
              </a:rPr>
              <a:t>0</a:t>
            </a:r>
            <a:endParaRPr sz="2497"/>
          </a:p>
        </p:txBody>
      </p:sp>
      <p:sp>
        <p:nvSpPr>
          <p:cNvPr id="755" name="Google Shape;755;p20"/>
          <p:cNvSpPr txBox="1"/>
          <p:nvPr/>
        </p:nvSpPr>
        <p:spPr>
          <a:xfrm>
            <a:off x="647700" y="4734375"/>
            <a:ext cx="54342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Weak classes drive the main limitations</a:t>
            </a:r>
            <a:endParaRPr sz="1650"/>
          </a:p>
          <a:p>
            <a:pPr indent="-333375" lvl="0" marL="457200" rtl="0" algn="l">
              <a:spcBef>
                <a:spcPts val="1000"/>
              </a:spcBef>
              <a:spcAft>
                <a:spcPts val="1000"/>
              </a:spcAft>
              <a:buSzPts val="1650"/>
              <a:buChar char="➔"/>
            </a:pPr>
            <a:r>
              <a:rPr lang="en-US" sz="1650"/>
              <a:t>Minor classes issue are mitigated through our strategies like class weights or weighted sampler</a:t>
            </a:r>
            <a:endParaRPr sz="1650"/>
          </a:p>
        </p:txBody>
      </p:sp>
      <p:sp>
        <p:nvSpPr>
          <p:cNvPr id="756" name="Google Shape;756;p20"/>
          <p:cNvSpPr txBox="1"/>
          <p:nvPr/>
        </p:nvSpPr>
        <p:spPr>
          <a:xfrm>
            <a:off x="6081900" y="4734375"/>
            <a:ext cx="4691400" cy="19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Some classes like fear, angry which are not minor classes, but still low true prediction rate, which could be caused by the dataset itself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Loss curves show overfitting in pretrained models</a:t>
            </a:r>
            <a:endParaRPr sz="16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4095462f90a_0_32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DISCUSSION OF LIMITATIONS AND OBSERVATIONS</a:t>
            </a:r>
            <a:endParaRPr/>
          </a:p>
        </p:txBody>
      </p:sp>
      <p:sp>
        <p:nvSpPr>
          <p:cNvPr id="763" name="Google Shape;763;g4095462f90a_0_32"/>
          <p:cNvSpPr/>
          <p:nvPr/>
        </p:nvSpPr>
        <p:spPr>
          <a:xfrm>
            <a:off x="647700" y="72390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What we can extract from our results</a:t>
            </a:r>
            <a:endParaRPr b="1" sz="2550">
              <a:solidFill>
                <a:srgbClr val="15192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4" name="Google Shape;764;g4095462f90a_0_32"/>
          <p:cNvSpPr/>
          <p:nvPr/>
        </p:nvSpPr>
        <p:spPr>
          <a:xfrm>
            <a:off x="647700" y="1657350"/>
            <a:ext cx="9906000" cy="14400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4095462f90a_0_32"/>
          <p:cNvSpPr txBox="1"/>
          <p:nvPr/>
        </p:nvSpPr>
        <p:spPr>
          <a:xfrm>
            <a:off x="647700" y="2156050"/>
            <a:ext cx="9260400" cy="3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Weak classes drive the main limitations</a:t>
            </a:r>
            <a:endParaRPr sz="1650"/>
          </a:p>
          <a:p>
            <a:pPr indent="-333375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50"/>
              <a:buChar char="➔"/>
            </a:pPr>
            <a:r>
              <a:rPr lang="en-US" sz="1650"/>
              <a:t>Minor classes issues are mitigated through our strategies like class weights, weighted sampler…</a:t>
            </a:r>
            <a:endParaRPr sz="1650"/>
          </a:p>
          <a:p>
            <a:pPr indent="-333375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Some classes have low performance even though being more represented in the dataset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50"/>
              <a:buChar char="➔"/>
            </a:pPr>
            <a:r>
              <a:rPr lang="en-US" sz="1650">
                <a:solidFill>
                  <a:schemeClr val="dk1"/>
                </a:solidFill>
              </a:rPr>
              <a:t>The most confused emotions were repeated in the three models</a:t>
            </a:r>
            <a:endParaRPr sz="165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1"/>
          <p:cNvSpPr/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E5F99"/>
                </a:solidFill>
                <a:latin typeface="Arial"/>
                <a:ea typeface="Arial"/>
                <a:cs typeface="Arial"/>
                <a:sym typeface="Arial"/>
              </a:rPr>
              <a:t>CONCLUSIONS AND FUTURE WORK</a:t>
            </a:r>
            <a:endParaRPr/>
          </a:p>
        </p:txBody>
      </p:sp>
      <p:sp>
        <p:nvSpPr>
          <p:cNvPr id="772" name="Google Shape;772;p21"/>
          <p:cNvSpPr/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1922"/>
                </a:solidFill>
                <a:latin typeface="Play"/>
                <a:ea typeface="Play"/>
                <a:cs typeface="Play"/>
                <a:sym typeface="Play"/>
              </a:rPr>
              <a:t>The project improves balanced FER2013 recognition while showing where it still fails.</a:t>
            </a:r>
            <a:endParaRPr/>
          </a:p>
        </p:txBody>
      </p:sp>
      <p:sp>
        <p:nvSpPr>
          <p:cNvPr id="773" name="Google Shape;773;p21"/>
          <p:cNvSpPr/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03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5F99"/>
                </a:solidFill>
              </a:rPr>
              <a:t>CONCLUSIONS</a:t>
            </a:r>
            <a:endParaRPr b="1">
              <a:solidFill>
                <a:srgbClr val="1E5F99"/>
              </a:solidFill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800100" y="2381250"/>
            <a:ext cx="4256100" cy="144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1"/>
          <p:cNvSpPr/>
          <p:nvPr/>
        </p:nvSpPr>
        <p:spPr>
          <a:xfrm>
            <a:off x="1104900" y="2686050"/>
            <a:ext cx="4490400" cy="1055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Transfer learning provides moderate improvements over the custom CNN baseline, even though they were trained for different tasks</a:t>
            </a:r>
            <a:endParaRPr/>
          </a:p>
        </p:txBody>
      </p:sp>
      <p:sp>
        <p:nvSpPr>
          <p:cNvPr id="778" name="Google Shape;778;p21"/>
          <p:cNvSpPr/>
          <p:nvPr/>
        </p:nvSpPr>
        <p:spPr>
          <a:xfrm>
            <a:off x="857250" y="3751698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857250" y="4288608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1"/>
          <p:cNvSpPr/>
          <p:nvPr/>
        </p:nvSpPr>
        <p:spPr>
          <a:xfrm>
            <a:off x="1104900" y="4193359"/>
            <a:ext cx="44199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51922"/>
                </a:solidFill>
                <a:latin typeface="Arial"/>
                <a:ea typeface="Arial"/>
                <a:cs typeface="Arial"/>
                <a:sym typeface="Arial"/>
              </a:rPr>
              <a:t>Per-class analysis is essential because weak classes remain hidden in aggregate scores</a:t>
            </a:r>
            <a:endParaRPr/>
          </a:p>
        </p:txBody>
      </p:sp>
      <p:sp>
        <p:nvSpPr>
          <p:cNvPr id="781" name="Google Shape;781;p21"/>
          <p:cNvSpPr/>
          <p:nvPr/>
        </p:nvSpPr>
        <p:spPr>
          <a:xfrm>
            <a:off x="64770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57B72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sp>
        <p:nvSpPr>
          <p:cNvPr id="782" name="Google Shape;782;p21"/>
          <p:cNvSpPr/>
          <p:nvPr/>
        </p:nvSpPr>
        <p:spPr>
          <a:xfrm>
            <a:off x="6477000" y="2381250"/>
            <a:ext cx="3429000" cy="14288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1"/>
          <p:cNvSpPr/>
          <p:nvPr/>
        </p:nvSpPr>
        <p:spPr>
          <a:xfrm>
            <a:off x="6477000" y="3206660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1"/>
          <p:cNvSpPr/>
          <p:nvPr/>
        </p:nvSpPr>
        <p:spPr>
          <a:xfrm>
            <a:off x="6724650" y="3111410"/>
            <a:ext cx="4229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Clean noisy labels and use soft labels for ambiguous samples</a:t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>
            <a:off x="6477008" y="3853060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6724658" y="3757810"/>
            <a:ext cx="4229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Extend external validation beyond CK+ and test stronger or </a:t>
            </a:r>
            <a:r>
              <a:rPr lang="en-US" sz="1650">
                <a:solidFill>
                  <a:srgbClr val="151922"/>
                </a:solidFill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ensemble </a:t>
            </a:r>
            <a:r>
              <a:rPr lang="en-US" sz="1650">
                <a:solidFill>
                  <a:srgbClr val="151922"/>
                </a:solidFill>
              </a:rPr>
              <a:t>backbones</a:t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>
            <a:off x="6482875" y="2802410"/>
            <a:ext cx="66600" cy="66600"/>
          </a:xfrm>
          <a:prstGeom prst="rect">
            <a:avLst/>
          </a:prstGeom>
          <a:solidFill>
            <a:srgbClr val="257B7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1"/>
          <p:cNvSpPr/>
          <p:nvPr/>
        </p:nvSpPr>
        <p:spPr>
          <a:xfrm>
            <a:off x="6730525" y="2707160"/>
            <a:ext cx="42291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Establish human performance baseline</a:t>
            </a:r>
            <a:endParaRPr/>
          </a:p>
        </p:txBody>
      </p:sp>
      <p:sp>
        <p:nvSpPr>
          <p:cNvPr id="789" name="Google Shape;789;p21"/>
          <p:cNvSpPr txBox="1"/>
          <p:nvPr/>
        </p:nvSpPr>
        <p:spPr>
          <a:xfrm>
            <a:off x="1104900" y="3593348"/>
            <a:ext cx="4401300" cy="53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650">
                <a:solidFill>
                  <a:srgbClr val="151922"/>
                </a:solidFill>
              </a:rPr>
              <a:t>Not all emotions are equally distinguishable</a:t>
            </a:r>
            <a:endParaRPr sz="1650">
              <a:solidFill>
                <a:srgbClr val="151922"/>
              </a:solidFill>
            </a:endParaRPr>
          </a:p>
        </p:txBody>
      </p:sp>
      <p:sp>
        <p:nvSpPr>
          <p:cNvPr id="790" name="Google Shape;790;p21"/>
          <p:cNvSpPr/>
          <p:nvPr/>
        </p:nvSpPr>
        <p:spPr>
          <a:xfrm>
            <a:off x="857250" y="5048624"/>
            <a:ext cx="66600" cy="66600"/>
          </a:xfrm>
          <a:prstGeom prst="rect">
            <a:avLst/>
          </a:prstGeom>
          <a:solidFill>
            <a:srgbClr val="1E5F9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1"/>
          <p:cNvSpPr/>
          <p:nvPr/>
        </p:nvSpPr>
        <p:spPr>
          <a:xfrm>
            <a:off x="1104900" y="4953374"/>
            <a:ext cx="4419900" cy="53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1922"/>
                </a:solidFill>
              </a:rPr>
              <a:t>Testing on external datasets can help to find issues in our models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4095462f90a_0_21"/>
          <p:cNvSpPr/>
          <p:nvPr/>
        </p:nvSpPr>
        <p:spPr>
          <a:xfrm>
            <a:off x="952500" y="2760275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1E5F99"/>
                </a:solidFill>
                <a:latin typeface="Play"/>
                <a:ea typeface="Play"/>
                <a:cs typeface="Play"/>
                <a:sym typeface="Play"/>
              </a:rPr>
              <a:t>Thank you for your attention!</a:t>
            </a:r>
            <a:endParaRPr sz="4250">
              <a:solidFill>
                <a:srgbClr val="1E5F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2026-05-31T07:58:58Z</dcterms:created>
  <dc:creator>Walnut Exporter</dc:creator>
</cp:coreProperties>
</file>