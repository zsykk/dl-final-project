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14386fdeb0468e" /><Relationship Type="http://schemas.openxmlformats.org/officeDocument/2006/relationships/extended-properties" Target="/docProps/app.xml" Id="Rb010f83bce934c00" /><Relationship Type="http://schemas.openxmlformats.org/officeDocument/2006/relationships/officeDocument" Target="/ppt/presentation.xml" Id="R6874ecabd49949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8b5cc4b00466d"/>
  </p:sldMasterIdLst>
  <p:notesMasterIdLst>
    <p:notesMasterId xmlns:r="http://schemas.openxmlformats.org/officeDocument/2006/relationships" r:id="R397809b4e1c847fd"/>
  </p:notesMasterIdLst>
  <p:sldIdLst>
    <p:sldId xmlns:r="http://schemas.openxmlformats.org/officeDocument/2006/relationships" id="256" r:id="Rcf7a292909ea477f"/>
    <p:sldId xmlns:r="http://schemas.openxmlformats.org/officeDocument/2006/relationships" id="257" r:id="Rb79c4f884cf446c7"/>
    <p:sldId xmlns:r="http://schemas.openxmlformats.org/officeDocument/2006/relationships" id="258" r:id="Rb68c776edbe54455"/>
    <p:sldId xmlns:r="http://schemas.openxmlformats.org/officeDocument/2006/relationships" id="259" r:id="R073886f0dee34da5"/>
    <p:sldId xmlns:r="http://schemas.openxmlformats.org/officeDocument/2006/relationships" id="260" r:id="Rcce75d9602804291"/>
    <p:sldId xmlns:r="http://schemas.openxmlformats.org/officeDocument/2006/relationships" id="261" r:id="R0446508959714592"/>
    <p:sldId xmlns:r="http://schemas.openxmlformats.org/officeDocument/2006/relationships" id="262" r:id="Re82a8bfe842c4021"/>
    <p:sldId xmlns:r="http://schemas.openxmlformats.org/officeDocument/2006/relationships" id="263" r:id="R594513a5513e4b03"/>
    <p:sldId xmlns:r="http://schemas.openxmlformats.org/officeDocument/2006/relationships" id="264" r:id="Rf776ba89fefb4e6e"/>
    <p:sldId xmlns:r="http://schemas.openxmlformats.org/officeDocument/2006/relationships" id="265" r:id="R82e764c27c6f4cf5"/>
    <p:sldId xmlns:r="http://schemas.openxmlformats.org/officeDocument/2006/relationships" id="266" r:id="Rdd6d247ca2b7490a"/>
    <p:sldId xmlns:r="http://schemas.openxmlformats.org/officeDocument/2006/relationships" id="267" r:id="R76e7914162164658"/>
    <p:sldId xmlns:r="http://schemas.openxmlformats.org/officeDocument/2006/relationships" id="268" r:id="Rdea3cb6127f74985"/>
    <p:sldId xmlns:r="http://schemas.openxmlformats.org/officeDocument/2006/relationships" id="269" r:id="R4bafe13db6f34859"/>
    <p:sldId xmlns:r="http://schemas.openxmlformats.org/officeDocument/2006/relationships" id="270" r:id="Re74d55b15c104aa3"/>
    <p:sldId xmlns:r="http://schemas.openxmlformats.org/officeDocument/2006/relationships" id="271" r:id="R295844647b5842a5"/>
    <p:sldId xmlns:r="http://schemas.openxmlformats.org/officeDocument/2006/relationships" id="272" r:id="Rae82704ec79042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8b5cc4b00466d" /><Relationship Type="http://schemas.openxmlformats.org/officeDocument/2006/relationships/theme" Target="/ppt/theme/theme1.xml" Id="R329b83edd8624790" /><Relationship Type="http://schemas.openxmlformats.org/officeDocument/2006/relationships/notesMaster" Target="/ppt/notesMasters/notesMaster1.xml" Id="R397809b4e1c847fd" /><Relationship Type="http://schemas.openxmlformats.org/officeDocument/2006/relationships/presProps" Target="/ppt/presProps.xml" Id="Reab25ee442b94d44" /><Relationship Type="http://schemas.openxmlformats.org/officeDocument/2006/relationships/viewProps" Target="/ppt/viewProps.xml" Id="R2e63f58eca5c44d5" /><Relationship Type="http://schemas.openxmlformats.org/officeDocument/2006/relationships/tableStyles" Target="/ppt/tableStyles.xml" Id="Rfd0f311db30e44d0" /><Relationship Type="http://schemas.openxmlformats.org/officeDocument/2006/relationships/slide" Target="/ppt/slides/slide1.xml" Id="Rcf7a292909ea477f" /><Relationship Type="http://schemas.openxmlformats.org/officeDocument/2006/relationships/slide" Target="/ppt/slides/slide2.xml" Id="Rb79c4f884cf446c7" /><Relationship Type="http://schemas.openxmlformats.org/officeDocument/2006/relationships/slide" Target="/ppt/slides/slide3.xml" Id="Rb68c776edbe54455" /><Relationship Type="http://schemas.openxmlformats.org/officeDocument/2006/relationships/slide" Target="/ppt/slides/slide4.xml" Id="R073886f0dee34da5" /><Relationship Type="http://schemas.openxmlformats.org/officeDocument/2006/relationships/slide" Target="/ppt/slides/slide5.xml" Id="Rcce75d9602804291" /><Relationship Type="http://schemas.openxmlformats.org/officeDocument/2006/relationships/slide" Target="/ppt/slides/slide6.xml" Id="R0446508959714592" /><Relationship Type="http://schemas.openxmlformats.org/officeDocument/2006/relationships/slide" Target="/ppt/slides/slide7.xml" Id="Re82a8bfe842c4021" /><Relationship Type="http://schemas.openxmlformats.org/officeDocument/2006/relationships/slide" Target="/ppt/slides/slide8.xml" Id="R594513a5513e4b03" /><Relationship Type="http://schemas.openxmlformats.org/officeDocument/2006/relationships/slide" Target="/ppt/slides/slide9.xml" Id="Rf776ba89fefb4e6e" /><Relationship Type="http://schemas.openxmlformats.org/officeDocument/2006/relationships/slide" Target="/ppt/slides/slide10.xml" Id="R82e764c27c6f4cf5" /><Relationship Type="http://schemas.openxmlformats.org/officeDocument/2006/relationships/slide" Target="/ppt/slides/slide11.xml" Id="Rdd6d247ca2b7490a" /><Relationship Type="http://schemas.openxmlformats.org/officeDocument/2006/relationships/slide" Target="/ppt/slides/slide12.xml" Id="R76e7914162164658" /><Relationship Type="http://schemas.openxmlformats.org/officeDocument/2006/relationships/slide" Target="/ppt/slides/slide13.xml" Id="Rdea3cb6127f74985" /><Relationship Type="http://schemas.openxmlformats.org/officeDocument/2006/relationships/slide" Target="/ppt/slides/slide14.xml" Id="R4bafe13db6f34859" /><Relationship Type="http://schemas.openxmlformats.org/officeDocument/2006/relationships/slide" Target="/ppt/slides/slide15.xml" Id="Re74d55b15c104aa3" /><Relationship Type="http://schemas.openxmlformats.org/officeDocument/2006/relationships/slide" Target="/ppt/slides/slide16.xml" Id="R295844647b5842a5" /><Relationship Type="http://schemas.openxmlformats.org/officeDocument/2006/relationships/slide" Target="/ppt/slides/slide17.xml" Id="Rae82704ec790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a62ef384a70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048f467c74478" /><Relationship Type="http://schemas.openxmlformats.org/officeDocument/2006/relationships/notesMaster" Target="/ppt/notesMasters/notesMaster1.xml" Id="Rc2fa884cd4c6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425dc1de1d4012" /><Relationship Type="http://schemas.openxmlformats.org/officeDocument/2006/relationships/notesMaster" Target="/ppt/notesMasters/notesMaster1.xml" Id="Rf1f6202fc9a246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4489c657646d4" /><Relationship Type="http://schemas.openxmlformats.org/officeDocument/2006/relationships/notesMaster" Target="/ppt/notesMasters/notesMaster1.xml" Id="R2ad0d603be24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582cd357064393" /><Relationship Type="http://schemas.openxmlformats.org/officeDocument/2006/relationships/notesMaster" Target="/ppt/notesMasters/notesMaster1.xml" Id="R00810871ad97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54c96834f48a8" /><Relationship Type="http://schemas.openxmlformats.org/officeDocument/2006/relationships/notesMaster" Target="/ppt/notesMasters/notesMaster1.xml" Id="R89c60aedfbb6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978a5ffee44369" /><Relationship Type="http://schemas.openxmlformats.org/officeDocument/2006/relationships/notesMaster" Target="/ppt/notesMasters/notesMaster1.xml" Id="R967f05d61766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92088d512243bf" /><Relationship Type="http://schemas.openxmlformats.org/officeDocument/2006/relationships/notesMaster" Target="/ppt/notesMasters/notesMaster1.xml" Id="R041b85eff9e84e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64107ab5944d00" /><Relationship Type="http://schemas.openxmlformats.org/officeDocument/2006/relationships/notesMaster" Target="/ppt/notesMasters/notesMaster1.xml" Id="R9db4bed671704b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860c8ed9764558" /><Relationship Type="http://schemas.openxmlformats.org/officeDocument/2006/relationships/notesMaster" Target="/ppt/notesMasters/notesMaster1.xml" Id="Rf7f500b134a444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66484c61ab4d4d" /><Relationship Type="http://schemas.openxmlformats.org/officeDocument/2006/relationships/notesMaster" Target="/ppt/notesMasters/notesMaster1.xml" Id="Rf88ba8ea846c44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6e529a9c4b429c" /><Relationship Type="http://schemas.openxmlformats.org/officeDocument/2006/relationships/notesMaster" Target="/ppt/notesMasters/notesMaster1.xml" Id="Rcf56fc12676549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bec5ca68d64304" /><Relationship Type="http://schemas.openxmlformats.org/officeDocument/2006/relationships/notesMaster" Target="/ppt/notesMasters/notesMaster1.xml" Id="Rf69c5e8f34f541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846166d2ab45d8" /><Relationship Type="http://schemas.openxmlformats.org/officeDocument/2006/relationships/notesMaster" Target="/ppt/notesMasters/notesMaster1.xml" Id="Rc74136f64c1d4b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4f553e88cd4bbb" /><Relationship Type="http://schemas.openxmlformats.org/officeDocument/2006/relationships/notesMaster" Target="/ppt/notesMasters/notesMaster1.xml" Id="Rcecd01bb9bf241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9c080d76bb43a4" /><Relationship Type="http://schemas.openxmlformats.org/officeDocument/2006/relationships/notesMaster" Target="/ppt/notesMasters/notesMaster1.xml" Id="Refab5bbf277840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23203d2c094cf8" /><Relationship Type="http://schemas.openxmlformats.org/officeDocument/2006/relationships/notesMaster" Target="/ppt/notesMasters/notesMaster1.xml" Id="R5ada9865c0ba46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8500025c374a11" /><Relationship Type="http://schemas.openxmlformats.org/officeDocument/2006/relationships/notesMaster" Target="/ppt/notesMasters/notesMaster1.xml" Id="R9a26bbdbb3a044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593d929144e9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9ecae4c5bd24ee4" /><Relationship Type="http://schemas.openxmlformats.org/officeDocument/2006/relationships/slideLayout" Target="/ppt/slideLayouts/slideLayout2.xml" Id="R1b17c2ffc0054d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7c2ffc005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9ce3403cb4e3a" /><Relationship Type="http://schemas.openxmlformats.org/officeDocument/2006/relationships/notesSlide" Target="/ppt/notesSlides/notesSlide1.xml" Id="R95462406173d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a5d4d4cfd4e1e" /><Relationship Type="http://schemas.openxmlformats.org/officeDocument/2006/relationships/notesSlide" Target="/ppt/notesSlides/notesSlide2.xml" Id="R949bbff2d01544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5bc74a7ce0460f" /><Relationship Type="http://schemas.openxmlformats.org/officeDocument/2006/relationships/notesSlide" Target="/ppt/notesSlides/notesSlide3.xml" Id="Rea6f4553b4e945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ac16c312a484c" /><Relationship Type="http://schemas.openxmlformats.org/officeDocument/2006/relationships/notesSlide" Target="/ppt/notesSlides/notesSlide4.xml" Id="R321acadfd72145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46071e1c24adc" /><Relationship Type="http://schemas.openxmlformats.org/officeDocument/2006/relationships/image" Target="/ppt/media/image.png" Id="Reac6c252d7bd4675" /><Relationship Type="http://schemas.openxmlformats.org/officeDocument/2006/relationships/image" Target="/ppt/media/image2.png" Id="R445bed1c7d59413b" /><Relationship Type="http://schemas.openxmlformats.org/officeDocument/2006/relationships/notesSlide" Target="/ppt/notesSlides/notesSlide5.xml" Id="Reece653c598d41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244060f344b5e" /><Relationship Type="http://schemas.openxmlformats.org/officeDocument/2006/relationships/image" Target="/ppt/media/image3.png" Id="Rfd86a42f38284a7c" /><Relationship Type="http://schemas.openxmlformats.org/officeDocument/2006/relationships/image" Target="/ppt/media/image4.png" Id="R7e4aa61fe423471a" /><Relationship Type="http://schemas.openxmlformats.org/officeDocument/2006/relationships/image" Target="/ppt/media/image5.png" Id="Rfb42b606e041422c" /><Relationship Type="http://schemas.openxmlformats.org/officeDocument/2006/relationships/notesSlide" Target="/ppt/notesSlides/notesSlide6.xml" Id="Rcdb9c90e18d3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69cad0f774272" /><Relationship Type="http://schemas.openxmlformats.org/officeDocument/2006/relationships/notesSlide" Target="/ppt/notesSlides/notesSlide7.xml" Id="Reca25e4d0efb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bd0775d294bb8" /><Relationship Type="http://schemas.openxmlformats.org/officeDocument/2006/relationships/notesSlide" Target="/ppt/notesSlides/notesSlide8.xml" Id="Rbb0eb531297843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81a6f36034eb0" /><Relationship Type="http://schemas.openxmlformats.org/officeDocument/2006/relationships/notesSlide" Target="/ppt/notesSlides/notesSlide9.xml" Id="Rd7300d90d48345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ab4461370648ad" /><Relationship Type="http://schemas.openxmlformats.org/officeDocument/2006/relationships/notesSlide" Target="/ppt/notesSlides/notesSlide10.xml" Id="R7528c0658d2447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578a8c38a34ced" /><Relationship Type="http://schemas.openxmlformats.org/officeDocument/2006/relationships/notesSlide" Target="/ppt/notesSlides/notesSlide11.xml" Id="R9d44095f3a0a4f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1b0bef5af843b5" /><Relationship Type="http://schemas.openxmlformats.org/officeDocument/2006/relationships/notesSlide" Target="/ppt/notesSlides/notesSlide12.xml" Id="R7274f7f9d8414f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8f5fd1647e42b5" /><Relationship Type="http://schemas.openxmlformats.org/officeDocument/2006/relationships/image" Target="/ppt/media/image6.png" Id="R076c44be6072493b" /><Relationship Type="http://schemas.openxmlformats.org/officeDocument/2006/relationships/image" Target="/ppt/media/image7.png" Id="R287d6e15cf674c19" /><Relationship Type="http://schemas.openxmlformats.org/officeDocument/2006/relationships/notesSlide" Target="/ppt/notesSlides/notesSlide13.xml" Id="R9c4cfa2c1f7341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3925e0c1de442d" /><Relationship Type="http://schemas.openxmlformats.org/officeDocument/2006/relationships/notesSlide" Target="/ppt/notesSlides/notesSlide14.xml" Id="Rbac7eacd5faa4b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ac7b9391554385" /><Relationship Type="http://schemas.openxmlformats.org/officeDocument/2006/relationships/image" Target="/ppt/media/image8.png" Id="Rbe3d23793d8f483d" /><Relationship Type="http://schemas.openxmlformats.org/officeDocument/2006/relationships/notesSlide" Target="/ppt/notesSlides/notesSlide15.xml" Id="R047c5ba909b54b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da9b72eb947a5" /><Relationship Type="http://schemas.openxmlformats.org/officeDocument/2006/relationships/image" Target="/ppt/media/image9.png" Id="R45e1370c14814397" /><Relationship Type="http://schemas.openxmlformats.org/officeDocument/2006/relationships/notesSlide" Target="/ppt/notesSlides/notesSlide16.xml" Id="Rbd660ac0b49b4e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3274f08a94782" /><Relationship Type="http://schemas.openxmlformats.org/officeDocument/2006/relationships/notesSlide" Target="/ppt/notesSlides/notesSlide17.xml" Id="R8ba7406d9e994a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79CD7B-0344-4F5F-BA92-3249A27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31355-384C-4BC5-B369-CBCDF652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01805-5135-4E19-ADB1-606036FA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Controlled CNN baselines, transfer learning, and CK+ external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7664E-762F-42B3-B2EC-EDDA1AE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A45D6-46E9-47B7-9EBD-8C3F0637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2D819-A6BD-430C-A8CA-A505E3A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7 emotions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0FE89-B309-4F92-A86E-731475DA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48x48 grayscale FER2013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A0200-086D-4F77-B7AE-3B45219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2D370-4476-4E10-ADFD-0B7BABA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2B39F-53DB-4017-AB59-243C82FD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balanced evaluation under class imbalance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8F4BB-A8F9-4A08-BB72-10C57365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779EF-927F-4038-B279-A02B1B7E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3D269-DD2E-4422-B20B-7D706B8F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05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zero-shot transfer beyond FER2013</a:t>
            </a:r>
          </a:p>
        </p:txBody>
      </p:sp>
    </p:spTree>
    <p:extLst>
      <p:ext uri="{BB962C8B-B14F-4D97-AF65-F5344CB8AC3E}">
        <p14:creationId xmlns:p14="http://schemas.microsoft.com/office/powerpoint/2010/main" val="1838035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95176-07C2-4A98-9698-F55A9E1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38552-25A1-4432-942D-397828A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PRESENTATION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547E7-D87E-43CF-951F-355C7E84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The required scientific structure is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F0C75-86C5-4A93-BA14-A10D57A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5E91D-A998-47F5-A635-6A2F103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E0FF2-D46D-462B-BD5F-7803AB4F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76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9953A-42F5-42B6-B0C8-6BA9BCCE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59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31F6A-F957-4BD6-9C84-7309DF36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59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F5EFE-AAB1-4F4A-A32B-0B9C851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2095500"/>
            <a:ext cx="276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B8795-67A5-4759-BA6B-F52E895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2457450"/>
            <a:ext cx="259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1B0D4-0106-4CF7-B06B-ECF98063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2647950"/>
            <a:ext cx="259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Controlled experiment design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Implemented models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Baseline progression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Transfer-learning configurations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FB4FF-E004-420F-856E-0231950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50" y="2095500"/>
            <a:ext cx="276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D0D4A-06A9-446A-B15C-1170A931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50" y="2457450"/>
            <a:ext cx="259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B4A35-BA72-4611-B282-971E146B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50" y="2647950"/>
            <a:ext cx="259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Results and analysis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Comparison against baselines / SOTA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Limitations and observations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9392275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C0723-CD8F-4CBB-B0FF-40B148D5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1292B-AB4A-41F4-958A-E97B30D0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C289-F405-4756-B631-0F812A3F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The task is useful, but subtle expression boundaries make evaluation hard.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3EFFB-6993-4C94-B61C-6144E263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CDE49-0DA8-48F5-BF67-25B7B91C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E2367-2217-492E-AF4E-49C8D2D2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79CFF-FBE9-4146-9578-3D7CEB83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Facial expression recognition supports affective computing and human-computer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F45A-9BAB-4D0E-89EB-688EF4F0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1951B-8CC9-4AA2-8285-099C8B51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Expressions vary by identity, pose, lighting, intensity, and annotation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842F7-90DC-492E-B2AE-72F20851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468E9-0409-4477-844B-AFB78D45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FER2013 is difficult: low-resolution grayscale crops and visually ambiguous labels.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96F1F-1D3F-4591-A6C6-7387BF86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92C56-58B3-4E39-891B-84225DD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The project focuses on balanced recognition, not only the easiest or largest classes.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F0CAC-FD31-48CB-ACCA-CEB9045C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MAIN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54420-B48C-4BE3-B9D8-DB6B11ED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What generalizes?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4515C-5DC2-4B3F-A6B9-CD1031A8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custom CNNs vs pretrained CNNs under controlled evaluation</a:t>
            </a:r>
          </a:p>
        </p:txBody>
      </p:sp>
    </p:spTree>
    <p:extLst>
      <p:ext uri="{BB962C8B-B14F-4D97-AF65-F5344CB8AC3E}">
        <p14:creationId xmlns:p14="http://schemas.microsoft.com/office/powerpoint/2010/main" val="20179090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73C4A-854A-4F46-9F5C-3180E522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D48A4-492F-4788-8ED2-F124059E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BFBD5-EDED-4C80-B770-15B918B7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FER has moved from handcrafted features to pretrained and attention-based deep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6D6F0-1C46-44AD-9DC1-D41584A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59214-C798-4BB8-93EA-61F956F1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CABA8-FD43-4151-8E49-0E8CCC88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92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208D9-D5BC-4E70-9F8F-C316B294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75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47BE6-4ACB-4DD4-8B03-8724F665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755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Handcrafted descriptors with shallow classifiers. Useful historically, less robust to noisy images.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606CD-783B-466B-9D4D-E987E34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1866900"/>
            <a:ext cx="292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CNN / transfer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645B4-23D0-47EA-895E-F739651E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2228850"/>
            <a:ext cx="275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27601-758D-4173-9DDF-2412B25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50" y="2419350"/>
            <a:ext cx="2755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CNNs learn visual features directly. ResNet and EfficientNet are practical pretrained baselines.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A07F2-D07C-420B-B343-C67CEDE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1866900"/>
            <a:ext cx="292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Recent SOTA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B6BD1-8728-452D-90B6-A767EFB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2228850"/>
            <a:ext cx="275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A7F18-D246-45F2-A847-5BF0AB0F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300" y="2419350"/>
            <a:ext cx="2755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Often uses alignment, attention or transformers, ensembles, and larger curated training setups.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012D7-3BAF-45B5-8BFB-90700460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0121C-0777-49FF-B791-A952971B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This project does not claim state-of-the-art performance.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461B2-EDA4-4F32-9EC3-425787C4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9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C7F16-9CD6-487C-A4E4-CA50BD7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The fair comparison is between implemented baselines and transfer-learning configurations under the same protocol.</a:t>
            </a:r>
          </a:p>
        </p:txBody>
      </p:sp>
    </p:spTree>
    <p:extLst>
      <p:ext uri="{BB962C8B-B14F-4D97-AF65-F5344CB8AC3E}">
        <p14:creationId xmlns:p14="http://schemas.microsoft.com/office/powerpoint/2010/main" val="14191933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C9115-833D-409D-B384-FDE55B6D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FE6BE-C370-46D6-8292-A090CDF0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34F5A-DB6F-40F8-AEF6-4D9CB938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FER2013 is compact, imbalanced, and visually ambiguous.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54C76-92CE-40D1-8356-5FC12477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93343-80ED-4A94-84E3-DCF7A01E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6c252d7bd4675"/>
          <a:stretch xmlns:a="http://schemas.openxmlformats.org/drawingml/2006/main"/>
        </p:blipFill>
        <p:spPr>
          <a:xfrm xmlns:a="http://schemas.openxmlformats.org/drawingml/2006/main">
            <a:off x="1317885" y="1790700"/>
            <a:ext cx="1783830" cy="2428875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bed1c7d59413b"/>
          <a:stretch xmlns:a="http://schemas.openxmlformats.org/drawingml/2006/main"/>
        </p:blipFill>
        <p:spPr>
          <a:xfrm xmlns:a="http://schemas.openxmlformats.org/drawingml/2006/main">
            <a:off x="4114800" y="1856230"/>
            <a:ext cx="3714750" cy="229781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A8F28-EE8F-4778-BB9B-722C76C2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IMAGE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B905A-BA97-4966-988D-C6787B6C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48x48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BF465-8013-4890-8A97-6DDDF09B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grayscale face crops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7E2D3-FD06-4EDA-B140-21F7712E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2F537-25C1-48A0-B7AC-DED15DC5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3228C-9D60-4352-BB0F-4EB81123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smallest class; happy is largest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E602D-19A3-40FF-A4A6-D637B5F1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904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Consequence: macro F1 is the primary metric; weighted F1, per-class scores, and confusion matrices support the analysis.</a:t>
            </a:r>
          </a:p>
        </p:txBody>
      </p:sp>
    </p:spTree>
    <p:extLst>
      <p:ext uri="{BB962C8B-B14F-4D97-AF65-F5344CB8AC3E}">
        <p14:creationId xmlns:p14="http://schemas.microsoft.com/office/powerpoint/2010/main" val="9336059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9A944-77F2-43C2-B3FD-3411FB96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31A23-876A-416B-A744-9B0C94E6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A2355-94A7-43F5-963B-9D91F7E7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Preprocessing differs by model family; affect space helps interpret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A0D37-142C-4D27-92F6-C2B168B5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88D8B-8381-4FAF-9C93-7B07F6A8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6a42f38284a7c"/>
          <a:stretch xmlns:a="http://schemas.openxmlformats.org/drawingml/2006/main"/>
        </p:blipFill>
        <p:spPr>
          <a:xfrm xmlns:a="http://schemas.openxmlformats.org/drawingml/2006/main">
            <a:off x="685800" y="2537668"/>
            <a:ext cx="2857500" cy="668238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aa61fe423471a"/>
          <a:stretch xmlns:a="http://schemas.openxmlformats.org/drawingml/2006/main"/>
        </p:blipFill>
        <p:spPr>
          <a:xfrm xmlns:a="http://schemas.openxmlformats.org/drawingml/2006/main">
            <a:off x="4076700" y="2095859"/>
            <a:ext cx="3143250" cy="1551856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2b606e041422c"/>
          <a:stretch xmlns:a="http://schemas.openxmlformats.org/drawingml/2006/main"/>
        </p:blipFill>
        <p:spPr>
          <a:xfrm xmlns:a="http://schemas.openxmlformats.org/drawingml/2006/main">
            <a:off x="7907637" y="1847850"/>
            <a:ext cx="2434625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60FDF-340C-4DC0-B122-1BC197E8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Baseline CNNs: 48x48 grayscale with augmentation.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35E8D-98A2-48EF-A3F7-21974279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Pretrained CNNs: resized 224x224, three channels, ImageNet normalization.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53FCD-1DC3-40A6-AE36-0F703EAB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Affect circumplex: sad, neutral, fear, and angry are close enough to expect confusions.</a:t>
            </a:r>
          </a:p>
        </p:txBody>
      </p:sp>
    </p:spTree>
    <p:extLst>
      <p:ext uri="{BB962C8B-B14F-4D97-AF65-F5344CB8AC3E}">
        <p14:creationId xmlns:p14="http://schemas.microsoft.com/office/powerpoint/2010/main" val="19044941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7B31A-FADE-463F-ACD5-07057D7E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B4DA5-DF67-480F-8F7D-F8A444CC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3ED20-600F-44CF-A9B3-5A620CF6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This is a controlled experiment, not a list of unrelated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03B8B-1A2E-45A1-BA23-8FC9E5B3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86CE3-CC95-42B2-88B6-80EB5A86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7689A-B099-46DD-9EBC-6A62BA3B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F3B1E-3797-44FE-B3C8-39EE0FF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165C9-1F44-4248-8B58-9CA70EE4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39387-03B2-48DE-8EC8-D215BAF5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Fix protocol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C149E-6767-46F4-B878-0B31BF42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same FER2013 test set, same label order, macro F1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0DA4F-64FD-4437-9ECF-0A448F3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550" y="20288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70ED0-FA32-4CB1-A1B6-032C2DC2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550" y="207645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DB36A-0185-4BF0-A4CD-7A7F025E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4098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Change one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C0917-770E-4A6F-A1BC-E17B74DD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714625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architecture, imbalance strategy, optimizer, crop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8850F-45A4-48BD-9310-7091081F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0" y="20288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1400F-C8EA-4EE3-BAAF-B2E0D8E3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850" y="207645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6DA25-A750-45CA-BFE6-7D7077CC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24098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Compare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5E138-CA7E-4162-B7FE-E2FA0C86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2714625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macro F1, weighted F1, per-class F1, confusion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5B421-8FFF-46CE-BF8D-B1CA53CF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288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BF0C1-21DA-4FC3-8B56-32E6B615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76450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D64FF-A5DD-4F51-8A7F-ADC0FD7A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98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Validate externally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8D243-645E-48E1-B278-028DA9BE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14625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zero-shot CK+ evaluation of final checkpoints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38F67-9463-4BED-9B86-ED681FCA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81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243F5-AAE9-4E05-9346-D5C2B8B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Controlled variable: training/model configuration.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5E629-3A8A-4A82-B519-59446BC4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76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9E164-3D32-4CE8-883D-66D8C836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Fixed outputs: macro F1, weighted F1, per-class scores, top confusions, confusion matrices.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71E4DF-401D-4981-B65B-D11DD337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02B7F2-260C-4A55-8F56-FBF3A02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Interpretation uses both numeric results and affect-space ambiguity.</a:t>
            </a:r>
          </a:p>
        </p:txBody>
      </p:sp>
    </p:spTree>
    <p:extLst>
      <p:ext uri="{BB962C8B-B14F-4D97-AF65-F5344CB8AC3E}">
        <p14:creationId xmlns:p14="http://schemas.microsoft.com/office/powerpoint/2010/main" val="2388870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7BF3E-FA09-41B7-92EC-41325B5E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160D7-27F5-429E-91A4-A65167E0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METHODOLOGY AND IMPLEMENTED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8D900-A62A-4459-99D0-268B3DCC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The implemented models test from-scratch learning, capacity, pretraining, and efficiency.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90800-E5F0-4AE4-A727-BDD42A87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419AC-5EAE-4007-9A0D-C2888123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EB30A-1A9D-4F70-9E27-21D338B3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E27AF-D2F0-4E6A-963B-C66332F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05744-5B12-4A2F-8AB1-8882E75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48x48 grayscale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trained from scratch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baseline for the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4C81F-0940-4E6F-902F-A2274C2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859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Deeper 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AE044-F79A-4966-A007-08C927A7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79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EB09B-81E5-4135-9469-4D6CEFD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3840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48x48 grayscale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more feature channels / capacity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tests whether baseline is underpowered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47595-EE46-4C99-98F2-BA3EFB4D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33820-8989-4BC1-B44C-B0DBDF19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479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32629-45C4-487D-AB88-77A9A5D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224x224 RGB-like input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ImageNet pretrained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partial fine-tuning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6A944-435C-470C-AA7D-737CD1D8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D3658-B1FD-4616-9A30-124016C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479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46B60-26D6-40C5-B611-22D7F742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224x224 RGB-like input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ImageNet pretrained</a:t>
            </a:r>
          </a:p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lightweight transfer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8D372-9430-4B80-A7EE-1391A2B5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815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TRAINING STRATEGIES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F4488-652F-4676-AC42-491134DA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CE / focal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734B5-DD36-484B-891D-EB6306D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8165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class weights, weighted sampler, SGD schedule, crop/TenCrop evaluation</a:t>
            </a:r>
          </a:p>
        </p:txBody>
      </p:sp>
    </p:spTree>
    <p:extLst>
      <p:ext uri="{BB962C8B-B14F-4D97-AF65-F5344CB8AC3E}">
        <p14:creationId xmlns:p14="http://schemas.microsoft.com/office/powerpoint/2010/main" val="3075834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CE48A-9C74-4FCF-BD43-ADC3B328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EE0EF-8B4F-4753-86D4-344712A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F2687-3CD0-414E-9D18-7314BD91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Baseline progression starts from a simple CNN and adds one idea at a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52758-A1FB-4275-8F61-C5267AF2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B360-B0FF-4A3D-B8A4-51C9349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9D6CF-77D0-463D-8069-332944B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08BAC-87FD-4B62-BD75-29626893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1318-59E4-4CD7-9CA2-C0A689BE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D2128-1CF2-4149-A528-194371C2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Basic 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59D58-7FF7-475A-BD94-79F82DB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from-scratch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7F2D1-C1DF-4E85-AD31-49AFAAE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1885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BD26B-3955-43A2-A54D-ED60AA14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338" y="1933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8205C-F99E-4241-9704-AF72F800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2266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Augment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C0C9E-BA72-485D-B992-8D59432D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2571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flips, shifts, crops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E7FD2-6BA4-4CCB-89C0-529D7C6B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85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76EE3-F36D-4A5E-BFA5-7540D8C4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33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FB7F2-0B43-4BA3-9F2A-6A3D6EC5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66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0AA69-2BF2-4233-B350-E4D8016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71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weights, sampler, focal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E90E4-CD52-46C6-B8F7-8E1C3A70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1885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39284-4A91-4DFB-9C32-84FF6FB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1933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44407-2658-430E-98D7-DE73CE5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2266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9119E-F82F-4021-8078-91DBC0C7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2571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SGD, LR plateau, clipping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D867E-7D85-4057-A776-C34758F7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85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13A08-076D-4E79-B2C4-C6D56650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33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9A9DA-3BAF-4060-AD39-B3045A1F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ED7B9-8A2F-492D-A10B-176FFEC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deeper CNN, longer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DDA38-680A-4F0E-B0EB-0F54F5B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Saved baseline results, test macro 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9389C-C4E0-4722-87B7-CB172EC5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oversampling + focal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2CE05-E818-4837-9806-D0FB3EB9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0.483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E67D0D-04A4-413B-9585-FD0589FD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7BC825-03E5-4E28-9B92-312B352A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weighted sampler + CE + SGD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4CF0A-282B-4229-9732-5F4CC32C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577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0.595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7B433-DBF0-4615-BF03-29DA00F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E1B93-4B4E-49BB-B2F6-4AD68B04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weighted sampler + focal + SGD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9097D5-6ED5-4044-9F70-8ACEBF7E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721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FF821C-A9FD-4579-9226-6C3A33F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A61339-2499-438F-9F57-79B2933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deeper CNN, 80 epochs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BF6654-8F42-4232-9159-CF2E08ED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864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DA3A21-7904-4C75-8225-0E05DBF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245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560767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5714C-003A-46A0-BDC0-F48749AD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6BCCC-E331-4C14-9E62-D2912A78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EDAFF-6EC3-4A72-9582-716B18E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Transfer-learning configurations test fine-tuning depth and imbalance handling.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91994-A111-4471-ADE5-6760DBB7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9CC92-C0E3-4158-BC14-5C2FC3EB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D6D0D-307E-4DFC-86A2-2FBB3746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ResNet18 configurations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7995B-FE67-4C8E-8267-E6E7B91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feature extraction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90C57-765E-47BC-A560-C3D46EA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C97A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C97A3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D6E5F-F47C-4924-99FF-BE548EAC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81731-6861-4957-9884-DA9788D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layer4 fine-tuning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928E3-1B41-49C7-8013-62A8116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0.607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B3C6D-5B18-4A16-B1D1-998FF1D0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B31EF-B32E-4DD2-8720-F6094DE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layer3 + weights + focal + SGD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F09A8-7BE0-4146-89E2-826429B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813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C0BF9-404F-4E74-84FC-FA7E38B6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7A78F-FB06-4963-9F5C-64EF57FF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layer3 + crop/TenCrop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70A7A-5FFA-4C95-A53A-0ACF6D8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1B361-8B34-4E9D-9E17-9278B3B6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33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30B3F-B48C-4E7C-B8F6-84446778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EfficientNet-B0 configurations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7D022-B2CB-4ECE-BA5E-735E6342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plain small classifier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D79B7-B7C1-4C18-83EC-A1987118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52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C97A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C97A3"/>
                </a:solidFill>
                <a:latin typeface="Aptos"/>
                <a:ea typeface="Aptos"/>
                <a:cs typeface="Aptos"/>
              </a:rPr>
              <a:t>0.587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B8858-5DB1-4D04-BFEA-040CA5AE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AC38A-6E29-4EE3-8AD5-4B4D619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class weights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19E56-7DF8-4E56-817A-40F13405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61EB5-52CA-49F7-8131-31F85BC9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051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BF424-63BB-4F3C-82A4-7EBC60D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last blocks + sampler + SGD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55362-4613-40B4-ACFF-F1ED6A8C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0.666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7464D-2F50-4FA3-BAD9-5E189070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194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211B98-3E1E-4376-93DC-255E80CD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last blocks + crop/TenCrop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EDA8B-B350-4324-9194-99AB499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C029A-CAE4-40E7-9474-7A18F2F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1CCFF1-FAE8-4BE9-B595-E12C3391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CONTROLLED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7CC6A-FB47-4458-8C18-D81FB3A7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10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same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BD825B-276E-4746-BE9B-8F1458D3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436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macro F1, weighted F1, per-class scores,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3550117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46373-56AC-4D19-AE71-7314EC30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CCC0-80B1-44C0-A8C2-017D44B1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A1A51-D63E-42E0-806B-E7622900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Baseline improvements help, but from-scratch CNNs still plateau below transfer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6CE01-6F45-4257-9A6E-1DC061E8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B9D17-DBAB-43C8-B9C7-743DA2CB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61AFE-BAF7-4F91-B26E-51920825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oversampling + focal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2F696-E89E-4E2C-93AF-C892F04E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14525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0.483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2FFAE-89D4-4A51-9AE3-D7C64486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526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B10AF-FB0C-4B56-BB79-7CFF91B4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weighted sampler + CE + SGD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B0F9C-5A78-4CF2-B4C1-648D112B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28875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0.595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7AF62-5BDD-4064-987F-EFE16345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669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3D6C5-3AA5-41AA-B404-1F37C284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weighted sampler + focal + SGD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4B829-EA66-4B5A-9FE0-609D19D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43225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3AB33-FA78-45F5-A599-CC6C705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813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3ED3F-9119-40DD-9520-02991182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crop/TenCrop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8A983-F376-4060-9A23-1FE2E405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57575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C97A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C97A3"/>
                </a:solidFill>
                <a:latin typeface="Aptos"/>
                <a:ea typeface="Aptos"/>
                <a:cs typeface="Aptos"/>
              </a:rPr>
              <a:t>0.597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241B6-30CE-4853-B04A-D5DC4109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64E3C-7744-43CF-919D-29664D88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deeper CNN, 80 epochs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5BE77-4C44-4544-AB68-6290E33F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71925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935E0-3001-42FE-9CA3-72661961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100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0A2A8-7B00-4A28-B0F7-BDAB7177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BEST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9B062-A6A4-45CC-96D2-2B8697F7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F548F-EF6A-4D06-A9F0-DBA07DC0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test macro F1; weighted F1 0.649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911F4-D76B-4C29-97EC-E721E2C7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MAIN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B54E3-05CF-4B6E-95D0-3D736492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32841-0571-4E62-A670-6EAF2ED1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also fear -&gt; sad in several runs</a:t>
            </a:r>
          </a:p>
        </p:txBody>
      </p:sp>
    </p:spTree>
    <p:extLst>
      <p:ext uri="{BB962C8B-B14F-4D97-AF65-F5344CB8AC3E}">
        <p14:creationId xmlns:p14="http://schemas.microsoft.com/office/powerpoint/2010/main" val="15006871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67F25-28E2-46B0-BEE8-AAEDE9B6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BCC49-E147-4AFD-9A5F-EB652C8A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CC8DF-EEBA-4674-AF0C-9EA55348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Partial fine-tuning is the major gain in the pretrained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DBBFB-51D5-4786-A592-6D62B0B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7EBC1-1573-47E5-852D-D9A747A0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D4D73-F4A7-475F-B17C-F5E90569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ResNet18 feature 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9CC80-529A-46DE-8DDB-FE2ED972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669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C97A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C97A3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73C24-5B0B-4C18-A0E4-93607EB0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050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090DC-9900-483D-B6CB-D1B8AE65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ResNet18 fine-tuned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76702-BC6A-44BA-90C2-1383A46F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155BE-7F63-49ED-AFF5-246964D7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F5B8B-BB14-4CFF-A2E1-A2E87307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ResNet18 crop/TenCrop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91C2B-C865-4A65-802D-01A9F18C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956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DBBEC-E54C-44EB-AEBF-CA959211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54F51-5718-4EBE-8387-AF7D695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EfficientNet-B0 class weights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A182E-4075-4EDB-8AD0-B5800F81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1A275-C05E-4AD5-9474-152C0A71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45A38-192B-44B4-A6AB-B5963715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EfficientNet-B0 crop/TenCrop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9EB2A-AFE7-4E94-A8E6-9E3B30A8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243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D86A6-05F1-44C4-A2F3-800174B2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624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95F2C-D0E6-41C6-A4F5-3E9C58E1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6C989-35B0-4CEA-9F6D-69CB54F8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FDB28-E8EA-4E54-93C1-94810335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feature extraction alone is too weak for FER2013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B3B80-FF53-4A66-A1C2-1F9C432C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BEST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6B6602-4AD5-4AFB-BC7E-78851A32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56188-E9A9-430B-82AF-CF73323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EfficientNet-B0 crop/TenCrop macro F1</a:t>
            </a:r>
          </a:p>
        </p:txBody>
      </p:sp>
    </p:spTree>
    <p:extLst>
      <p:ext uri="{BB962C8B-B14F-4D97-AF65-F5344CB8AC3E}">
        <p14:creationId xmlns:p14="http://schemas.microsoft.com/office/powerpoint/2010/main" val="7982158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F1F36A-F021-45BB-88E2-5CB373FF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463B2-E538-4D9C-AF6D-62257CF4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0D8B0-487E-4714-80EB-817F7243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The error analysis is consistent with both the confusion matrix and affect 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419BB-BCC9-4CD0-ADA9-13F2D23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1DB65-581D-4401-9129-932C364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c44be6072493b"/>
          <a:stretch xmlns:a="http://schemas.openxmlformats.org/drawingml/2006/main"/>
        </p:blipFill>
        <p:spPr>
          <a:xfrm xmlns:a="http://schemas.openxmlformats.org/drawingml/2006/main">
            <a:off x="666750" y="2348780"/>
            <a:ext cx="4905375" cy="244619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d6e15cf674c19"/>
          <a:stretch xmlns:a="http://schemas.openxmlformats.org/drawingml/2006/main"/>
        </p:blipFill>
        <p:spPr>
          <a:xfrm xmlns:a="http://schemas.openxmlformats.org/drawingml/2006/main">
            <a:off x="5953125" y="1910085"/>
            <a:ext cx="2762250" cy="23234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A3C25-DCF8-4C45-82F1-115D9640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14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C739E-5E6E-4328-A8B5-0783905E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Happy and surprise are comparatively clean.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E9599-4E13-4C31-A179-98080E11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19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3400F-7E08-4EF6-9BBB-6CBE1E2E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Fear and sad remain difficult.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5D119-E945-4033-A58C-A2E7107C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24F01-0577-4DED-A82B-871434B3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Sad -&gt; neutral is the most persistent confusion.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B6002-82AA-4521-B272-6C590AF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27288-7A92-49A2-ADD2-C730AAD5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Affect-space proximity supports the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7996113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1CE37A-8AFB-4F2D-8D87-E5AB83BA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AE219-D1E6-4E10-AF09-5E48F512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9B946-2E80-4AEB-9EA5-F2DED6F2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Comparison is separated from analysis: implemented models first, SOTA context second.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37ED5-B425-4104-B13E-0114676A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54558-52EE-459C-98A7-25368963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870C4-07FB-4E33-B6A3-B51761C0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10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Best custom CNN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68C55-16EA-4ABF-9D66-866F524B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101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FE48E-E3B4-4ABA-A021-65C4EA16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04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from-scratch baseline, test macro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382CC-8998-4A54-B75C-F799A399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87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A8602-4932-4E2F-B901-2169F161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981200"/>
            <a:ext cx="210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Best ResNet18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E2B1B-1DCB-4AF6-A79A-C34E738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2495550"/>
            <a:ext cx="2101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00D2A-AAF1-4306-B96A-258AD545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3181350"/>
            <a:ext cx="204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partial fine-tuning with crop/TenCrop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226E-44CD-4C80-B5EB-A26C0E23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3981450"/>
            <a:ext cx="187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BDEEB-5904-443D-BE12-ED48BF5B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0" y="1981200"/>
            <a:ext cx="210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Best EfficientNet-B0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44AEA-AAFE-4985-9CE6-EE8400FC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0" y="2495550"/>
            <a:ext cx="2101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63A9C-D15D-4057-836B-6659C28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0" y="3181350"/>
            <a:ext cx="204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last blocks fine-tuned with crop/TenCrop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2AF31-FABE-46E0-8580-F34511D3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0" y="3981450"/>
            <a:ext cx="187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F2277-0F36-4CFD-973F-B1AD525C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SOTA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D5F72-7BA4-4113-9A00-67BE88C7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6CE1D-C404-4396-AF86-9348DD8B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alignment, attention, ensembles, larger setups</a:t>
            </a:r>
          </a:p>
        </p:txBody>
      </p:sp>
    </p:spTree>
    <p:extLst>
      <p:ext uri="{BB962C8B-B14F-4D97-AF65-F5344CB8AC3E}">
        <p14:creationId xmlns:p14="http://schemas.microsoft.com/office/powerpoint/2010/main" val="18527121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D0DF5-8A5C-4973-80BA-2BF6A543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46F13-1A92-4C62-AC2A-A2115989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2AF33-6B93-4D43-9D41-5B62DD5B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CK+ external validation changes the ranking and exposes domain shift.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7CDA9-3B31-41AD-8AD3-440D2938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FFB3B-2941-4499-B6A8-92F2DD21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d23793d8f483d"/>
          <a:stretch xmlns:a="http://schemas.openxmlformats.org/drawingml/2006/main"/>
        </p:blipFill>
        <p:spPr>
          <a:xfrm xmlns:a="http://schemas.openxmlformats.org/drawingml/2006/main">
            <a:off x="666750" y="2369057"/>
            <a:ext cx="3714750" cy="19293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CD114-4B82-4C21-8E6A-C9847BF2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Baseline CNN on CK+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AA53C-2C16-4543-8DC6-B911C884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574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0.724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AE6B8-33BF-433A-8937-110CDD4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EFD87-5BB1-4906-9BD8-04A9CD8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09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ResNet18 on CK+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9018D-ECF9-41E8-BB92-6C2F7A46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0.707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C7F71-6CE5-41A5-A3D6-840027FE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098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0934E-F9F7-4617-AC47-BB95C24F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242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EfficientNet-B0 on CK+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2DCD4-F40F-401B-95AF-99842A40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861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0.556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AA407-ACD5-4230-BD95-F3850C15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242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CC099-F57B-4E80-90E1-5E1F09E8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FD6A5-5950-4B49-BD99-606831C0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domain shift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9D62C-F113-4B67-AC76-A591613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the best FER2013 model does not automatically dominate CK+</a:t>
            </a:r>
          </a:p>
        </p:txBody>
      </p:sp>
    </p:spTree>
    <p:extLst>
      <p:ext uri="{BB962C8B-B14F-4D97-AF65-F5344CB8AC3E}">
        <p14:creationId xmlns:p14="http://schemas.microsoft.com/office/powerpoint/2010/main" val="15546798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3558A-E4C3-4282-A58F-5D49536C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218B6-482F-4457-BF53-7187E7B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DISCUSSION OF LIMITATIONS AND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7BAFF-D3C3-47B5-8101-3EE62F94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The results are useful, but the model should not be overclaimed.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6EF23-FD2B-4B74-B47D-1CF128C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10ECD-7867-4355-BB7E-74344D25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1370c14814397"/>
          <a:stretch xmlns:a="http://schemas.openxmlformats.org/drawingml/2006/main"/>
        </p:blipFill>
        <p:spPr>
          <a:xfrm xmlns:a="http://schemas.openxmlformats.org/drawingml/2006/main">
            <a:off x="762000" y="2866250"/>
            <a:ext cx="4762500" cy="1030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E1F60-D9AB-4918-B2DE-1EFC63FC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114FA-5225-429A-B84B-64A54987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FER2013 is low-resolution and contains ambiguous or noisy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ABEBD-958A-4DE2-A259-D5B868BD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1AA3B-98E0-4F39-A6A9-C64BF59E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Class imbalance remains visible even after sampler and loss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A80A5-E354-4FB4-B43A-BFE3E0A9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7C7CA-8944-4492-959F-6F4D169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Emotion labels are categorical, but affect is continuous.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1A626-ACEA-4343-A13C-83DDF860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BBA38-D245-46F3-9DFA-4171B559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External validation shows dataset shift between FER2013 and CK+.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022E8-C9BD-4C1E-A21A-3B5D46CA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85ACF-B772-4D6D-BBA7-31B16581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390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No explicit face alignment pipeline was included.</a:t>
            </a:r>
          </a:p>
        </p:txBody>
      </p:sp>
    </p:spTree>
    <p:extLst>
      <p:ext uri="{BB962C8B-B14F-4D97-AF65-F5344CB8AC3E}">
        <p14:creationId xmlns:p14="http://schemas.microsoft.com/office/powerpoint/2010/main" val="155614530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C4D07-79A2-4629-B287-2B8BC75D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28069-6E66-4003-94A9-4FB645E9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F8E00-7657-4A41-BD9D-89D934C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91B1F"/>
                </a:solidFill>
                <a:latin typeface="Aptos Display"/>
                <a:ea typeface="Aptos Display"/>
                <a:cs typeface="Aptos Display"/>
              </a:rPr>
              <a:t>The project improves FER2013 performance while identifying the remaining bottlenecks.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912EE-1DA2-4DB6-8924-5E39391E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B734E-6C9B-405B-9F8D-CEB26245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29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EECA3-BD43-4D0F-84A0-F4A55AE5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83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5F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F95"/>
                </a:solidFill>
                <a:latin typeface="Aptos"/>
                <a:ea typeface="Aptos"/>
                <a:cs typeface="Aptos"/>
              </a:rPr>
              <a:t>Transfer helps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877D7-1C69-4558-9F83-61ADB7BB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66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46C59-5966-4630-89B4-6A010E6C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660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ResNet18 and EfficientNet-B0 outperform the custom CNN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2503A-D72B-4BF3-9DCA-8A8EA080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1790700"/>
            <a:ext cx="283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756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756D"/>
                </a:solidFill>
                <a:latin typeface="Aptos"/>
                <a:ea typeface="Aptos"/>
                <a:cs typeface="Aptos"/>
              </a:rPr>
              <a:t>Metrics matter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85E4A-837A-4E5A-82D8-00EAD89D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152650"/>
            <a:ext cx="266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435EB-5CA8-4468-BDB8-6179651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850" y="2343150"/>
            <a:ext cx="2660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Macro F1 and per-class analysis reveal hard classes and misleading aggregate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CAC43-2D42-429C-9401-38C5B38D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1790700"/>
            <a:ext cx="283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602A"/>
                </a:solidFill>
                <a:latin typeface="Aptos"/>
                <a:ea typeface="Aptos"/>
                <a:cs typeface="Aptos"/>
              </a:rPr>
              <a:t>Domain shift remains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20082-DD86-48B7-9992-83677C7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2152650"/>
            <a:ext cx="266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D45E1-63B3-4EBE-9D63-02D43C6D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850" y="2343150"/>
            <a:ext cx="2660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91B1F"/>
                </a:solidFill>
                <a:latin typeface="Aptos"/>
                <a:ea typeface="Aptos"/>
                <a:cs typeface="Aptos"/>
              </a:rPr>
              <a:t>CK+ validation shows that FER2013 performance does not fully guarantee transfer.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AE936-8C8D-4A48-96E3-64989EB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777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82C96-9218-4932-8F25-3C64F09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7C0A4-BFEC-4D9E-B838-D86133F0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00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F05DC-9B7A-44AF-B70C-C4771025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Face alignment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51831-FB9E-4B71-BE34-310A4AA8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better crop 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89ADE-7766-40B2-ACA5-97B8B37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52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49272-EABD-46E9-917D-69EA6102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00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7A418-4A41-4AD2-8928-8A20EF86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33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Label noise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2D222-09B9-42E4-9952-9D840646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38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handle ambiguous annotations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15D85-1AB4-4DB0-AE73-304347F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C2396-5AFC-44C3-9669-B13A67CF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00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9C1C77-6EC2-4B45-B093-33672927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33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Stronger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D8CB34-D761-4A12-BDEB-E2D03717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38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attention, transformers, ensembles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770F5-A354-4B94-BFD9-FD247767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529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B80C5-3865-4ABD-A01C-C9EE3589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00575"/>
            <a:ext cx="238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6E484A-D0BB-42E2-A494-B230E395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33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1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91B1F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2A027-EDBB-47E8-9ACD-FEFC0E41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387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9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975"/>
                </a:solidFill>
                <a:latin typeface="Aptos"/>
                <a:ea typeface="Aptos"/>
                <a:cs typeface="Aptos"/>
              </a:rPr>
              <a:t>confidence and high-error review</a:t>
            </a:r>
          </a:p>
        </p:txBody>
      </p:sp>
    </p:spTree>
    <p:extLst>
      <p:ext uri="{BB962C8B-B14F-4D97-AF65-F5344CB8AC3E}">
        <p14:creationId xmlns:p14="http://schemas.microsoft.com/office/powerpoint/2010/main" val="394676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2026-05-30T15:47:13.3700000Z</dcterms:created>
  <dcterms:modified xsi:type="dcterms:W3CDTF">2026-05-30T15:47:13.3700000Z</dcterms:modified>
</coreProperties>
</file>