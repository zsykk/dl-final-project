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b4e64104864eaa" /><Relationship Type="http://schemas.openxmlformats.org/officeDocument/2006/relationships/extended-properties" Target="/docProps/app.xml" Id="R4fbf85f6465e4767" /><Relationship Type="http://schemas.openxmlformats.org/officeDocument/2006/relationships/officeDocument" Target="/ppt/presentation.xml" Id="R7b9215970ad846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a6f3f924f94008"/>
  </p:sldMasterIdLst>
  <p:notesMasterIdLst>
    <p:notesMasterId xmlns:r="http://schemas.openxmlformats.org/officeDocument/2006/relationships" r:id="R3db230c95a684dc2"/>
  </p:notesMasterIdLst>
  <p:sldIdLst>
    <p:sldId xmlns:r="http://schemas.openxmlformats.org/officeDocument/2006/relationships" id="256" r:id="Rda61144c239a4ae5"/>
    <p:sldId xmlns:r="http://schemas.openxmlformats.org/officeDocument/2006/relationships" id="257" r:id="R4a35303c080c4190"/>
    <p:sldId xmlns:r="http://schemas.openxmlformats.org/officeDocument/2006/relationships" id="258" r:id="Rc91a10454619499f"/>
    <p:sldId xmlns:r="http://schemas.openxmlformats.org/officeDocument/2006/relationships" id="259" r:id="R1f660a6d2f864b9b"/>
    <p:sldId xmlns:r="http://schemas.openxmlformats.org/officeDocument/2006/relationships" id="260" r:id="R382b4ed98caa4963"/>
    <p:sldId xmlns:r="http://schemas.openxmlformats.org/officeDocument/2006/relationships" id="261" r:id="Rda278ea6ca6d46ea"/>
    <p:sldId xmlns:r="http://schemas.openxmlformats.org/officeDocument/2006/relationships" id="262" r:id="R164a677fde9a4ff4"/>
    <p:sldId xmlns:r="http://schemas.openxmlformats.org/officeDocument/2006/relationships" id="263" r:id="Ra0b7469f8a5e4748"/>
    <p:sldId xmlns:r="http://schemas.openxmlformats.org/officeDocument/2006/relationships" id="264" r:id="Rf1ad091ebe924dc5"/>
    <p:sldId xmlns:r="http://schemas.openxmlformats.org/officeDocument/2006/relationships" id="265" r:id="R098e6ef66d104130"/>
    <p:sldId xmlns:r="http://schemas.openxmlformats.org/officeDocument/2006/relationships" id="266" r:id="Rd39d8b235c504ffd"/>
    <p:sldId xmlns:r="http://schemas.openxmlformats.org/officeDocument/2006/relationships" id="267" r:id="R3be0d220575744aa"/>
    <p:sldId xmlns:r="http://schemas.openxmlformats.org/officeDocument/2006/relationships" id="268" r:id="Rb9fd3c81f7594850"/>
    <p:sldId xmlns:r="http://schemas.openxmlformats.org/officeDocument/2006/relationships" id="269" r:id="Red29733b6cb040f2"/>
    <p:sldId xmlns:r="http://schemas.openxmlformats.org/officeDocument/2006/relationships" id="270" r:id="Rb12b0c24a95f478b"/>
    <p:sldId xmlns:r="http://schemas.openxmlformats.org/officeDocument/2006/relationships" id="271" r:id="R6caad44feaa64a97"/>
    <p:sldId xmlns:r="http://schemas.openxmlformats.org/officeDocument/2006/relationships" id="272" r:id="R3e25317e9ce841d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6f3f924f94008" /><Relationship Type="http://schemas.openxmlformats.org/officeDocument/2006/relationships/theme" Target="/ppt/theme/theme1.xml" Id="R868eed1031fd4ec1" /><Relationship Type="http://schemas.openxmlformats.org/officeDocument/2006/relationships/notesMaster" Target="/ppt/notesMasters/notesMaster1.xml" Id="R3db230c95a684dc2" /><Relationship Type="http://schemas.openxmlformats.org/officeDocument/2006/relationships/presProps" Target="/ppt/presProps.xml" Id="Re7d66422b4c44efa" /><Relationship Type="http://schemas.openxmlformats.org/officeDocument/2006/relationships/viewProps" Target="/ppt/viewProps.xml" Id="Rd534c968dac545a3" /><Relationship Type="http://schemas.openxmlformats.org/officeDocument/2006/relationships/tableStyles" Target="/ppt/tableStyles.xml" Id="R3632f31b02864e9d" /><Relationship Type="http://schemas.openxmlformats.org/officeDocument/2006/relationships/slide" Target="/ppt/slides/slide1.xml" Id="Rda61144c239a4ae5" /><Relationship Type="http://schemas.openxmlformats.org/officeDocument/2006/relationships/slide" Target="/ppt/slides/slide2.xml" Id="R4a35303c080c4190" /><Relationship Type="http://schemas.openxmlformats.org/officeDocument/2006/relationships/slide" Target="/ppt/slides/slide3.xml" Id="Rc91a10454619499f" /><Relationship Type="http://schemas.openxmlformats.org/officeDocument/2006/relationships/slide" Target="/ppt/slides/slide4.xml" Id="R1f660a6d2f864b9b" /><Relationship Type="http://schemas.openxmlformats.org/officeDocument/2006/relationships/slide" Target="/ppt/slides/slide5.xml" Id="R382b4ed98caa4963" /><Relationship Type="http://schemas.openxmlformats.org/officeDocument/2006/relationships/slide" Target="/ppt/slides/slide6.xml" Id="Rda278ea6ca6d46ea" /><Relationship Type="http://schemas.openxmlformats.org/officeDocument/2006/relationships/slide" Target="/ppt/slides/slide7.xml" Id="R164a677fde9a4ff4" /><Relationship Type="http://schemas.openxmlformats.org/officeDocument/2006/relationships/slide" Target="/ppt/slides/slide8.xml" Id="Ra0b7469f8a5e4748" /><Relationship Type="http://schemas.openxmlformats.org/officeDocument/2006/relationships/slide" Target="/ppt/slides/slide9.xml" Id="Rf1ad091ebe924dc5" /><Relationship Type="http://schemas.openxmlformats.org/officeDocument/2006/relationships/slide" Target="/ppt/slides/slide10.xml" Id="R098e6ef66d104130" /><Relationship Type="http://schemas.openxmlformats.org/officeDocument/2006/relationships/slide" Target="/ppt/slides/slide11.xml" Id="Rd39d8b235c504ffd" /><Relationship Type="http://schemas.openxmlformats.org/officeDocument/2006/relationships/slide" Target="/ppt/slides/slide12.xml" Id="R3be0d220575744aa" /><Relationship Type="http://schemas.openxmlformats.org/officeDocument/2006/relationships/slide" Target="/ppt/slides/slide13.xml" Id="Rb9fd3c81f7594850" /><Relationship Type="http://schemas.openxmlformats.org/officeDocument/2006/relationships/slide" Target="/ppt/slides/slide14.xml" Id="Red29733b6cb040f2" /><Relationship Type="http://schemas.openxmlformats.org/officeDocument/2006/relationships/slide" Target="/ppt/slides/slide15.xml" Id="Rb12b0c24a95f478b" /><Relationship Type="http://schemas.openxmlformats.org/officeDocument/2006/relationships/slide" Target="/ppt/slides/slide16.xml" Id="R6caad44feaa64a97" /><Relationship Type="http://schemas.openxmlformats.org/officeDocument/2006/relationships/slide" Target="/ppt/slides/slide17.xml" Id="R3e25317e9ce841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cdff6c9d1fe4f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b113b5774c4fc1" /><Relationship Type="http://schemas.openxmlformats.org/officeDocument/2006/relationships/notesMaster" Target="/ppt/notesMasters/notesMaster1.xml" Id="R9267cdd758454a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ff98df430b42b1" /><Relationship Type="http://schemas.openxmlformats.org/officeDocument/2006/relationships/notesMaster" Target="/ppt/notesMasters/notesMaster1.xml" Id="Rebbff7ee403343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69bc222e1a437b" /><Relationship Type="http://schemas.openxmlformats.org/officeDocument/2006/relationships/notesMaster" Target="/ppt/notesMasters/notesMaster1.xml" Id="Rd50fe9fba0514a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ad1b3b40dc4cc4" /><Relationship Type="http://schemas.openxmlformats.org/officeDocument/2006/relationships/notesMaster" Target="/ppt/notesMasters/notesMaster1.xml" Id="Ra2dbdfb30cf74e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e52c63b090435a" /><Relationship Type="http://schemas.openxmlformats.org/officeDocument/2006/relationships/notesMaster" Target="/ppt/notesMasters/notesMaster1.xml" Id="R1d0473696e184b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7e263a8b414601" /><Relationship Type="http://schemas.openxmlformats.org/officeDocument/2006/relationships/notesMaster" Target="/ppt/notesMasters/notesMaster1.xml" Id="Rc2110950ff384d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24771e83f54244" /><Relationship Type="http://schemas.openxmlformats.org/officeDocument/2006/relationships/notesMaster" Target="/ppt/notesMasters/notesMaster1.xml" Id="Rc1839e20766445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e399c59ad34fc0" /><Relationship Type="http://schemas.openxmlformats.org/officeDocument/2006/relationships/notesMaster" Target="/ppt/notesMasters/notesMaster1.xml" Id="R511aeee6fd2643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a3ca039c6e4cd2" /><Relationship Type="http://schemas.openxmlformats.org/officeDocument/2006/relationships/notesMaster" Target="/ppt/notesMasters/notesMaster1.xml" Id="Rd01778629bbe4a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abf5a3c4084ad5" /><Relationship Type="http://schemas.openxmlformats.org/officeDocument/2006/relationships/notesMaster" Target="/ppt/notesMasters/notesMaster1.xml" Id="R2b0c0f6502be41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a733688af343be" /><Relationship Type="http://schemas.openxmlformats.org/officeDocument/2006/relationships/notesMaster" Target="/ppt/notesMasters/notesMaster1.xml" Id="R8b7293dcc0db4a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83f882d04a4f84" /><Relationship Type="http://schemas.openxmlformats.org/officeDocument/2006/relationships/notesMaster" Target="/ppt/notesMasters/notesMaster1.xml" Id="R4cc121021aa34b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3d98096ecd4a55" /><Relationship Type="http://schemas.openxmlformats.org/officeDocument/2006/relationships/notesMaster" Target="/ppt/notesMasters/notesMaster1.xml" Id="R88eb9cff281846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b145e0f163445b" /><Relationship Type="http://schemas.openxmlformats.org/officeDocument/2006/relationships/notesMaster" Target="/ppt/notesMasters/notesMaster1.xml" Id="R762464238ea049c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b8f2c48da2340b9" /><Relationship Type="http://schemas.openxmlformats.org/officeDocument/2006/relationships/notesMaster" Target="/ppt/notesMasters/notesMaster1.xml" Id="Ra1a3d341465e43c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4bba738e6174f4b" /><Relationship Type="http://schemas.openxmlformats.org/officeDocument/2006/relationships/notesMaster" Target="/ppt/notesMasters/notesMaster1.xml" Id="Rb58e04c23686435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40cc82096254fae" /><Relationship Type="http://schemas.openxmlformats.org/officeDocument/2006/relationships/notesMaster" Target="/ppt/notesMasters/notesMaster1.xml" Id="Rdb4732d364e24e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3cc1d9d57244c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954224f4cbd46ad" /><Relationship Type="http://schemas.openxmlformats.org/officeDocument/2006/relationships/slideLayout" Target="/ppt/slideLayouts/slideLayout2.xml" Id="Rd7034f0905e64a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034f0905e64a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d25a17206c4db1" /><Relationship Type="http://schemas.openxmlformats.org/officeDocument/2006/relationships/notesSlide" Target="/ppt/notesSlides/notesSlide1.xml" Id="R6a3d9bfdac5149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fb9fc02cdb4747" /><Relationship Type="http://schemas.openxmlformats.org/officeDocument/2006/relationships/notesSlide" Target="/ppt/notesSlides/notesSlide2.xml" Id="Ra4e3749c80d44d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f8376cfd834620" /><Relationship Type="http://schemas.openxmlformats.org/officeDocument/2006/relationships/notesSlide" Target="/ppt/notesSlides/notesSlide3.xml" Id="Rd8afdc49174342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9f0d4336ea4fed" /><Relationship Type="http://schemas.openxmlformats.org/officeDocument/2006/relationships/notesSlide" Target="/ppt/notesSlides/notesSlide4.xml" Id="R82ae1d16256a45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0024cd689d4e4e" /><Relationship Type="http://schemas.openxmlformats.org/officeDocument/2006/relationships/image" Target="/ppt/media/image.png" Id="Rd918304cda7b4c21" /><Relationship Type="http://schemas.openxmlformats.org/officeDocument/2006/relationships/image" Target="/ppt/media/image2.png" Id="R72a45e3aa1bd4363" /><Relationship Type="http://schemas.openxmlformats.org/officeDocument/2006/relationships/notesSlide" Target="/ppt/notesSlides/notesSlide5.xml" Id="R4be97f9d796d4d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3735f8c346428f" /><Relationship Type="http://schemas.openxmlformats.org/officeDocument/2006/relationships/image" Target="/ppt/media/image3.png" Id="R804f23b39686451c" /><Relationship Type="http://schemas.openxmlformats.org/officeDocument/2006/relationships/notesSlide" Target="/ppt/notesSlides/notesSlide6.xml" Id="R4cfabdb013644b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3c62bfe06d4432" /><Relationship Type="http://schemas.openxmlformats.org/officeDocument/2006/relationships/image" Target="/ppt/media/image4.png" Id="R32d31f75ce2e431a" /><Relationship Type="http://schemas.openxmlformats.org/officeDocument/2006/relationships/image" Target="/ppt/media/image5.png" Id="R023880ee1fd54365" /><Relationship Type="http://schemas.openxmlformats.org/officeDocument/2006/relationships/notesSlide" Target="/ppt/notesSlides/notesSlide7.xml" Id="Rb3d61e45775d4d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ade53e802242fb" /><Relationship Type="http://schemas.openxmlformats.org/officeDocument/2006/relationships/notesSlide" Target="/ppt/notesSlides/notesSlide8.xml" Id="Ree4f8837df0d4c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ac4146ce4f4ab9" /><Relationship Type="http://schemas.openxmlformats.org/officeDocument/2006/relationships/notesSlide" Target="/ppt/notesSlides/notesSlide9.xml" Id="R4d6c1521db1c40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6fdf943d634308" /><Relationship Type="http://schemas.openxmlformats.org/officeDocument/2006/relationships/notesSlide" Target="/ppt/notesSlides/notesSlide10.xml" Id="R868b8d98fc1643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f6b1dfa66448c5" /><Relationship Type="http://schemas.openxmlformats.org/officeDocument/2006/relationships/notesSlide" Target="/ppt/notesSlides/notesSlide11.xml" Id="R1827bfcb22584b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cda1483def4f19" /><Relationship Type="http://schemas.openxmlformats.org/officeDocument/2006/relationships/notesSlide" Target="/ppt/notesSlides/notesSlide12.xml" Id="R251bcf642e5044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61a8f6b9664207" /><Relationship Type="http://schemas.openxmlformats.org/officeDocument/2006/relationships/notesSlide" Target="/ppt/notesSlides/notesSlide13.xml" Id="R0ac344ec46874b4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ae05da819141ce" /><Relationship Type="http://schemas.openxmlformats.org/officeDocument/2006/relationships/image" Target="/ppt/media/image6.png" Id="R72372cbee8a54e13" /><Relationship Type="http://schemas.openxmlformats.org/officeDocument/2006/relationships/notesSlide" Target="/ppt/notesSlides/notesSlide14.xml" Id="R1cf901e10e3d4f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0d7afbb430412d" /><Relationship Type="http://schemas.openxmlformats.org/officeDocument/2006/relationships/image" Target="/ppt/media/image7.png" Id="Rdef5d223bd104c01" /><Relationship Type="http://schemas.openxmlformats.org/officeDocument/2006/relationships/notesSlide" Target="/ppt/notesSlides/notesSlide15.xml" Id="R8428a480245a44d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26e8ace28d4a9e" /><Relationship Type="http://schemas.openxmlformats.org/officeDocument/2006/relationships/image" Target="/ppt/media/image8.png" Id="R4a10e84411fb4a7f" /><Relationship Type="http://schemas.openxmlformats.org/officeDocument/2006/relationships/notesSlide" Target="/ppt/notesSlides/notesSlide16.xml" Id="Ra9a5d85cc9244b3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891f16bdce473c" /><Relationship Type="http://schemas.openxmlformats.org/officeDocument/2006/relationships/notesSlide" Target="/ppt/notesSlides/notesSlide17.xml" Id="R24d222cd8ba8448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C1ECCB-B514-428C-B9AE-C4025B00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1EC9F-6701-4DE3-893D-C95A9552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0CFAA-07A6-4FAD-89CE-49464A97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9E2B4-98A5-4C7B-A8DC-EC51DCFD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85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rPr>
              <a:t>Facial Expression Recognition on FER2013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16F4C-0454-43A3-AB25-6433E690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From custom CNN baselines to transfer learning and CK+ external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7A681-EE22-4D42-9A1E-86A78745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476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953D0-4C85-402C-A7B9-60597F57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6ABC5-13D4-462A-960F-0C102A27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65F9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65F99"/>
                </a:solidFill>
                <a:latin typeface="Aptos"/>
                <a:ea typeface="Aptos"/>
                <a:cs typeface="Aptos"/>
              </a:rPr>
              <a:t>PRIMARY 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D27A9-2A83-4B5B-8792-B1EE16E6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395B6-0A61-4C4B-8CD9-51648342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Chosen because FER2013 is strongly imbalanced.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C12B5-2DD2-49E8-8BBA-9932FCCC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05250"/>
            <a:ext cx="2476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75183-44F5-4DD4-83B6-1A350739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052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C64E5-EE87-467B-8695-5012E2B7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57650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87C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87C77"/>
                </a:solidFill>
                <a:latin typeface="Aptos"/>
                <a:ea typeface="Aptos"/>
                <a:cs typeface="Aptos"/>
              </a:rPr>
              <a:t>BEST FER2013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83A00-50A0-4D14-9444-439BC2E8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14825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ResNet18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19AFBB-BA09-4DDF-BAF3-91FE083F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05350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0.676 test macro F1.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FDA39-D67A-4893-A438-C2CABA42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05250"/>
            <a:ext cx="2476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7DCF7-F5E4-4AE1-BB41-6D90F0F8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052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346C8C-65F0-43FF-83F8-9F27D075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57650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65E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65E2E"/>
                </a:solidFill>
                <a:latin typeface="Aptos"/>
                <a:ea typeface="Aptos"/>
                <a:cs typeface="Aptos"/>
              </a:rPr>
              <a:t>EXTERNAL 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850F2E-6DEF-4AD6-9B92-03F5BD64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14825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CK+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1B39AA-93EB-44FE-8699-0A1FD011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05350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Shows domain-shift behavior.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E08158-7B32-4925-B2B1-F5EDCCF8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12-minute final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9261243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33E761-520F-4C7A-B630-E52395CC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E6587-6308-4DB1-8B28-8BFFAC89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182E9-129D-41DF-8D91-EDA35716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893BD-9897-4753-A680-B755FB05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65F99"/>
                </a:solidFill>
                <a:latin typeface="Aptos"/>
                <a:ea typeface="Aptos"/>
                <a:cs typeface="Aptos"/>
              </a:rPr>
              <a:t>PRESENTATION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F6D1E-E335-462C-A28B-C757CA74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rPr>
              <a:t>The talk follows the requested scientific structure.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6926E-B484-4566-AE41-7CEF8803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1D63A-CD21-48FC-A6CC-FB40E4B3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92182-5AE2-4E6E-9808-F37C479F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85925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5F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5F99"/>
                </a:solidFill>
                <a:latin typeface="Aptos"/>
                <a:ea typeface="Aptos"/>
                <a:cs typeface="Aptos"/>
              </a:rPr>
              <a:t>Section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1CA7A-B42C-4A9F-A65A-20FF7DB9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85925"/>
            <a:ext cx="676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5F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5F99"/>
                </a:solidFill>
                <a:latin typeface="Aptos"/>
                <a:ea typeface="Aptos"/>
                <a:cs typeface="Aptos"/>
              </a:rPr>
              <a:t>What it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DA7F0-FF19-4B0C-A8E6-E89BEE8D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9FCB0-A7C9-43F6-99C5-6F87C7D7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62175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Introduction and motivation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19A088-AC19-4CC0-BE42-708608D4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62175"/>
            <a:ext cx="676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Why FER2013 is an important but difficult recognition task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C0B7A-F4CC-4C6D-92E3-0B5D94C3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2240D-2029-4F9D-9D8C-F99CC1A5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38425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Related work / state of the art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BFEA2-B2D7-4870-96A7-43CB8C24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38425"/>
            <a:ext cx="676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Where CNNs, transfer learning, and modern FER methods fit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BFBBA-82AF-4591-9DCB-A1FCD125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E076E0-7A04-482E-BF9E-93B72AC8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14675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867E27-EC39-429B-9391-7CECDEC8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14675"/>
            <a:ext cx="676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What data limitations shape the modeling choices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03B30-2405-4F1D-A396-0AE10FDA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3F0FD9-BD37-4932-AB5C-A90AC536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90925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Methodology and implemented models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D51AB-9A11-4D8E-937A-EDBCD42D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90925"/>
            <a:ext cx="676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Which models were built and why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1604B1-0484-4E14-887F-E420B44B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7900B-526A-4104-A026-36C4A570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67175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Experiments and configurations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105A8E-4DB9-415A-B01E-F90CDAD6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67175"/>
            <a:ext cx="676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Which ablations and fine-tuning settings were evaluated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2BFCC1-94A5-4700-830F-ED8F03FB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9D4648-ECDD-42FE-9F15-503262DB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3425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Results, analysis, comparison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297C0F-3C82-451A-8BA6-E5EF2DFD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43425"/>
            <a:ext cx="676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Which model worked best and what errors remain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DE0625-5123-440B-B08B-6C4AE6BD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D4DF8B-4B69-449C-AC7F-4958C9CB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9675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Limitations, conclusions, future work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BE05B9-9724-4FF2-AB51-E49B02B3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19675"/>
            <a:ext cx="676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What the results do and do not prove</a:t>
            </a:r>
          </a:p>
        </p:txBody>
      </p:sp>
    </p:spTree>
    <p:extLst>
      <p:ext uri="{BB962C8B-B14F-4D97-AF65-F5344CB8AC3E}">
        <p14:creationId xmlns:p14="http://schemas.microsoft.com/office/powerpoint/2010/main" val="4831372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B918E7-3A4B-41DB-A435-F21FEB2A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72053-4DBD-4DCA-BB4A-1B7A38C0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0FD41-D9C5-49A2-BB9F-864FCA13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2A2FF-9135-43B8-BDFD-CE749443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65F99"/>
                </a:solidFill>
                <a:latin typeface="Aptos"/>
                <a:ea typeface="Aptos"/>
                <a:cs typeface="Aptos"/>
              </a:rPr>
              <a:t>INTRODUCTION AND 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21BB1-E31C-4EC6-A775-B571A453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rPr>
              <a:t>FER is useful, but ambiguity makes simple accuracy misleading.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8F0E1-3087-45E3-A8DC-9EB2BA25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C06A9-9B0C-429A-8C76-7BC44E31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81C0B-1ABE-4811-A98A-084EBFA0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95450"/>
            <a:ext cx="6143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Facial expressions provide cues for affective computing and human-computer interaction.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993CC-8D8F-4615-9421-EFB500AB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7C3BE-241C-4BBC-9A76-166A1A40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3150"/>
            <a:ext cx="6143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Real expressions vary by identity, pose, intensity, and image quality.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1ED21-33C2-4FD6-B9ED-0AB4B08D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7C4079-39AD-4A26-9077-C3D513A3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6143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FER2013 is intentionally challenging: low-resolution grayscale faces and noisy labels.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D6562-926C-4FD9-A8C4-106625B7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9C4A1-7801-4FC2-B0E4-9A90274C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6143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The project therefore evaluates balanced performance and cross-dataset behavior.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EE89E-8F04-438D-AC9B-D6A45DAD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025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D3FE6-4AF2-41DA-AF7B-C7452D93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02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B9224B-F024-4BFC-AF15-2A90A703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52650"/>
            <a:ext cx="2533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65F9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65F99"/>
                </a:solidFill>
                <a:latin typeface="Aptos"/>
                <a:ea typeface="Aptos"/>
                <a:cs typeface="Aptos"/>
              </a:rPr>
              <a:t>CENTRAL QUESTION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7D53BB-6127-4C49-9ED5-F5FC428E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9825"/>
            <a:ext cx="2533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What generalizes?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72CFEA-547C-40DA-A362-A145EC9F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0350"/>
            <a:ext cx="25336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Do stronger backbones and imbalance-aware training improve recognition across all emotions, or mainly the easy classes?</a:t>
            </a:r>
          </a:p>
        </p:txBody>
      </p:sp>
    </p:spTree>
    <p:extLst>
      <p:ext uri="{BB962C8B-B14F-4D97-AF65-F5344CB8AC3E}">
        <p14:creationId xmlns:p14="http://schemas.microsoft.com/office/powerpoint/2010/main" val="7515785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C88A01-BD7E-4FAF-9F83-66ECAE33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6F69E-6283-4D35-BD25-7431DD4D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14777-0145-4F3A-9224-15EE3759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DAEFF-0BAF-40E7-AD9D-BEF09718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7C77"/>
                </a:solidFill>
                <a:latin typeface="Aptos"/>
                <a:ea typeface="Aptos"/>
                <a:cs typeface="Aptos"/>
              </a:rPr>
              <a:t>RELATED WORK / STATE OF THE 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0E822-1066-4739-AAC2-BB6E1975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rPr>
              <a:t>The project sits between practical CNN baselines and stronger modern FER systems.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05FC3-585E-4708-BA42-C1E75C27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002A2-DEE7-44F4-8614-6A10BE50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DF564-9379-4F17-B296-927D1169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87C77"/>
                </a:solidFill>
                <a:latin typeface="Aptos"/>
                <a:ea typeface="Aptos"/>
                <a:cs typeface="Aptos"/>
              </a:rPr>
              <a:t>Family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98B97-DF5A-4200-A6E5-04AC14FC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85925"/>
            <a:ext cx="3667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87C77"/>
                </a:solidFill>
                <a:latin typeface="Aptos"/>
                <a:ea typeface="Aptos"/>
                <a:cs typeface="Aptos"/>
              </a:rPr>
              <a:t>Typical 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30F25-15A4-41E8-AC1B-AE1E33B1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85925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87C77"/>
                </a:solidFill>
                <a:latin typeface="Aptos"/>
                <a:ea typeface="Aptos"/>
                <a:cs typeface="Aptos"/>
              </a:rPr>
              <a:t>Relation to this 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9BB4A-B231-4F54-BE37-1A9358C3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2175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F44C7-DB12-478B-A860-6FFF78E0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76475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Classical 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B93B3-1C70-44E1-B7C5-6CA8D1CB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76475"/>
            <a:ext cx="3667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Handcrafted features with shallow classifiers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D5943-4AD4-4BC6-914A-25171B7B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76475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Historical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DCD03-5B23-4A44-ADAC-49537BBC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67634-A178-4EF7-B62B-958D3BBB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CNN baselines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635B94-0D00-4F2E-A62E-36E9803F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67025"/>
            <a:ext cx="3667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Train visual features from expression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290CBC-02F6-4725-B4B1-9B43D62C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67025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Implemented custom CNNs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722D2F-E3D3-4874-AA59-3670F27D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6FEB61-D189-422C-8A7B-9939CF26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57575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Transfer learning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FB54E-7395-4CB5-8C28-1A9A9371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57575"/>
            <a:ext cx="3667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Fine-tune ImageNet-pretrained CNN backbones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01870B-26C4-4628-ACE3-EA166A3B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57575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Implemented ResNet18 and EfficientNet-B0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D75734-5C50-4CAC-BF04-ACA271AC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0CE04B-9B1D-4CA6-B3CE-664E640E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Recent SOTA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9DFCD9-B84B-421F-8293-7C9B8E38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48125"/>
            <a:ext cx="3667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Attention, ensembles, transformers, alignment, larger curated datasets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287D46-D78D-4505-BE2E-D0C22347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48125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Used as future-work direction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D051CF-1C84-4FA0-86A6-E6ADB4DF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567FD4-E5DA-4F0B-A7D6-82704C55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A direct SOTA claim would be unfair without identical splits, face alignment, and training budgets.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951178-0E51-4739-81EC-1AA32343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43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23F5FA-7153-4305-BD35-A6E35C53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48325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The fair comparison here is against implemented baselines and practical transfer-learning alternatives.</a:t>
            </a:r>
          </a:p>
        </p:txBody>
      </p:sp>
    </p:spTree>
    <p:extLst>
      <p:ext uri="{BB962C8B-B14F-4D97-AF65-F5344CB8AC3E}">
        <p14:creationId xmlns:p14="http://schemas.microsoft.com/office/powerpoint/2010/main" val="9500306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5C17F3-F905-4A98-9705-E9D5122E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A161C-EA1D-4486-9565-BE61B1D4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2AC0E-7C36-4450-968F-945B9325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A118D-A444-47E8-A0CB-0385CB6F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5E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65E2E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E5F83-0588-491A-89F9-8394B18F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rPr>
              <a:t>FER2013 contains visible ambiguity and strong class imbalance.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E8B32-F19D-4F76-911C-BB1C1659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DAE26-E140-48C1-9945-EFB5A10C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47825"/>
            <a:ext cx="48768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3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8304cda7b4c21"/>
          <a:stretch xmlns:a="http://schemas.openxmlformats.org/drawingml/2006/main"/>
        </p:blipFill>
        <p:spPr>
          <a:xfrm xmlns:a="http://schemas.openxmlformats.org/drawingml/2006/main">
            <a:off x="1871428" y="1657350"/>
            <a:ext cx="2448393" cy="3333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A8752-A57F-4A07-938A-FDCEFC4E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47825"/>
            <a:ext cx="47815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3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45e3aa1bd4363"/>
          <a:stretch xmlns:a="http://schemas.openxmlformats.org/drawingml/2006/main"/>
        </p:blipFill>
        <p:spPr>
          <a:xfrm xmlns:a="http://schemas.openxmlformats.org/drawingml/2006/main">
            <a:off x="6096000" y="1851266"/>
            <a:ext cx="4762500" cy="294591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146E1-A695-4BB6-B8ED-A108B780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Seven emotion classes, 48x48 grayscale face crops.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6B355-484F-4F7E-9DE2-B6DAEAAF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Class imbalance motivates macro F1 and imbalance-aware training.</a:t>
            </a:r>
          </a:p>
        </p:txBody>
      </p:sp>
    </p:spTree>
    <p:extLst>
      <p:ext uri="{BB962C8B-B14F-4D97-AF65-F5344CB8AC3E}">
        <p14:creationId xmlns:p14="http://schemas.microsoft.com/office/powerpoint/2010/main" val="11292822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6BC595-715A-4F29-91ED-D28A3921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9822B-E5C2-42F2-BF15-2A28AD55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17777-F91F-41F2-A13F-4DEAECAC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8E069-C86B-4FCC-B41F-426E31B6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5E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65E2E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D0B17-F404-4109-97A8-709D3993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rPr>
              <a:t>The affect circumplex explains why some classes are naturally confused.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4CA2D-0381-4E14-BAFA-8E923339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CDC58-4DF9-4A1A-B69A-21727E8E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47825"/>
            <a:ext cx="5876925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3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f23b39686451c"/>
          <a:stretch xmlns:a="http://schemas.openxmlformats.org/drawingml/2006/main"/>
        </p:blipFill>
        <p:spPr>
          <a:xfrm xmlns:a="http://schemas.openxmlformats.org/drawingml/2006/main">
            <a:off x="1218212" y="1657350"/>
            <a:ext cx="4869251" cy="4095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6857E-BD48-4788-807E-693319AB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47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2B048-6181-4ED5-A68C-96CAC7F5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FER labels are categorical, but emotions are related in valence-arousal space.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4AB1B-AB77-4FE9-859E-1C0D6D70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86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A8951-FFD0-4E5F-ADED-92C5D483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90825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Sad, neutral, fear, and angry occupy nearby or visually subtle regions.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0890A-80DE-4319-9786-41AB8997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24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3AD66-BC82-4521-8361-D2AC8972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29025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This provides a scientific lens for error analysis, not an excuse for errors.</a:t>
            </a:r>
          </a:p>
        </p:txBody>
      </p:sp>
    </p:spTree>
    <p:extLst>
      <p:ext uri="{BB962C8B-B14F-4D97-AF65-F5344CB8AC3E}">
        <p14:creationId xmlns:p14="http://schemas.microsoft.com/office/powerpoint/2010/main" val="13166145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C25B72-C26C-4B43-ABE6-D585B2E9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AAA68-BB3C-4F4C-A907-3FE20944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AA41C-DE20-4664-A3A0-31BFDE41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4A9DE-71E6-411C-8ACF-7C0C1026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5E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65E2E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2D444-9A71-4F38-A202-252F41CE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rPr>
              <a:t>The preprocessing path depends on the model family.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A3DAB-02A6-43EA-9AA4-AFF2194A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8A99A-E7A8-4BBC-86AC-C1D6342A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552575"/>
            <a:ext cx="4591050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3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31f75ce2e431a"/>
          <a:stretch xmlns:a="http://schemas.openxmlformats.org/drawingml/2006/main"/>
        </p:blipFill>
        <p:spPr>
          <a:xfrm xmlns:a="http://schemas.openxmlformats.org/drawingml/2006/main">
            <a:off x="781050" y="2622947"/>
            <a:ext cx="4572000" cy="106918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95C72-D608-4ED6-AA07-7BA42364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52575"/>
            <a:ext cx="4781550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3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880ee1fd54365"/>
          <a:stretch xmlns:a="http://schemas.openxmlformats.org/drawingml/2006/main"/>
        </p:blipFill>
        <p:spPr>
          <a:xfrm xmlns:a="http://schemas.openxmlformats.org/drawingml/2006/main">
            <a:off x="6048375" y="1981889"/>
            <a:ext cx="4762500" cy="2351297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1273A-F883-4FB9-88FC-0E0AC118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Baseline CNN: preserve the native 48x48 grayscale setting and use augmentation for robustness.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0B29E-9F10-49ED-85DE-55FCCE47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673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Pretrained CNNs: resize to 224x224, convert to 3 channels, and normalize with ImageNet statistics.</a:t>
            </a:r>
          </a:p>
        </p:txBody>
      </p:sp>
    </p:spTree>
    <p:extLst>
      <p:ext uri="{BB962C8B-B14F-4D97-AF65-F5344CB8AC3E}">
        <p14:creationId xmlns:p14="http://schemas.microsoft.com/office/powerpoint/2010/main" val="3314266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383390-29EF-477F-86D3-596BD18B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3CCC9-A4A4-490A-B410-33BD7140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5B1B7-87EB-4DAA-B80E-6FF5B6FC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F7B21-2E61-4ACD-8AE7-D2645732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65F99"/>
                </a:solidFill>
                <a:latin typeface="Aptos"/>
                <a:ea typeface="Aptos"/>
                <a:cs typeface="Aptos"/>
              </a:rPr>
              <a:t>METHODOLOGY AND IMPLEMENTED MODELS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B6FA2-6320-4E31-83CC-DBAF0E32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rPr>
              <a:t>The models form an escalation from scratch training to transfer learning.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C9B11-AE12-4380-A99D-2F23CA6F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2251C-D51A-4E07-B68C-1A05C4AE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ECA1A-10CC-4E51-A26D-631152E8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5F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5F99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BBBB7-9585-4F07-9255-C0A28F83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526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5F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5F99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9655B-25B9-4B65-925A-8FBD6215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7526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5F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5F99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BCC95-05F5-4A2C-B5A6-9D6BB00E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4EB4E7-2012-4054-A292-A184BEB8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Custom CNN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68052-02C8-4DCE-AC41-ACA67C00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050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48x48 grayscale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BBA0A-6F5E-4662-B572-A394B8BC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050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Baseline trained from scratch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A427C-FF98-4411-A60D-04FA687A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26F90-C0D5-4E23-94C9-828D622F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Deeper CNN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50964A-CBD9-4B9F-A096-5DA57F48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575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48x48 grayscale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E2301E-DE40-4512-9E5A-7456845B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575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Test whether capacity helps the baseline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64B3DF-D15E-4607-B760-264EAD9A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74B024-A94A-4097-915C-896033A6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ResNet18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68EC19-A65B-44B8-BC1C-25FC11D8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099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224x224 RGB-like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DB0FC4-10EA-410B-A8C9-6CBD9022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099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Standard pretrained backbone for fine-tuning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1529FC-5BD3-4494-88C8-53D5DCCF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CCD2A5-402B-40BE-8DB1-7F5DC019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EfficientNet-B0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386430-CE3D-44CD-9161-DE2565C1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624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224x224 RGB-like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DA84FA-08A8-46AA-9F82-80B1A343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624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Lightweight pretrained comparison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CF8F39-12A4-47A7-B7FE-20403B3D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672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ABB5A5-FBDF-429C-BDAB-DAE51DA2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672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3CFFD4-9C1E-47F5-9464-F254580F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19650"/>
            <a:ext cx="2533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65F9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65F99"/>
                </a:solidFill>
                <a:latin typeface="Aptos"/>
                <a:ea typeface="Aptos"/>
                <a:cs typeface="Aptos"/>
              </a:rPr>
              <a:t>EVALUATION PRINCIPLE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D6E0ED-BDE8-485E-AEA5-97445CDD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76825"/>
            <a:ext cx="2533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Macro F1 first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0496B0-0F33-4007-A739-B58BD62A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67350"/>
            <a:ext cx="2533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Weighted F1 and confusion matrices are supporting evidence, not replacements.</a:t>
            </a:r>
          </a:p>
        </p:txBody>
      </p:sp>
    </p:spTree>
    <p:extLst>
      <p:ext uri="{BB962C8B-B14F-4D97-AF65-F5344CB8AC3E}">
        <p14:creationId xmlns:p14="http://schemas.microsoft.com/office/powerpoint/2010/main" val="11033935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44D69D-3641-46E7-B87F-5AE715F8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091BF-5891-440B-A1B4-961BB4F5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7EAF8-C059-488B-8A05-6FDE1D37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33CA1-70AA-419B-B672-CFB6F2F0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7C77"/>
                </a:solidFill>
                <a:latin typeface="Aptos"/>
                <a:ea typeface="Aptos"/>
                <a:cs typeface="Aptos"/>
              </a:rPr>
              <a:t>EXPERIMENTS AND EVALUATED CONFIGURATIONS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BF79E-941C-4405-B82E-BE80508C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rPr>
              <a:t>The experiment plan is an ablation chain, not unrelated model trials.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BC403-EFE3-47F8-BCFB-9EA01E2E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07944-3716-471D-AEBD-AD3694AA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1255F-FC91-4B2D-B057-EC1289ED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87C77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33414-10ED-489D-8DDA-B371FA83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6383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87C77"/>
                </a:solidFill>
                <a:latin typeface="Aptos"/>
                <a:ea typeface="Aptos"/>
                <a:cs typeface="Aptos"/>
              </a:rPr>
              <a:t>Configuration idea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E3FBC-34C1-415E-A4DB-397F93EF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383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87C77"/>
                </a:solidFill>
                <a:latin typeface="Aptos"/>
                <a:ea typeface="Aptos"/>
                <a:cs typeface="Aptos"/>
              </a:rPr>
              <a:t>Reason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88EAD-342E-4C09-B210-753C2D9D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61DD0-299D-4BAB-8B00-6DCFFC42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E9BBE0-40F9-4B4D-9EC9-A413AB3C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717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CNN + augmentation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1B71E-754B-40FF-A2E9-480BC5BC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17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Reduce overfitting on small images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69CC7-59FB-418F-A919-08F4A3DE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BFBBB3-8B98-4DBF-9B9B-C73627DF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Imbalance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752FA-EA13-4EE8-B315-8ABBDFE7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05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class weights, weighted sampler, focal loss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E76828-7DB6-45AC-A81A-A80198C3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51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Improve minority and hard-class behavior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65059-0922-4312-82C9-0FF31994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884B6-8248-4B7F-BD4D-3AAD8E83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Optimization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5B778F-E8DC-4805-8EFB-99A78D5A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385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SGD, plateau LR, gradient clipping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824478-CC89-44E9-949F-A020E344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Stabilize refinement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61B3FF-B6CE-4219-BAF0-D1582179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8A39CF-BE04-4F0E-834D-8B556856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Crop evaluation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6EF3B0-1111-4FAD-B9B7-B60C2C30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71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RandomCrop + TenCrop-style averaging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BD159D-D1FA-4381-88C8-68415EC4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719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Test prediction stability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38916F-A54D-4B3E-B52C-DE536548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9F0618-AC6F-4CE1-93BE-9CF98BB3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Transfer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D0BFF6-4A0A-4436-BFFA-36134104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3053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ResNet18 / EfficientNet-B0 partial fine-tuning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D97BD9-FEB1-4F9B-ABF5-BA15F722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053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Reuse pretrained visual features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F793D9-41F6-4452-802A-EFE1E9A3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91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514E8B-2BF2-4C42-A67F-982A87F1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External validation on CK+ checks whether FER2013-trained models transfer to a different dataset.</a:t>
            </a:r>
          </a:p>
        </p:txBody>
      </p:sp>
    </p:spTree>
    <p:extLst>
      <p:ext uri="{BB962C8B-B14F-4D97-AF65-F5344CB8AC3E}">
        <p14:creationId xmlns:p14="http://schemas.microsoft.com/office/powerpoint/2010/main" val="19279040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C9814A-9C93-4FCA-A0D8-E8FCAF78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F19A5-A7D7-4F09-A033-0EDD668A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C0C91-B738-4A0E-A069-FC6F386C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B905B-F112-4DE0-B400-7A013317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65F99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AD6FE-4A6D-43FF-9BCE-27E2C09A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rPr>
              <a:t>Baseline improvements show that capacity and training strategy matter.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CA812-F56F-4096-9F58-92B9C08F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7CC69-5C91-4039-8637-7D364EA8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2143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Oversampling + focal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A81FA-A388-4306-85D7-21025355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57350"/>
            <a:ext cx="3076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DD90E-159E-4821-9708-8F5BA8CF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57350"/>
            <a:ext cx="2122837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F0653-8D89-414C-9F8E-E8A8465A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240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0.483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903FE-4769-4A3C-A632-9BE5F3A5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143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Aug + sampler + 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8CA1A-5F93-43D4-83D1-48ED0E58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3076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E3611-A148-431C-8A5A-1B1B50BD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2615089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2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E8597-B5C7-4FD3-8576-515B09E5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193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0.595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D220E-B309-400C-ACBE-1721D7EE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143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Aug + sampler + focal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5339A-D099-4E5C-8760-CB28803C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47950"/>
            <a:ext cx="3076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39650-A18E-4E86-839B-0AC260BE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47950"/>
            <a:ext cx="265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9A653-6FDA-457F-9BB0-D8305C60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146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0.603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986443-A491-4FAA-805B-171A5490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143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Deeper CNN, 80 epochs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7AE9A2-775A-44AC-80A2-5687BE3F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3076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263637-8ADB-49A6-B77F-9102A3C7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2742547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CA91FC-7655-43DA-AB04-5F46B100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099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0.624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796801-7B13-4CE8-8FEF-E243177E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57350"/>
            <a:ext cx="333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F0959E-1A47-46AA-B607-9458082E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5F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5F99"/>
                </a:solidFill>
                <a:latin typeface="Aptos"/>
                <a:ea typeface="Aptos"/>
                <a:cs typeface="Aptos"/>
              </a:rPr>
              <a:t>Best baseline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75BD0D-1B54-4758-B7A2-B99E5F7F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71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5F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5F99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30CB51-89B4-4405-BDA0-CE66B2CC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33600"/>
            <a:ext cx="333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D37B05-F856-4A66-AE7E-D2D61192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Test macro F1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94E35F-C286-44E5-9E92-21289C1A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0.624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9EDF55-0D89-401A-8C7C-E62E2992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09850"/>
            <a:ext cx="333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E76C02-BA31-491A-954C-895D59D9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766928-DEBD-44B4-ADBF-5FA0A896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24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0.649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3F946B-1ED2-414C-82E6-732651AA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86100"/>
            <a:ext cx="333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83006C-1436-4939-95CE-BB6D9AAF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04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Top confusion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4154D8-D619-423A-A954-34D7C63A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004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sad -&gt; neutral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2C4D98-5A68-4318-BD3B-6A4CE891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Fear F1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82C383-01BF-4C75-8DC5-FD3070A0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290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ED8B06-AF3C-4D03-99AC-D8335FD9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29075"/>
            <a:ext cx="78867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1514F7-F2BB-4E9E-877C-810121F2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00050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0.414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CF68BA-1C48-4ED0-9374-6440C59C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434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Happy F1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2E7528-AB94-492E-80BE-A5684538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719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5F7CAF-6687-4758-B073-8ECF7279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71975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C8B298-7DDC-4149-A775-079BD9E1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34340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0.870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363332-430E-419A-92AA-8C7D6ADB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863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Neutral F1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608ED3-EFF9-4ECB-BC4D-EC04AF9F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148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AD8C53-D3E8-410D-948D-8707D55B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14875"/>
            <a:ext cx="119253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BC8BDE-8B38-4A8A-A859-38CDCA72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68630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0.626</a:t>
            </a:r>
          </a:p>
        </p:txBody>
      </p:sp>
    </p:spTree>
    <p:extLst>
      <p:ext uri="{BB962C8B-B14F-4D97-AF65-F5344CB8AC3E}">
        <p14:creationId xmlns:p14="http://schemas.microsoft.com/office/powerpoint/2010/main" val="182176556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78EF4C-A43D-4730-9F81-22E99587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277E7-5E74-4EC8-AB43-8D3368B3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C1061-9217-4E0C-BFC8-777339C6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538F3-6FE4-47FD-8BA8-5D89431A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65F99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12A98-62BB-423D-B9CC-F907E0C2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rPr>
              <a:t>ResNet18 fine-tuning produced the strongest FER2013 test performance.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2B69E-D7F2-4065-8926-93F15DF2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F8BE1-2AA7-4A0F-A335-ED4E2043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2143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Feature extract FC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6ECD1-FFDC-42C6-B34D-A47E7921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19250"/>
            <a:ext cx="4124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8ED98-28A7-4218-A5AD-AF6EF2D8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19250"/>
            <a:ext cx="2016337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A8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C1190-6629-4C67-A25B-73C74E96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859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0.352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3CECB-FF73-463D-810B-96251756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2143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Unfreeze layer4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7DCBA0-4777-408E-B9D8-DC9723D2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14550"/>
            <a:ext cx="4124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898D0-149F-45AD-9D21-DAA59382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14550"/>
            <a:ext cx="347703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2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C15EF-F8AD-404B-B57B-61375F61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812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0.607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B742A-ADF8-4B41-9A7A-2E2A4397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143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Layer3 + sampler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D69E10-30D9-4067-9D09-B23E21D4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09850"/>
            <a:ext cx="4124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2E6E70-9E08-4BB2-B817-BE1E2E67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09850"/>
            <a:ext cx="3717621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D8B7C-BA6D-485D-93C5-5BEA5EA7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765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0.649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84E6A7-B8E2-4944-8315-C67F5C2C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2143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Layer3 + weights + focal + SGD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B872F4-7EE3-495E-B44B-8EEDBD1F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05150"/>
            <a:ext cx="4124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E06E5-CA0D-4F41-846F-1006F90A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05150"/>
            <a:ext cx="3872283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7F70AB-7B8D-47DE-9539-A24CDC14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718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0.676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41C809-063B-4C7D-9E43-198FCFEA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9070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1BA976-3A25-4F42-A785-6A457AC6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907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E46D06-D627-45BF-B253-D1FF91A5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943100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65F9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65F99"/>
                </a:solidFill>
                <a:latin typeface="Aptos"/>
                <a:ea typeface="Aptos"/>
                <a:cs typeface="Aptos"/>
              </a:rPr>
              <a:t>BEST RESNET18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EA3514-D0A1-4B7B-B3D9-6B178230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200275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0.676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77E8DB-C282-492C-9658-FF502C61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5908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test macro F1, with 0.685 weighted F1.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1B8173-9793-43E0-AFDA-ED59808C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33750"/>
            <a:ext cx="2476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6F068C-F1EB-4673-9532-3F8EAF87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3375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2F07F5-5FF9-432E-B462-D517650F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486150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87C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87C77"/>
                </a:solidFill>
                <a:latin typeface="Aptos"/>
                <a:ea typeface="Aptos"/>
                <a:cs typeface="Aptos"/>
              </a:rPr>
              <a:t>MAIN TRADEOFF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2B9054-FA4C-4EE8-8369-732F4D40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743325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fine-tuning depth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DDB4FA-52F3-4114-9925-98E891B6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133850"/>
            <a:ext cx="2152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Feature extraction alone was much weaker than partial unfreezing.</a:t>
            </a:r>
          </a:p>
        </p:txBody>
      </p:sp>
    </p:spTree>
    <p:extLst>
      <p:ext uri="{BB962C8B-B14F-4D97-AF65-F5344CB8AC3E}">
        <p14:creationId xmlns:p14="http://schemas.microsoft.com/office/powerpoint/2010/main" val="210489466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B6BF2B-8994-448E-81EC-A2763B1D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D7EDF-52A7-4B8E-A6E4-51214E65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CFD9B-551F-4C9F-BAE8-B14F0370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3CFDB-E2AB-411F-A38C-BD972A56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7C77"/>
                </a:solidFill>
                <a:latin typeface="Aptos"/>
                <a:ea typeface="Aptos"/>
                <a:cs typeface="Aptos"/>
              </a:rPr>
              <a:t>COMPARISON AGAINST BASELINES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E142F-308E-40AE-A96E-A044A06C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rPr>
              <a:t>The final FER2013 comparison favors ResNet18 over both implemented baselines.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CDEFE-DA0F-4703-8B89-2EB1EFDE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82F7B-BB5E-471B-951A-EF910E8E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2143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Best baseline CNN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81ACB-80F0-4C09-BA17-B98A6F60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2600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0974A-7D07-4FCE-9560-39D1AAF7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225361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C7640-030F-4402-B5EC-36FE4C3C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764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0.624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FA97B-C974-4475-8D7A-2F78823E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143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Best EfficientNet-B0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27862-63A4-4BE4-A9B7-7231A52D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05050"/>
            <a:ext cx="2600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2B332-282A-4315-B18E-25C93C9A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05050"/>
            <a:ext cx="2257227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1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0B005-A237-4E6C-96DE-68FD5ABF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717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0.625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5A5C1-5EA7-4259-841B-102D1678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143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Best ResNet18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33F0AD-9B42-46B2-8196-91CD8828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2600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343BA-809B-413C-A66F-1346B1BD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244141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A7377B-D09B-447A-B87F-478DF6A7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670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0.676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526564-BD73-4DDB-A485-AD04238B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66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B3D4C6-E085-4E09-BFEC-1E4CFDCA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288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87C77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35CEAD-A0F3-4299-9C02-754270F4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288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87C77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1EBB7E-0F96-432A-B92A-46BFA697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8288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87C77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9214C9-E1C9-4CC2-A0CE-6A4AD237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1828800"/>
            <a:ext cx="1476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87C77"/>
                </a:solidFill>
                <a:latin typeface="Aptos"/>
                <a:ea typeface="Aptos"/>
                <a:cs typeface="Aptos"/>
              </a:rPr>
              <a:t>Top confusion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8E347C-B26A-4AC3-BFC2-A9CE018A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28850"/>
            <a:ext cx="466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608EA4-7FC3-4B47-A3E0-C2972BA4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43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Baseline CNN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4238C5-9887-4BAD-BD0F-E63573B9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4315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0.624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386E7D-DCDF-40B4-8CBE-EC8ECF7F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3431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0.649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1E97E5-34BC-46D9-A6A3-F70C288F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343150"/>
            <a:ext cx="1476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sad -&gt; neutral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9A7557-FD48-4FB9-B2CF-50DFFA6E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466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86424B-C016-4A1C-B223-EFD1D3C9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EfficientNet-B0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B6FE4E-6EAD-408C-8006-78A0CDEE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575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0.625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1E72CB-6ED3-469B-844B-965BE7FA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8575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0.646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757161-DE2D-49D6-AD5F-18D887A3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857500"/>
            <a:ext cx="1476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sad -&gt; neutral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AC4CC5-6B80-4521-9580-C81EB181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57550"/>
            <a:ext cx="466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E1981B-EEE8-45F6-BAF2-7326277B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718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ResNet18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A0431A-4774-41DA-80D9-98D38705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7185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0.676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217A24-2E87-4E4E-B7A2-D4882AA7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3718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0.685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E9F4D0-3AD6-4BE9-890E-8BBD62A3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71850"/>
            <a:ext cx="1476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sad -&gt; neutral</a:t>
            </a:r>
          </a:p>
        </p:txBody>
      </p:sp>
    </p:spTree>
    <p:extLst>
      <p:ext uri="{BB962C8B-B14F-4D97-AF65-F5344CB8AC3E}">
        <p14:creationId xmlns:p14="http://schemas.microsoft.com/office/powerpoint/2010/main" val="11690157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D6F38B-642F-488D-983C-2169E622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6B2C0-6E8D-4FCF-AB03-F287EF1C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0A070-A1EC-42EC-B1F3-221AD171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53D49-DFB3-4693-B673-193E256D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5E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65E2E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DCC35-3E2E-46A0-A4B5-94D5949E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rPr>
              <a:t>Per-class scores show the model is strong on clear expressions and weaker on ambiguous 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2E2E0-2BBC-4DE3-AD99-BA99130D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182E7-ED29-4E1B-BD99-83706926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676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600B3-EAE4-4824-B735-A5304533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1095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5E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5E2E"/>
                </a:solidFill>
                <a:latin typeface="Aptos"/>
                <a:ea typeface="Aptos"/>
                <a:cs typeface="Aptos"/>
              </a:rPr>
              <a:t>Class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079AB-EF74-47E2-9386-1E3F0838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562100"/>
            <a:ext cx="809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5E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5E2E"/>
                </a:solidFill>
                <a:latin typeface="Aptos"/>
                <a:ea typeface="Aptos"/>
                <a:cs typeface="Aptos"/>
              </a:rPr>
              <a:t>ResNet18 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A21CB-0834-46DB-8FF6-131C7352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562100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5E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5E2E"/>
                </a:solidFill>
                <a:latin typeface="Aptos"/>
                <a:ea typeface="Aptos"/>
                <a:cs typeface="Aptos"/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9B263-237E-4262-AC17-AED6D000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76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5181D-9E8B-4617-BE82-5C64EBD1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095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Happy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FD3C0-CFD5-4604-A267-C58BDC6D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019300"/>
            <a:ext cx="809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0.881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28F77-CD47-445E-B4C1-4C7CC4FD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19300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clearest and most frequent class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A613A-2861-4E25-BAD2-85AE5B0D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676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940F8-0608-40F3-8F31-07DA2708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95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Surprise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C705B-9437-4A72-872C-853B267C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476500"/>
            <a:ext cx="809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0.803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A6630-7110-45AC-AF04-EEA46279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76500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distinct expression pattern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DDBDB0-3D6A-4ACE-B0EE-F20CDC14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676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169503-5FCE-4D03-B7D4-4DE4BB25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095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Disgust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834424-DE41-48A6-B1C4-D93D9973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933700"/>
            <a:ext cx="809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0.713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45C9BE-02FE-4460-B682-B99BA3AE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33700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small class but improved with weighting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C0BF9F-D3D9-44F9-9154-696682B1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676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B9C0DD-C563-44AB-B101-A4F6BF91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1095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Neutral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DFF3CD-14D1-4C48-AF0B-4433EEE0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390900"/>
            <a:ext cx="809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0.646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F856A5-D630-4E8F-BB05-058144DB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90900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often confused with sad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50A12C-C83C-4694-8E24-CF1C3FCA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676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3DFCA8-D4A5-4A33-8808-C0744D0A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1095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Angry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20D928-9DAB-4012-A775-5CD476C1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848100"/>
            <a:ext cx="809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0.611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BF1AD7-8F05-4437-BA83-60D0A040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48100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moderate ambiguity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BB3B04-9705-4951-907F-1E3E44B1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676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BB4A26-332E-4B17-868E-DED03CF5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1095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Sad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036F92-8DE6-4073-84AD-82FE78F6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305300"/>
            <a:ext cx="809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0.558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5F7CEC-A115-4A31-BC4B-B5651B95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05300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main confusion with neutral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7F7641-D6D3-43D8-84BA-3CC3A15F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676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2751BC-97B6-4854-8957-649C5417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095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Fear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7D659D-564B-4D36-A767-08FF7563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762500"/>
            <a:ext cx="809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0.518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24C69F-F1D0-4A3E-A1C3-B79C2A1F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hardest class in final model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ED5E0B-1A24-42D3-BEDC-C8FA84AC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573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Happy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44DBE2-294E-4952-BEE0-7A60E853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68592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8AAE03-3B88-4AEA-9105-6A72C83F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685925"/>
            <a:ext cx="121210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B39054-C95D-4018-AC79-440F8CBF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6573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0.881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4EA4D6-6023-4B04-B6A0-2CA14317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Surprise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B25F8E-1B18-476B-B53F-A9CBFB26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12407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FE6E71-FE4A-456A-AAC4-599FBFED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124075"/>
            <a:ext cx="110479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515502-D848-4E17-8597-61286DB0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9550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0.803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F55720-4B26-47EA-A350-60011FA8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33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Neutral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527F21-3F06-4376-9E1A-77FD07F6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6222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45E886-053D-41E6-B499-8F1B4EF4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62225"/>
            <a:ext cx="88878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909C9B-6503-4B93-AC92-FEFDB4F6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5336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0.646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92DF843-5E46-45B3-80F7-7F493260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718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Sad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DBA00A-CC1D-44E3-93DC-1F89F17C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0037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CDF3FC-6E17-49D6-9A71-1B464299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00375"/>
            <a:ext cx="76771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9268E8-6726-4184-93D2-7AB5FCC6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7180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0.558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6822843-D21A-4508-85D8-B396EE8D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09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Fear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C55FD0D-47D0-4BCF-9399-AC544B95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43852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D0905C9-DD2D-465B-B6AE-33014AFB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438525"/>
            <a:ext cx="71268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6EB97C8-D448-4B80-A277-C2A1E1F3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099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0.518</a:t>
            </a:r>
          </a:p>
        </p:txBody>
      </p:sp>
    </p:spTree>
    <p:extLst>
      <p:ext uri="{BB962C8B-B14F-4D97-AF65-F5344CB8AC3E}">
        <p14:creationId xmlns:p14="http://schemas.microsoft.com/office/powerpoint/2010/main" val="150821088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498A1B-2BA4-426B-AACA-4A169E59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0160B-CB6F-4160-9F8C-4F9D3B9A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C7227-C99C-401D-BF9A-683EE533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C50AC-B416-449E-86D2-E934EC4E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5E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65E2E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2FD55-A107-43A6-A989-C47EF779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rPr>
              <a:t>The confusion matrix confirms the affect-space interpretation.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00440-29E0-407A-95B5-8F8C2D1E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1ED7C-807A-45F6-BF33-AD982C84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47825"/>
            <a:ext cx="62103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3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72cbee8a54e13"/>
          <a:stretch xmlns:a="http://schemas.openxmlformats.org/drawingml/2006/main"/>
        </p:blipFill>
        <p:spPr>
          <a:xfrm xmlns:a="http://schemas.openxmlformats.org/drawingml/2006/main">
            <a:off x="628650" y="2256763"/>
            <a:ext cx="6191250" cy="30874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7A628-8CA3-4F6F-8779-92247509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71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8462D-EA5C-484C-92EA-7E472FE5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Repeated top confusion: sad -&gt; neutral.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ED911-899F-4F12-AB22-78E840EC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14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E8B07-5B0C-4A4C-A13D-50F02BD1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193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Fear is often absorbed into sad, angry, surprise, or neutral.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75739-16EC-4950-9617-1D08E7FC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F7960-521E-4BC6-AED6-6DC3929D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623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Happy and surprise are much cleaner than fear and sad.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9EF427-A8BF-4173-981F-6BB1C60B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8F125C-2E8A-41F4-B8A8-8D86C067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The model learns useful structure, but subtle affective boundaries remain weak.</a:t>
            </a:r>
          </a:p>
        </p:txBody>
      </p:sp>
    </p:spTree>
    <p:extLst>
      <p:ext uri="{BB962C8B-B14F-4D97-AF65-F5344CB8AC3E}">
        <p14:creationId xmlns:p14="http://schemas.microsoft.com/office/powerpoint/2010/main" val="140532521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B40006-AE0D-4EB3-A9BF-A598D553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00E6C-219E-424E-8FCA-D7DBBFFF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3AE78-298F-453B-86A4-C89FF259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D39BE-8ABA-41FB-BF98-9C07D9CD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7C77"/>
                </a:solidFill>
                <a:latin typeface="Aptos"/>
                <a:ea typeface="Aptos"/>
                <a:cs typeface="Aptos"/>
              </a:rPr>
              <a:t>COMPARISON AND EXTERNAL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03F53-0EEC-4B7C-B29C-4B50A304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rPr>
              <a:t>CK+ changes the ranking, showing domain shift.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3706A-460E-4D32-8E65-9067420B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79970-572E-454F-BF25-B0F1F7BA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14475"/>
            <a:ext cx="44958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3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5d223bd104c01"/>
          <a:stretch xmlns:a="http://schemas.openxmlformats.org/drawingml/2006/main"/>
        </p:blipFill>
        <p:spPr>
          <a:xfrm xmlns:a="http://schemas.openxmlformats.org/drawingml/2006/main">
            <a:off x="666750" y="2194984"/>
            <a:ext cx="4476750" cy="232515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A720B-AFC2-4A3B-A900-065F8915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19250"/>
            <a:ext cx="4953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1FADF-2C2F-4BA1-8491-8B1167F5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33550"/>
            <a:ext cx="1809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87C77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4B2AC-DD7F-4EB9-B76D-CE4E3C92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33550"/>
            <a:ext cx="1238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87C77"/>
                </a:solidFill>
                <a:latin typeface="Aptos"/>
                <a:ea typeface="Aptos"/>
                <a:cs typeface="Aptos"/>
              </a:rPr>
              <a:t>CK+ macro 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2BB48-A51A-4627-B80B-D27C2168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33550"/>
            <a:ext cx="1333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87C77"/>
                </a:solidFill>
                <a:latin typeface="Aptos"/>
                <a:ea typeface="Aptos"/>
                <a:cs typeface="Aptos"/>
              </a:rPr>
              <a:t>CK+ weighted 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F16D6-5C05-4FB4-92AC-4A7D60D0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43125"/>
            <a:ext cx="4953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0B8E5-F931-4959-8E3A-15DEB266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57425"/>
            <a:ext cx="1809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Baseline CNN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AC443-0845-45CC-A1F2-2FE599D9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57425"/>
            <a:ext cx="1238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0.724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C29C3-EF75-4E74-9E2C-4F13E995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57425"/>
            <a:ext cx="1333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0.799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A9284-AD6A-4774-8CEA-C19C2DE6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0"/>
            <a:ext cx="4953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62509E-B2D0-4E45-8515-3FC2277C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1809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ResNet18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BA5A3E-F78A-4D29-8E6D-054BA27E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1238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0.707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41FB3-7FAA-4BAD-96D9-C546009D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81300"/>
            <a:ext cx="1333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0.774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A83D8-7D86-42A9-A7CF-768987D4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90875"/>
            <a:ext cx="4953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D557DC-023D-44E8-A488-A2A07F73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05175"/>
            <a:ext cx="1809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EfficientNet-B0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C2699F-E078-40E7-8A4D-0A1BBC4D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05175"/>
            <a:ext cx="1238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0.582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97F73C-83D6-4968-9632-71A4B613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05175"/>
            <a:ext cx="1333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0.676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5EADDE-4982-4188-A498-457FFA20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095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34F93B-4753-45F7-B3D1-5DC4398D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E0B8F1-A329-47C7-B95D-E54B1C30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52900"/>
            <a:ext cx="3771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87C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87C77"/>
                </a:solidFill>
                <a:latin typeface="Aptos"/>
                <a:ea typeface="Aptos"/>
                <a:cs typeface="Aptos"/>
              </a:rPr>
              <a:t>OBSERVATION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997101-025B-4E64-B910-DD7B8999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0075"/>
            <a:ext cx="3771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FER2013 != CK+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AA1888-4CB1-4E35-804C-E7594FE9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00600"/>
            <a:ext cx="3771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The best FER2013 model does not dominate external validation, so dataset shift is a real limitation.</a:t>
            </a:r>
          </a:p>
        </p:txBody>
      </p:sp>
    </p:spTree>
    <p:extLst>
      <p:ext uri="{BB962C8B-B14F-4D97-AF65-F5344CB8AC3E}">
        <p14:creationId xmlns:p14="http://schemas.microsoft.com/office/powerpoint/2010/main" val="15376691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860CDE-326F-4EEA-9CD8-4FE3A480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7F501-C04E-4337-994C-2B16AC6E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36FCC-08E8-441F-B7DE-6C1C79D8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37C67-BE46-45AA-B8FF-FFD4C70D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5E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65E2E"/>
                </a:solidFill>
                <a:latin typeface="Aptos"/>
                <a:ea typeface="Aptos"/>
                <a:cs typeface="Aptos"/>
              </a:rPr>
              <a:t>DISCUSSION OF LIMITATIONS AND OBSERVATIONS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9AFBB-5548-4268-8C7A-3E79D01B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rPr>
              <a:t>The model is confident enough to be useful, but not reliable enough to overclaim.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07F76-7419-4AD7-B7AB-F45A9C11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70276-9737-42A0-A066-04AB4633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647825"/>
            <a:ext cx="51625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3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0e84411fb4a7f"/>
          <a:stretch xmlns:a="http://schemas.openxmlformats.org/drawingml/2006/main"/>
        </p:blipFill>
        <p:spPr>
          <a:xfrm xmlns:a="http://schemas.openxmlformats.org/drawingml/2006/main">
            <a:off x="685800" y="2863141"/>
            <a:ext cx="5143500" cy="111266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4D771-488E-41EE-B188-D304127C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95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44545-ACDF-44DB-B7A4-C469CD69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600200"/>
            <a:ext cx="4095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Low image resolution and noisy labels limit the ceiling.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E4302-355C-44F2-9582-C71B3898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14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7BC4A-F80E-4B03-84D1-2DA3A168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19325"/>
            <a:ext cx="4095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Class imbalance remains visible despite weighting and focal loss.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D58AC-F275-482D-A1A3-0DD89ADA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33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CACCD-4BDA-482F-8AD1-63F52EB2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38450"/>
            <a:ext cx="4095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Emotion boundaries are not purely categorical; affect-space proximity matters.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1982B-11ED-4246-905A-474FA6E6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52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EBD9E9-75D2-4C1F-84B2-B0C7CBC5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57575"/>
            <a:ext cx="4095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External validation suggests domain shift between FER2013 and CK+.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90365-E6DD-46F7-976E-46D43F18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71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16ADD-81E3-4D39-8289-7800D27A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76700"/>
            <a:ext cx="4095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No explicit face alignment pipeline was used.</a:t>
            </a:r>
          </a:p>
        </p:txBody>
      </p:sp>
    </p:spTree>
    <p:extLst>
      <p:ext uri="{BB962C8B-B14F-4D97-AF65-F5344CB8AC3E}">
        <p14:creationId xmlns:p14="http://schemas.microsoft.com/office/powerpoint/2010/main" val="45291503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FDF9CB-ECD9-45D1-A4A3-DEEECCAE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3148A-07FE-446D-86D9-A6B06307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C687D-8E3B-44FB-A9BE-CA300EAE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D0114-8B78-411C-A790-9FE99507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65F99"/>
                </a:solidFill>
                <a:latin typeface="Aptos"/>
                <a:ea typeface="Aptos"/>
                <a:cs typeface="Aptos"/>
              </a:rPr>
              <a:t>CONCLUSIONS AND FUTURE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A7638-E9E8-4606-8844-C3030266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D2329"/>
                </a:solidFill>
                <a:latin typeface="Aptos Display"/>
                <a:ea typeface="Aptos Display"/>
                <a:cs typeface="Aptos Display"/>
              </a:rPr>
              <a:t>The project improves FER2013 performance and clarifies where the problem remains hard.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D9FBF-686E-4EE7-822A-268365E8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68F9D-F667-4BCE-8B42-CEA8D3AA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73076-CDEB-4858-99F6-9478AA1E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9D2F7-5EF6-40C8-B9AD-F7194764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71650"/>
            <a:ext cx="2533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65F9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65F99"/>
                </a:solidFill>
                <a:latin typeface="Aptos"/>
                <a:ea typeface="Aptos"/>
                <a:cs typeface="Aptos"/>
              </a:rPr>
              <a:t>CONCLUSION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30D75-3C34-4F57-A9C9-1CED633F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28825"/>
            <a:ext cx="2533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ResNet18 wins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C1449-1DD1-4CE8-9E1B-92F0C3AE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2533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Best FER2013 result among implemented models: 0.676 test macro F1.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7E2C0B-240F-4B3C-B60C-947A5652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192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B26E8-1BC9-4E06-B1DA-393BC85A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19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38EFB-95AE-41B2-9ACB-5E8E77B7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71650"/>
            <a:ext cx="2533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87C7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87C77"/>
                </a:solidFill>
                <a:latin typeface="Aptos"/>
                <a:ea typeface="Aptos"/>
                <a:cs typeface="Aptos"/>
              </a:rPr>
              <a:t>CONCLUSION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34C5A-0D41-49A7-85DC-58F5E09B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28825"/>
            <a:ext cx="2533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Metrics matter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E2AC2-077E-4CC1-A0A8-DBB62472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19350"/>
            <a:ext cx="2533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Macro F1, per-class F1, and confusion matrices reveal behavior hidden by aggregate scores.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DA664-5399-46F1-8EFF-6C18457E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192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DCCF80-93A6-4EFB-9FA2-EC0AF240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19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E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6378EE-6390-43EA-80F9-E10E10B7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71650"/>
            <a:ext cx="2533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65E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65E2E"/>
                </a:solidFill>
                <a:latin typeface="Aptos"/>
                <a:ea typeface="Aptos"/>
                <a:cs typeface="Aptos"/>
              </a:rPr>
              <a:t>CONCLUSION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E6183C-24BA-4450-B992-0B8D5E23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28825"/>
            <a:ext cx="2533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D2329"/>
                </a:solidFill>
                <a:latin typeface="Aptos"/>
                <a:ea typeface="Aptos"/>
                <a:cs typeface="Aptos"/>
              </a:rPr>
              <a:t>Domain shift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96199-3C33-4A01-BA6F-74918EC6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19350"/>
            <a:ext cx="2533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670"/>
                </a:solidFill>
                <a:latin typeface="Aptos"/>
                <a:ea typeface="Aptos"/>
                <a:cs typeface="Aptos"/>
              </a:rPr>
              <a:t>CK+ validation shows that dataset transfer changes the story.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0792F5-4454-41DB-9ED4-AC362B6F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904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6896F8-1136-4273-8393-C1A2F71D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290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5F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5F99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AE5CD4-1A5F-489F-87F9-4C534CD0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29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5F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5F99"/>
                </a:solidFill>
                <a:latin typeface="Aptos"/>
                <a:ea typeface="Aptos"/>
                <a:cs typeface="Aptos"/>
              </a:rPr>
              <a:t>Expected benefit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EC9556-C80F-40C9-AA05-412FAD58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904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A5C39D-C7CF-4852-B741-2E65366C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Face alignment and better cropping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426B94-4E18-4A6B-9538-6AFFCE6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48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Reduce pose and background variation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E6C0B4-B115-44BA-80D0-2A5E0473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0"/>
            <a:ext cx="904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EAAD94-30A4-48B1-9556-2DCC7033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Label-noise handling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BC8069-DF8C-4AA0-A150-57DDE98B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Reduce penalty from ambiguous/noisy annotations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4F142F-AE2A-4B30-BC3D-A292573C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04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9057A8-3089-4041-B57E-9295DD5F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863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Stronger augmentation or ensembles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64B560-B5E0-46BE-997C-F5E5DA61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Improve robustness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6B5FDE-CD8B-439B-820C-804C48A1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91150"/>
            <a:ext cx="904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D9D621-00FD-49AF-AECF-88F87F03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054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Attention or transformer-based FER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D7C7F8-F41F-4693-B359-A958D372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054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Model subtle spatial expression cues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FA0744-A22A-4217-978F-249AD4C9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10250"/>
            <a:ext cx="904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D4B8BE-D370-4368-B152-435D9A09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245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Calibration and confidence analysis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8497F4-FE2F-401C-98BE-B50C5157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245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329"/>
                </a:solidFill>
                <a:latin typeface="Aptos"/>
                <a:ea typeface="Aptos"/>
                <a:cs typeface="Aptos"/>
              </a:rPr>
              <a:t>Make predictions more trustworthy</a:t>
            </a:r>
          </a:p>
        </p:txBody>
      </p:sp>
    </p:spTree>
    <p:extLst>
      <p:ext uri="{BB962C8B-B14F-4D97-AF65-F5344CB8AC3E}">
        <p14:creationId xmlns:p14="http://schemas.microsoft.com/office/powerpoint/2010/main" val="18888462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2026-05-30T14:58:02.6120000Z</dcterms:created>
  <dcterms:modified xsi:type="dcterms:W3CDTF">2026-05-30T14:58:02.6120000Z</dcterms:modified>
</coreProperties>
</file>