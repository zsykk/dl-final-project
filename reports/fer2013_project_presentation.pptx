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212184f504487b" /><Relationship Type="http://schemas.openxmlformats.org/officeDocument/2006/relationships/extended-properties" Target="/docProps/app.xml" Id="R5b172222733d42ae" /><Relationship Type="http://schemas.openxmlformats.org/officeDocument/2006/relationships/officeDocument" Target="/ppt/presentation.xml" Id="Rc1d9b0aec2774a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5a5f3817b34146"/>
  </p:sldMasterIdLst>
  <p:notesMasterIdLst>
    <p:notesMasterId xmlns:r="http://schemas.openxmlformats.org/officeDocument/2006/relationships" r:id="R65b57d1381754523"/>
  </p:notesMasterIdLst>
  <p:sldIdLst>
    <p:sldId xmlns:r="http://schemas.openxmlformats.org/officeDocument/2006/relationships" id="256" r:id="R1420fb33de964964"/>
    <p:sldId xmlns:r="http://schemas.openxmlformats.org/officeDocument/2006/relationships" id="257" r:id="Rc99d0edaed714cd6"/>
    <p:sldId xmlns:r="http://schemas.openxmlformats.org/officeDocument/2006/relationships" id="258" r:id="R99f52e2db6c741e5"/>
    <p:sldId xmlns:r="http://schemas.openxmlformats.org/officeDocument/2006/relationships" id="259" r:id="R12aba16db7a44f73"/>
    <p:sldId xmlns:r="http://schemas.openxmlformats.org/officeDocument/2006/relationships" id="260" r:id="R743ff469103e4f9d"/>
    <p:sldId xmlns:r="http://schemas.openxmlformats.org/officeDocument/2006/relationships" id="261" r:id="R20f67ac05ec74878"/>
    <p:sldId xmlns:r="http://schemas.openxmlformats.org/officeDocument/2006/relationships" id="262" r:id="R0dc68aed360c478b"/>
    <p:sldId xmlns:r="http://schemas.openxmlformats.org/officeDocument/2006/relationships" id="263" r:id="R86f5e0a3f250406f"/>
    <p:sldId xmlns:r="http://schemas.openxmlformats.org/officeDocument/2006/relationships" id="264" r:id="R69b9989bb6134eb1"/>
    <p:sldId xmlns:r="http://schemas.openxmlformats.org/officeDocument/2006/relationships" id="265" r:id="R5f194d36847047d4"/>
    <p:sldId xmlns:r="http://schemas.openxmlformats.org/officeDocument/2006/relationships" id="266" r:id="Rbcd9bc5e74ae4554"/>
    <p:sldId xmlns:r="http://schemas.openxmlformats.org/officeDocument/2006/relationships" id="267" r:id="Rdae0ab66752644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a5f3817b34146" /><Relationship Type="http://schemas.openxmlformats.org/officeDocument/2006/relationships/theme" Target="/ppt/theme/theme1.xml" Id="Rbc977fa3ae8c4d5e" /><Relationship Type="http://schemas.openxmlformats.org/officeDocument/2006/relationships/notesMaster" Target="/ppt/notesMasters/notesMaster1.xml" Id="R65b57d1381754523" /><Relationship Type="http://schemas.openxmlformats.org/officeDocument/2006/relationships/presProps" Target="/ppt/presProps.xml" Id="R9b7e472c27fb47ac" /><Relationship Type="http://schemas.openxmlformats.org/officeDocument/2006/relationships/viewProps" Target="/ppt/viewProps.xml" Id="R7e961b31ae9e4e0a" /><Relationship Type="http://schemas.openxmlformats.org/officeDocument/2006/relationships/tableStyles" Target="/ppt/tableStyles.xml" Id="Rc0571757ca414005" /><Relationship Type="http://schemas.openxmlformats.org/officeDocument/2006/relationships/slide" Target="/ppt/slides/slide1.xml" Id="R1420fb33de964964" /><Relationship Type="http://schemas.openxmlformats.org/officeDocument/2006/relationships/slide" Target="/ppt/slides/slide2.xml" Id="Rc99d0edaed714cd6" /><Relationship Type="http://schemas.openxmlformats.org/officeDocument/2006/relationships/slide" Target="/ppt/slides/slide3.xml" Id="R99f52e2db6c741e5" /><Relationship Type="http://schemas.openxmlformats.org/officeDocument/2006/relationships/slide" Target="/ppt/slides/slide4.xml" Id="R12aba16db7a44f73" /><Relationship Type="http://schemas.openxmlformats.org/officeDocument/2006/relationships/slide" Target="/ppt/slides/slide5.xml" Id="R743ff469103e4f9d" /><Relationship Type="http://schemas.openxmlformats.org/officeDocument/2006/relationships/slide" Target="/ppt/slides/slide6.xml" Id="R20f67ac05ec74878" /><Relationship Type="http://schemas.openxmlformats.org/officeDocument/2006/relationships/slide" Target="/ppt/slides/slide7.xml" Id="R0dc68aed360c478b" /><Relationship Type="http://schemas.openxmlformats.org/officeDocument/2006/relationships/slide" Target="/ppt/slides/slide8.xml" Id="R86f5e0a3f250406f" /><Relationship Type="http://schemas.openxmlformats.org/officeDocument/2006/relationships/slide" Target="/ppt/slides/slide9.xml" Id="R69b9989bb6134eb1" /><Relationship Type="http://schemas.openxmlformats.org/officeDocument/2006/relationships/slide" Target="/ppt/slides/slide10.xml" Id="R5f194d36847047d4" /><Relationship Type="http://schemas.openxmlformats.org/officeDocument/2006/relationships/slide" Target="/ppt/slides/slide11.xml" Id="Rbcd9bc5e74ae4554" /><Relationship Type="http://schemas.openxmlformats.org/officeDocument/2006/relationships/slide" Target="/ppt/slides/slide12.xml" Id="Rdae0ab66752644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20531daa5a245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b7d45502874132" /><Relationship Type="http://schemas.openxmlformats.org/officeDocument/2006/relationships/notesMaster" Target="/ppt/notesMasters/notesMaster1.xml" Id="R8da3fc23a6ad4c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e34f53dbd541b7" /><Relationship Type="http://schemas.openxmlformats.org/officeDocument/2006/relationships/notesMaster" Target="/ppt/notesMasters/notesMaster1.xml" Id="R85b16051e7ef45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af4a620a334bfb" /><Relationship Type="http://schemas.openxmlformats.org/officeDocument/2006/relationships/notesMaster" Target="/ppt/notesMasters/notesMaster1.xml" Id="Ra6aa5eb7ff9542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314d01a86a4c68" /><Relationship Type="http://schemas.openxmlformats.org/officeDocument/2006/relationships/notesMaster" Target="/ppt/notesMasters/notesMaster1.xml" Id="R396d80340a8845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c37166cffe40b0" /><Relationship Type="http://schemas.openxmlformats.org/officeDocument/2006/relationships/notesMaster" Target="/ppt/notesMasters/notesMaster1.xml" Id="Rdf09700ef3fa4c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d7e19a4c904677" /><Relationship Type="http://schemas.openxmlformats.org/officeDocument/2006/relationships/notesMaster" Target="/ppt/notesMasters/notesMaster1.xml" Id="Racae9d08df024b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b1c0d1886a48bb" /><Relationship Type="http://schemas.openxmlformats.org/officeDocument/2006/relationships/notesMaster" Target="/ppt/notesMasters/notesMaster1.xml" Id="R71d1ddc44e9f42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65602e17a44f08" /><Relationship Type="http://schemas.openxmlformats.org/officeDocument/2006/relationships/notesMaster" Target="/ppt/notesMasters/notesMaster1.xml" Id="R6722b094bf1142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640eba86cd4434" /><Relationship Type="http://schemas.openxmlformats.org/officeDocument/2006/relationships/notesMaster" Target="/ppt/notesMasters/notesMaster1.xml" Id="R6e86d8a3540c48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0678c56aef4912" /><Relationship Type="http://schemas.openxmlformats.org/officeDocument/2006/relationships/notesMaster" Target="/ppt/notesMasters/notesMaster1.xml" Id="Ra30b130aeaa348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729b2de5964d69" /><Relationship Type="http://schemas.openxmlformats.org/officeDocument/2006/relationships/notesMaster" Target="/ppt/notesMasters/notesMaster1.xml" Id="R846c9e40ab9d47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57addf02b64973" /><Relationship Type="http://schemas.openxmlformats.org/officeDocument/2006/relationships/notesMaster" Target="/ppt/notesMasters/notesMaster1.xml" Id="R5c1492fad0674f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8da025cff414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01891c2f37b4f18" /><Relationship Type="http://schemas.openxmlformats.org/officeDocument/2006/relationships/slideLayout" Target="/ppt/slideLayouts/slideLayout2.xml" Id="Re96897dc915142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6897dc915142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57c2913d8a454c" /><Relationship Type="http://schemas.openxmlformats.org/officeDocument/2006/relationships/notesSlide" Target="/ppt/notesSlides/notesSlide1.xml" Id="R9808b98992d146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a27a8c39eb4aa7" /><Relationship Type="http://schemas.openxmlformats.org/officeDocument/2006/relationships/notesSlide" Target="/ppt/notesSlides/notesSlide2.xml" Id="Rc29b627d11244c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47e753149c441e" /><Relationship Type="http://schemas.openxmlformats.org/officeDocument/2006/relationships/notesSlide" Target="/ppt/notesSlides/notesSlide3.xml" Id="R9ec3af1fac824c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c9c34520b84f38" /><Relationship Type="http://schemas.openxmlformats.org/officeDocument/2006/relationships/image" Target="/ppt/media/image.png" Id="Rf94ac86042de4b86" /><Relationship Type="http://schemas.openxmlformats.org/officeDocument/2006/relationships/image" Target="/ppt/media/image2.png" Id="R44a860eaa4384089" /><Relationship Type="http://schemas.openxmlformats.org/officeDocument/2006/relationships/notesSlide" Target="/ppt/notesSlides/notesSlide4.xml" Id="R92f2207a09554f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55580b27d64096" /><Relationship Type="http://schemas.openxmlformats.org/officeDocument/2006/relationships/image" Target="/ppt/media/image3.png" Id="Rf4be2611c3944b91" /><Relationship Type="http://schemas.openxmlformats.org/officeDocument/2006/relationships/notesSlide" Target="/ppt/notesSlides/notesSlide5.xml" Id="Rb09325f32fa44e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47ee0d178640d1" /><Relationship Type="http://schemas.openxmlformats.org/officeDocument/2006/relationships/image" Target="/ppt/media/image4.png" Id="R20c605f7110e499f" /><Relationship Type="http://schemas.openxmlformats.org/officeDocument/2006/relationships/image" Target="/ppt/media/image5.png" Id="Rb58c843e220a4c5d" /><Relationship Type="http://schemas.openxmlformats.org/officeDocument/2006/relationships/notesSlide" Target="/ppt/notesSlides/notesSlide6.xml" Id="R9e788e8ca7ed47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a6f8843b204c9c" /><Relationship Type="http://schemas.openxmlformats.org/officeDocument/2006/relationships/notesSlide" Target="/ppt/notesSlides/notesSlide7.xml" Id="R7cca444d347943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a3e632dd194b08" /><Relationship Type="http://schemas.openxmlformats.org/officeDocument/2006/relationships/notesSlide" Target="/ppt/notesSlides/notesSlide8.xml" Id="Rc4dd7166229045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ab64a816f141a5" /><Relationship Type="http://schemas.openxmlformats.org/officeDocument/2006/relationships/notesSlide" Target="/ppt/notesSlides/notesSlide9.xml" Id="R8a82c8a56df149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8c258ced124fb7" /><Relationship Type="http://schemas.openxmlformats.org/officeDocument/2006/relationships/image" Target="/ppt/media/image6.png" Id="R836c4b08ded743b3" /><Relationship Type="http://schemas.openxmlformats.org/officeDocument/2006/relationships/notesSlide" Target="/ppt/notesSlides/notesSlide10.xml" Id="R4164349f5b9f40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f0c3cee2be4233" /><Relationship Type="http://schemas.openxmlformats.org/officeDocument/2006/relationships/image" Target="/ppt/media/image7.png" Id="Rabcfcce02a70468c" /><Relationship Type="http://schemas.openxmlformats.org/officeDocument/2006/relationships/notesSlide" Target="/ppt/notesSlides/notesSlide11.xml" Id="R22cdd7136a2040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3e00be2dd4540" /><Relationship Type="http://schemas.openxmlformats.org/officeDocument/2006/relationships/notesSlide" Target="/ppt/notesSlides/notesSlide12.xml" Id="R2a1a5a5547144a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CB2EB1-F986-4A15-BFFF-391FF4DA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F4D03-68F8-4D62-A220-AD90DEAA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0387C-A2E1-492C-99DB-9DC0D594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Facial Expression Recognition on FER2013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52E24-5B83-487C-B94E-61BABED3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8096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Custom CNN baselines, transfer learning, and CK+ external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B7C8F-F4FC-4D8C-825E-9E6CA0A9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DEB62-8FEC-499B-B6FB-14D165DA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Main question: which strategy generalizes best on imbalanced, low-resolution facial expression data?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65413-420A-4550-A8B4-7F04DA11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Deep Learning Final Project</a:t>
            </a:r>
          </a:p>
        </p:txBody>
      </p:sp>
    </p:spTree>
    <p:extLst>
      <p:ext uri="{BB962C8B-B14F-4D97-AF65-F5344CB8AC3E}">
        <p14:creationId xmlns:p14="http://schemas.microsoft.com/office/powerpoint/2010/main" val="707960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813E9-6913-4AD7-B803-D54D755C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67A97-0F06-4BEA-8E8D-774DE63F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8C799-76B0-4470-B006-A637283E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92B81-1B98-49B6-9843-439A4D20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FER is useful, but visually fragile.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77427-771D-4C93-82A7-EC62D29F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B529F-B8AE-46BA-8597-F3DB60EB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6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A6F60-A4FA-470E-9400-E033CB1A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657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Facial expressions are useful for affective computing and human-computer interaction.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F374E-D50F-4AC8-8A50-3BA7993B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6AFD9-79CF-4FA1-9EAA-C3708A1B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57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The same emotion can look different across people, lighting, pose, and intensity.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59EF1-8FF9-47EF-904F-297B8EB3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D7903-075A-4A48-957A-18369FDD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657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FER2013 is a practical benchmark because it exposes these real-world difficulties.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4DC90-4E58-4129-B728-690ED820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5E3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ADE0F-ADA3-4D23-B4E7-EC960F11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25146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Presentation thesis: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A fair comparison needs macro F1, per-class analysis, and external validation, not only one accuracy-like score.</a:t>
            </a:r>
          </a:p>
        </p:txBody>
      </p:sp>
    </p:spTree>
    <p:extLst>
      <p:ext uri="{BB962C8B-B14F-4D97-AF65-F5344CB8AC3E}">
        <p14:creationId xmlns:p14="http://schemas.microsoft.com/office/powerpoint/2010/main" val="16968151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57CD78-E537-45EA-BE20-C4E13582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22F35-C0B8-47F4-91EE-6AFDA0C2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70713-17AB-4835-A251-5E888154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0EA77-8250-4F91-9181-F1972504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Modern FER moved from features to learned representations.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C4EBF-BF21-4DA2-9662-BD73D9D3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5D0A6-5357-49B7-A8BC-81AD9AA4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923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42864-1254-4148-A6CF-52251262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3E3D7-2775-46CA-B4FF-369FC34F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907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Typical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206E6-1CCB-493F-B79D-37727251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Relevance 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EDEAB-E6DD-4EAD-8C2E-E833CFB4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923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75FD3-22F8-4A08-BA05-8FDE0594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Classical 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67884-D60A-4589-AEF0-2210E17A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860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Handcrafted features + classifier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6842F-5A82-489E-AB0E-1D31631A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Historical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513BE-0702-4277-85EF-E6BA8764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923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11B3F-7EAF-4BE7-A532-281F9DF5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CNNs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8E059-1C4D-43D8-AE46-EF2DBEB9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Learn visual features from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A0433-CD2C-4FB5-9335-50E04778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Custom CNN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1DA91-1709-4A75-AA1F-3AE023BA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23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B34CB-F5E8-43CA-84A9-F68F3A81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Transfer learning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6BD6E-BB6A-4A89-B7A5-0132329F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7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Adapt pretrained visual backbones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124A5-742C-4077-B2E6-190FE928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ResNet18 / EfficientNet-B0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C1856-9B78-41C0-8F87-0147D569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923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6D8D7-4D12-41B4-ACDA-C29CD349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Recent SOTA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7D88D7-5219-4B52-8B64-21D9AA51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719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Attention, ensembles, transformers, alignment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8F584-3B06-4582-A67D-97C70DCA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7190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Future work direction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FEB4E-57B8-4930-9869-0D2D4614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5E3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9872A-EB8E-42C8-9675-5032719F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91100"/>
            <a:ext cx="6515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Scope choice: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This project focuses on a controlled comparison of practical CNN strategies under class imbalance.</a:t>
            </a:r>
          </a:p>
        </p:txBody>
      </p:sp>
    </p:spTree>
    <p:extLst>
      <p:ext uri="{BB962C8B-B14F-4D97-AF65-F5344CB8AC3E}">
        <p14:creationId xmlns:p14="http://schemas.microsoft.com/office/powerpoint/2010/main" val="6888713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9F8FA5-725A-4E8B-961E-4274A553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F9DEE-3226-4313-9839-208E7037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C7422-AC3D-40F3-9C8A-C3D61CE2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737A4-DBCE-4619-A3ED-E1EB3691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FER2013 is small, imbalanced, and ambiguous.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16861-F9B9-4DE9-B9DF-83E71688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D7356-630B-4F40-8AC6-10CD99DE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52575"/>
            <a:ext cx="47815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ac86042de4b86"/>
          <a:stretch xmlns:a="http://schemas.openxmlformats.org/drawingml/2006/main"/>
        </p:blipFill>
        <p:spPr>
          <a:xfrm xmlns:a="http://schemas.openxmlformats.org/drawingml/2006/main">
            <a:off x="1903126" y="1562100"/>
            <a:ext cx="2518348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66F1D-986E-4751-8493-D07B47E4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552575"/>
            <a:ext cx="47815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860eaa4384089"/>
          <a:stretch xmlns:a="http://schemas.openxmlformats.org/drawingml/2006/main"/>
        </p:blipFill>
        <p:spPr>
          <a:xfrm xmlns:a="http://schemas.openxmlformats.org/drawingml/2006/main">
            <a:off x="6019800" y="1803641"/>
            <a:ext cx="4762500" cy="294591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612C9-81D5-4B53-B255-C393299D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466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48x48 grayscale face crops across seven classes.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A95CF-F1C5-4A59-8545-96E20BF2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667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Happy is frequent; disgust is rare. This motivates macro F1 and imbalance-aware training.</a:t>
            </a:r>
          </a:p>
        </p:txBody>
      </p:sp>
    </p:spTree>
    <p:extLst>
      <p:ext uri="{BB962C8B-B14F-4D97-AF65-F5344CB8AC3E}">
        <p14:creationId xmlns:p14="http://schemas.microsoft.com/office/powerpoint/2010/main" val="6412540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F90B2-67C8-4FAB-9113-5D2710CC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11990-32A2-41CF-A6B2-DB8ADB12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6595F-01BA-4601-BCF0-9580B1C2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AFFECT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FEDF2-6C87-450C-8654-73D5C932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The label space is not emotionally independent.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BD302-EBBC-4AD0-A346-F16AF30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BC912-4B9F-4F47-A221-A7858F6F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476375"/>
            <a:ext cx="58293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e2611c3944b91"/>
          <a:stretch xmlns:a="http://schemas.openxmlformats.org/drawingml/2006/main"/>
        </p:blipFill>
        <p:spPr>
          <a:xfrm xmlns:a="http://schemas.openxmlformats.org/drawingml/2006/main">
            <a:off x="1233561" y="1485900"/>
            <a:ext cx="5095728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5A7A1-FA45-4B98-B242-2B618A45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AB5E5-B53A-49E8-B111-55886FE9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Emotion classes can be close in valence-arousal space.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35EE5-4EEE-49F9-8C62-2F4DF0C5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B24CF-15F6-4D19-BB43-817A63F9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This supports interpreting confusions as meaningful ambiguity.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8C241-0412-43DF-A77B-B17919B8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29450-A966-439F-A680-1A3086CD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76650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Sad, neutral, fear, and angry are expected to be difficult.</a:t>
            </a:r>
          </a:p>
        </p:txBody>
      </p:sp>
    </p:spTree>
    <p:extLst>
      <p:ext uri="{BB962C8B-B14F-4D97-AF65-F5344CB8AC3E}">
        <p14:creationId xmlns:p14="http://schemas.microsoft.com/office/powerpoint/2010/main" val="9464730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3E44A1-E773-4073-B2E3-D4730349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BA37D-8832-4B82-890D-876DD9C8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C64E1-0236-483D-9368-98DFA276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9E0F3-A5C6-44D5-A8AD-7C5F5D63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Inputs were adapted to each model family.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F742B-0D38-4533-88B8-8EBAE41D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F4C23-385A-4C9B-8F5D-7697AA60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552575"/>
            <a:ext cx="4591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605f7110e499f"/>
          <a:stretch xmlns:a="http://schemas.openxmlformats.org/drawingml/2006/main"/>
        </p:blipFill>
        <p:spPr>
          <a:xfrm xmlns:a="http://schemas.openxmlformats.org/drawingml/2006/main">
            <a:off x="876300" y="2646759"/>
            <a:ext cx="4572000" cy="106918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FAE16-96EB-4A38-B26B-8D0E104C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52575"/>
            <a:ext cx="47815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c843e220a4c5d"/>
          <a:stretch xmlns:a="http://schemas.openxmlformats.org/drawingml/2006/main"/>
        </p:blipFill>
        <p:spPr>
          <a:xfrm xmlns:a="http://schemas.openxmlformats.org/drawingml/2006/main">
            <a:off x="6057900" y="2005701"/>
            <a:ext cx="4762500" cy="235129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1D588-0B40-44F4-8847-A6F1656A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Baseline CNNs use augmented 48x48 grayscale inputs.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AFFB6-3464-44A6-98AB-CD4C31F7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673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Pretrained models use resized 224x224 three-channel inputs with ImageNet normalization.</a:t>
            </a:r>
          </a:p>
        </p:txBody>
      </p:sp>
    </p:spTree>
    <p:extLst>
      <p:ext uri="{BB962C8B-B14F-4D97-AF65-F5344CB8AC3E}">
        <p14:creationId xmlns:p14="http://schemas.microsoft.com/office/powerpoint/2010/main" val="9202038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D6A4B-F4D9-450B-82B5-8538E4A5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F954C-FED4-4757-B30D-8843398D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DDDE6-1C74-4961-9386-C1A6C8DD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A89A6-726C-4EC9-8620-4B8801DF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The model comparison follows a simple escalation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C81D5-6D18-44C1-A0EC-3CC73F13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C5E70-7C0D-4C43-B079-E489E471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0FB0F-3513-486B-A35A-485B0F13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Custom CNN trained from scratch as the baseline.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1DC68-0AF5-4601-BF5C-8292B5B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83061-2568-4093-96A6-12AA8ACC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Deeper CNN checks whether added capacity improves the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76A67-0A87-4039-8AA3-A614370F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5631F-DDF5-4A17-9B84-C8C3459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ResNet18 tests a standard ImageNet-pretrained backbone.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6B5CF-26B2-4AE9-90CC-17B969C1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90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411BC-0683-4BC4-8245-0411F217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EfficientNet-B0 tests a lighter pretrained architecture.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C3E94-2FED-4786-942D-C5B1B72E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276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5E3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73F4F-09AF-4198-99CB-C3B72E8C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4193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Training strategies: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class weights, weighted sampling, focal loss, SGD scheduling, and crop-based evaluation.</a:t>
            </a:r>
          </a:p>
        </p:txBody>
      </p:sp>
    </p:spTree>
    <p:extLst>
      <p:ext uri="{BB962C8B-B14F-4D97-AF65-F5344CB8AC3E}">
        <p14:creationId xmlns:p14="http://schemas.microsoft.com/office/powerpoint/2010/main" val="14242397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C096FE-31FA-480B-A426-A13693F8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DC336-FAF0-4B9D-B983-567D75A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1DF07-241E-4E49-8FA7-E996695F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A1890-12BE-4539-A960-FD8CD6A9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Evaluation emphasizes balanced performance across classes.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610E7-D6A1-4199-AF8B-D8BDFAAA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BC1D7-4831-4B0D-8576-04BF8BCC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FD7E2-D7D4-4B26-B2D2-A3DA346C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C031D-08A8-40D1-B47A-B204B425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7165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Evaluated configurations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DE4AF-8971-48DE-ADDC-29082DFC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CAD69-F093-43AD-963C-CCEBB833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Baseline CNN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5EE4E-8510-4F6B-9B73-4D22D7AF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augmentation, imbalance handling, deeper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318E9-8D56-41BD-8325-64D4A0AB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94A00-EF55-4AB2-B1A8-95CB3C29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Optimization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55C4B-C697-4AEA-AD4A-FADDFA7A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focal loss, class weights, weighted sampler, SGD schedule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A06ED-45E9-4BAD-B5C8-790D2070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D642D-5432-4960-8689-0222EFCA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Transfer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AD3A1-3D50-44E7-A0F2-5ADA5DED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147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ResNet18 and EfficientNet-B0 fine-tuning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BEEDE-F3DF-4BC9-9DF2-82E077AB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6039A-EC41-4666-BC26-506A37B3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46DCC-8A29-4B2D-99CE-BC64488A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2905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FER2013 test set and CK+ external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DF4B7-E7B4-4C61-9654-E6B5D066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33950"/>
            <a:ext cx="619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5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5D032D-45E9-4C93-AFBF-4059E570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67300"/>
            <a:ext cx="584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Primary metric: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Macro F1, because high performance on common classes alone is not enough.</a:t>
            </a:r>
          </a:p>
        </p:txBody>
      </p:sp>
    </p:spTree>
    <p:extLst>
      <p:ext uri="{BB962C8B-B14F-4D97-AF65-F5344CB8AC3E}">
        <p14:creationId xmlns:p14="http://schemas.microsoft.com/office/powerpoint/2010/main" val="3597905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E11D48-824C-4841-9126-1BF1E0F3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13F0F-3D42-4DB6-A58E-2648E614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51D1B-2B9B-4D9C-B042-D586D540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FER2013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F0B77-4797-420D-8F80-375713ED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ResNet18 fine-tuning gave the strongest FER2013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894FA-C0A1-4D4B-807F-9D956151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46364-45EC-4890-9774-B43FC81F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Baseline CNN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F274B-0E02-4863-BD75-A29FB4B9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866900"/>
            <a:ext cx="523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A14EE-7726-4639-B23F-5DE4E553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866900"/>
            <a:ext cx="454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E4219-0686-467D-B46F-60CB57E3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335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961C6-3CB7-40E1-8BBF-2775271C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FE25C-458B-464F-97B0-6C60C187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14600"/>
            <a:ext cx="523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63F88-DFE9-4E66-A461-30725126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14600"/>
            <a:ext cx="4547526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1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A791A-5911-4933-AB22-23E5D75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812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0.625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709ED-257F-4320-ADD4-4185E853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6B355-25B1-4071-9892-565E0B09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62300"/>
            <a:ext cx="523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3C43B-FA98-4621-87DC-3069CBE1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62300"/>
            <a:ext cx="4918604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E5A9F-436A-4D55-B0CE-14F254A1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289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6B6E0-F44C-41DF-AA5B-5385D3A3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5E3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C78CB-5053-4FF1-82DE-EA98CC88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10100"/>
            <a:ext cx="2895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Test macro F1 comparison: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ResNet18 improved the best custom CNN baseline by about 5.2 percentage points.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9284C-3493-4D57-AF39-B8399BA4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Weighted F1 followed the same pattern: baseline 0.649, EfficientNet-B0 0.646, ResNet18 0.685.</a:t>
            </a:r>
          </a:p>
        </p:txBody>
      </p:sp>
    </p:spTree>
    <p:extLst>
      <p:ext uri="{BB962C8B-B14F-4D97-AF65-F5344CB8AC3E}">
        <p14:creationId xmlns:p14="http://schemas.microsoft.com/office/powerpoint/2010/main" val="6816834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DAFA8-9A49-4FD6-805E-70485ECB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194AD-832C-4629-9B8C-1E64E844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5C026-E6AF-478B-A109-8BE13E9F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ERROR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0BE7D-A59C-4A75-A617-60E1B8AD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The dominant error is sad predicted as neutral.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8A320-8592-48CD-A27F-FFF5217C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0D3A9-16C9-4DBB-8160-9EAFC41A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400175"/>
            <a:ext cx="62103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c4b08ded743b3"/>
          <a:stretch xmlns:a="http://schemas.openxmlformats.org/drawingml/2006/main"/>
        </p:blipFill>
        <p:spPr>
          <a:xfrm xmlns:a="http://schemas.openxmlformats.org/drawingml/2006/main">
            <a:off x="685800" y="2151988"/>
            <a:ext cx="6191250" cy="30874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BFE81-5F12-4A33-B49A-EB8BFF85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24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88D5C-4228-4D07-8538-E00794F5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Confusions are concentrated in visually close expressions.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37EED-E11E-42E3-9CC8-DC43CF79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76FB0-53A9-473B-A244-A0574463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Sad and neutral are repeatedly confused.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12604-4804-41EC-9F4B-124A7CC3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62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AD982-7044-4AE5-AE43-DBB96A32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Fear, angry, sad, and neutral remain the difficult region.</a:t>
            </a:r>
          </a:p>
        </p:txBody>
      </p:sp>
    </p:spTree>
    <p:extLst>
      <p:ext uri="{BB962C8B-B14F-4D97-AF65-F5344CB8AC3E}">
        <p14:creationId xmlns:p14="http://schemas.microsoft.com/office/powerpoint/2010/main" val="8567132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B0DB04-AC1B-437C-82B5-8A8080B1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235F0-1233-4DD7-8E2C-9BD5E7FE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E6A39-B723-4F09-9509-7545FA7B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EXTERNAL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2C413-3114-4011-BFDD-405AD627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CK+ reveals a domain-shift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73FBF-E7BA-4C51-86B9-E82F819D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2DB66-D745-4081-867F-96E6ACEC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57325"/>
            <a:ext cx="49720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fcce02a70468c"/>
          <a:stretch xmlns:a="http://schemas.openxmlformats.org/drawingml/2006/main"/>
        </p:blipFill>
        <p:spPr>
          <a:xfrm xmlns:a="http://schemas.openxmlformats.org/drawingml/2006/main">
            <a:off x="704850" y="2037968"/>
            <a:ext cx="4953000" cy="257251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ED94A-21D6-490E-AF8C-DB529AA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BBCD4-5277-4415-B266-9D7944F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7B800-6905-4592-BB53-930FE08C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CK+ macro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0624C-3AE4-4925-B4E0-A4F88F44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F11E1-93B9-44CE-A383-FC091B80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Baseline CNN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C4587-556C-4340-B1E4-474A0705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0.724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7A687-3DF6-4607-B7EA-46B7380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01DE4-31A0-40D9-B555-FB84BF5F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716BA-71C4-431A-A669-E3EB187C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0.707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19191-8CAD-44CA-AA2B-CDE4ABB9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D3BAF-69A4-4D11-9CAD-5912B5AF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20F28-F354-4B8F-AC2A-835C00E0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0.582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E02C5-C3E7-48BB-A9AB-5075CD9F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438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5E3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AFA665-3BC3-419F-91EF-FF8191AB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91000"/>
            <a:ext cx="4038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Observation: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The best FER2013 model is not automatically the best external model, so cross-dataset validation matters.</a:t>
            </a:r>
          </a:p>
        </p:txBody>
      </p:sp>
    </p:spTree>
    <p:extLst>
      <p:ext uri="{BB962C8B-B14F-4D97-AF65-F5344CB8AC3E}">
        <p14:creationId xmlns:p14="http://schemas.microsoft.com/office/powerpoint/2010/main" val="74783882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C5E1B9-A85D-4E55-9BAB-53AC7E4C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CE5D4-096D-48A4-8A39-F198D78E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FE057-DE48-4943-9F65-AB1F6915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11092-CE38-4DB7-A5C7-5BD07B29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FER2013 performance improved, but generalization remains limited.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B8A0E-8DEF-4F80-92D5-3324CF41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F80D4-BAEC-421C-B99E-71B81F6F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A87D6-F860-496F-A2AA-FE63E685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819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Transfer learning improved FER2013 performance, especially with ResNet18.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96F4B-2D59-4F32-9388-AA6A2DE6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11E0D-3E12-4F92-911E-7032D2D5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819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Macro F1 and confusion matrices were necessary because the dataset is imbalanced.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10D3B-4079-4375-A794-5AED35B7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206B9-D824-41FC-8BB7-69023F79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819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External validation showed that dataset shift can change model ranking.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DD78C-1335-491A-B9F0-6A9CF145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C11F2-CB5E-46BF-BC30-CE56E19F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0"/>
            <a:ext cx="819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Future work: face alignment, label-noise handling, stronger augmentation, ensembles, calibration, and attention-based models.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12BB7-7B33-4690-9216-A771CCF2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3429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5E3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91D16-1280-4D69-B4AF-CB26141B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72000"/>
            <a:ext cx="30861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Final message:</a:t>
            </a:r>
          </a:p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The project is not only about higher scores; it is about understanding where FER models generalize and where they fail.</a:t>
            </a:r>
          </a:p>
        </p:txBody>
      </p:sp>
    </p:spTree>
    <p:extLst>
      <p:ext uri="{BB962C8B-B14F-4D97-AF65-F5344CB8AC3E}">
        <p14:creationId xmlns:p14="http://schemas.microsoft.com/office/powerpoint/2010/main" val="1698631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2026-05-30T14:46:21.9910000Z</dcterms:created>
  <dcterms:modified xsi:type="dcterms:W3CDTF">2026-05-30T14:46:21.9910000Z</dcterms:modified>
</coreProperties>
</file>