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806c9f75e745e0" /><Relationship Type="http://schemas.openxmlformats.org/officeDocument/2006/relationships/extended-properties" Target="/docProps/app.xml" Id="Re6b4774ee23f4d98" /><Relationship Type="http://schemas.openxmlformats.org/officeDocument/2006/relationships/officeDocument" Target="/ppt/presentation.xml" Id="Re3a0d533588148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e97dfe63a747ae"/>
  </p:sldMasterIdLst>
  <p:notesMasterIdLst>
    <p:notesMasterId xmlns:r="http://schemas.openxmlformats.org/officeDocument/2006/relationships" r:id="R02e48a048bff47a1"/>
  </p:notesMasterIdLst>
  <p:sldIdLst>
    <p:sldId xmlns:r="http://schemas.openxmlformats.org/officeDocument/2006/relationships" id="256" r:id="Rc52302616a6e4f68"/>
    <p:sldId xmlns:r="http://schemas.openxmlformats.org/officeDocument/2006/relationships" id="257" r:id="R2c322dec7ed34e2c"/>
    <p:sldId xmlns:r="http://schemas.openxmlformats.org/officeDocument/2006/relationships" id="258" r:id="Ra1e24d82cb454ea2"/>
    <p:sldId xmlns:r="http://schemas.openxmlformats.org/officeDocument/2006/relationships" id="259" r:id="Rb6cede13ff024b17"/>
    <p:sldId xmlns:r="http://schemas.openxmlformats.org/officeDocument/2006/relationships" id="260" r:id="R30bde89778274368"/>
    <p:sldId xmlns:r="http://schemas.openxmlformats.org/officeDocument/2006/relationships" id="261" r:id="Rb28235a4b54a4e5e"/>
    <p:sldId xmlns:r="http://schemas.openxmlformats.org/officeDocument/2006/relationships" id="262" r:id="R7b0cf191c72b4601"/>
    <p:sldId xmlns:r="http://schemas.openxmlformats.org/officeDocument/2006/relationships" id="263" r:id="R52598e3b8eb94617"/>
    <p:sldId xmlns:r="http://schemas.openxmlformats.org/officeDocument/2006/relationships" id="264" r:id="R9f9f8ee00dfc4ec7"/>
    <p:sldId xmlns:r="http://schemas.openxmlformats.org/officeDocument/2006/relationships" id="265" r:id="R83524efba6a54bf2"/>
    <p:sldId xmlns:r="http://schemas.openxmlformats.org/officeDocument/2006/relationships" id="266" r:id="R4cf5cc5e72df4669"/>
    <p:sldId xmlns:r="http://schemas.openxmlformats.org/officeDocument/2006/relationships" id="267" r:id="R64fa5f8faae64aae"/>
    <p:sldId xmlns:r="http://schemas.openxmlformats.org/officeDocument/2006/relationships" id="268" r:id="Ra96abd6d676a4fda"/>
    <p:sldId xmlns:r="http://schemas.openxmlformats.org/officeDocument/2006/relationships" id="269" r:id="Rbc1c56166ef84545"/>
    <p:sldId xmlns:r="http://schemas.openxmlformats.org/officeDocument/2006/relationships" id="270" r:id="Ra31ff3daa3bd44f3"/>
    <p:sldId xmlns:r="http://schemas.openxmlformats.org/officeDocument/2006/relationships" id="271" r:id="R6b019e97855a45ff"/>
    <p:sldId xmlns:r="http://schemas.openxmlformats.org/officeDocument/2006/relationships" id="272" r:id="R312b183c6f0c4a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97dfe63a747ae" /><Relationship Type="http://schemas.openxmlformats.org/officeDocument/2006/relationships/theme" Target="/ppt/theme/theme1.xml" Id="Rb21787b81a42423f" /><Relationship Type="http://schemas.openxmlformats.org/officeDocument/2006/relationships/notesMaster" Target="/ppt/notesMasters/notesMaster1.xml" Id="R02e48a048bff47a1" /><Relationship Type="http://schemas.openxmlformats.org/officeDocument/2006/relationships/presProps" Target="/ppt/presProps.xml" Id="R009678df59be4343" /><Relationship Type="http://schemas.openxmlformats.org/officeDocument/2006/relationships/viewProps" Target="/ppt/viewProps.xml" Id="R8d9e30d019b94133" /><Relationship Type="http://schemas.openxmlformats.org/officeDocument/2006/relationships/tableStyles" Target="/ppt/tableStyles.xml" Id="Rf095e77c3ae1465f" /><Relationship Type="http://schemas.openxmlformats.org/officeDocument/2006/relationships/slide" Target="/ppt/slides/slide1.xml" Id="Rc52302616a6e4f68" /><Relationship Type="http://schemas.openxmlformats.org/officeDocument/2006/relationships/slide" Target="/ppt/slides/slide2.xml" Id="R2c322dec7ed34e2c" /><Relationship Type="http://schemas.openxmlformats.org/officeDocument/2006/relationships/slide" Target="/ppt/slides/slide3.xml" Id="Ra1e24d82cb454ea2" /><Relationship Type="http://schemas.openxmlformats.org/officeDocument/2006/relationships/slide" Target="/ppt/slides/slide4.xml" Id="Rb6cede13ff024b17" /><Relationship Type="http://schemas.openxmlformats.org/officeDocument/2006/relationships/slide" Target="/ppt/slides/slide5.xml" Id="R30bde89778274368" /><Relationship Type="http://schemas.openxmlformats.org/officeDocument/2006/relationships/slide" Target="/ppt/slides/slide6.xml" Id="Rb28235a4b54a4e5e" /><Relationship Type="http://schemas.openxmlformats.org/officeDocument/2006/relationships/slide" Target="/ppt/slides/slide7.xml" Id="R7b0cf191c72b4601" /><Relationship Type="http://schemas.openxmlformats.org/officeDocument/2006/relationships/slide" Target="/ppt/slides/slide8.xml" Id="R52598e3b8eb94617" /><Relationship Type="http://schemas.openxmlformats.org/officeDocument/2006/relationships/slide" Target="/ppt/slides/slide9.xml" Id="R9f9f8ee00dfc4ec7" /><Relationship Type="http://schemas.openxmlformats.org/officeDocument/2006/relationships/slide" Target="/ppt/slides/slide10.xml" Id="R83524efba6a54bf2" /><Relationship Type="http://schemas.openxmlformats.org/officeDocument/2006/relationships/slide" Target="/ppt/slides/slide11.xml" Id="R4cf5cc5e72df4669" /><Relationship Type="http://schemas.openxmlformats.org/officeDocument/2006/relationships/slide" Target="/ppt/slides/slide12.xml" Id="R64fa5f8faae64aae" /><Relationship Type="http://schemas.openxmlformats.org/officeDocument/2006/relationships/slide" Target="/ppt/slides/slide13.xml" Id="Ra96abd6d676a4fda" /><Relationship Type="http://schemas.openxmlformats.org/officeDocument/2006/relationships/slide" Target="/ppt/slides/slide14.xml" Id="Rbc1c56166ef84545" /><Relationship Type="http://schemas.openxmlformats.org/officeDocument/2006/relationships/slide" Target="/ppt/slides/slide15.xml" Id="Ra31ff3daa3bd44f3" /><Relationship Type="http://schemas.openxmlformats.org/officeDocument/2006/relationships/slide" Target="/ppt/slides/slide16.xml" Id="R6b019e97855a45ff" /><Relationship Type="http://schemas.openxmlformats.org/officeDocument/2006/relationships/slide" Target="/ppt/slides/slide17.xml" Id="R312b183c6f0c4a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d18eb1cece45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14614f8d1e4c24" /><Relationship Type="http://schemas.openxmlformats.org/officeDocument/2006/relationships/notesMaster" Target="/ppt/notesMasters/notesMaster1.xml" Id="R859f2675e70640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56849a385e49ce" /><Relationship Type="http://schemas.openxmlformats.org/officeDocument/2006/relationships/notesMaster" Target="/ppt/notesMasters/notesMaster1.xml" Id="Ra02cc5285d3b4a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3454dfb2b54d2d" /><Relationship Type="http://schemas.openxmlformats.org/officeDocument/2006/relationships/notesMaster" Target="/ppt/notesMasters/notesMaster1.xml" Id="R43dc5bab7e5e46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b48c3ca0b94f49" /><Relationship Type="http://schemas.openxmlformats.org/officeDocument/2006/relationships/notesMaster" Target="/ppt/notesMasters/notesMaster1.xml" Id="Rea73fdc0014a4b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dcd24480904dff" /><Relationship Type="http://schemas.openxmlformats.org/officeDocument/2006/relationships/notesMaster" Target="/ppt/notesMasters/notesMaster1.xml" Id="R1aa84453c4e543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e19e164c8a4e82" /><Relationship Type="http://schemas.openxmlformats.org/officeDocument/2006/relationships/notesMaster" Target="/ppt/notesMasters/notesMaster1.xml" Id="R7adc53b2122d41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bdb81aa4a04c25" /><Relationship Type="http://schemas.openxmlformats.org/officeDocument/2006/relationships/notesMaster" Target="/ppt/notesMasters/notesMaster1.xml" Id="Re82f87c4def544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a347df16bc480c" /><Relationship Type="http://schemas.openxmlformats.org/officeDocument/2006/relationships/notesMaster" Target="/ppt/notesMasters/notesMaster1.xml" Id="R8ce90402bd2c42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905a736a224e5e" /><Relationship Type="http://schemas.openxmlformats.org/officeDocument/2006/relationships/notesMaster" Target="/ppt/notesMasters/notesMaster1.xml" Id="Rf96e1e91b5de45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0ec86d9d9b4a6a" /><Relationship Type="http://schemas.openxmlformats.org/officeDocument/2006/relationships/notesMaster" Target="/ppt/notesMasters/notesMaster1.xml" Id="R2ebfd914a1654d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071687d9c64b3c" /><Relationship Type="http://schemas.openxmlformats.org/officeDocument/2006/relationships/notesMaster" Target="/ppt/notesMasters/notesMaster1.xml" Id="R7b00aa7b537f46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c8684c63714ffc" /><Relationship Type="http://schemas.openxmlformats.org/officeDocument/2006/relationships/notesMaster" Target="/ppt/notesMasters/notesMaster1.xml" Id="R55afa46694bb4a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712bb68e5f49fb" /><Relationship Type="http://schemas.openxmlformats.org/officeDocument/2006/relationships/notesMaster" Target="/ppt/notesMasters/notesMaster1.xml" Id="Rb74289175ae044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4990de680342c6" /><Relationship Type="http://schemas.openxmlformats.org/officeDocument/2006/relationships/notesMaster" Target="/ppt/notesMasters/notesMaster1.xml" Id="R73faaef4bec740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d2424be190414f" /><Relationship Type="http://schemas.openxmlformats.org/officeDocument/2006/relationships/notesMaster" Target="/ppt/notesMasters/notesMaster1.xml" Id="Rb3afc925925445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73c52c94cf4a00" /><Relationship Type="http://schemas.openxmlformats.org/officeDocument/2006/relationships/notesMaster" Target="/ppt/notesMasters/notesMaster1.xml" Id="R7e9116ad3d8344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fe5c3106184f25" /><Relationship Type="http://schemas.openxmlformats.org/officeDocument/2006/relationships/notesMaster" Target="/ppt/notesMasters/notesMaster1.xml" Id="R3d4e5b49e9874e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82a9dbaf64aa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9a76c92f214139" /><Relationship Type="http://schemas.openxmlformats.org/officeDocument/2006/relationships/slideLayout" Target="/ppt/slideLayouts/slideLayout2.xml" Id="R7c066bbbd4cf40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66bbbd4cf40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226e0530794ed8" /><Relationship Type="http://schemas.openxmlformats.org/officeDocument/2006/relationships/notesSlide" Target="/ppt/notesSlides/notesSlide1.xml" Id="Rb5b7bdfcf41841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732b2d8d7d402d" /><Relationship Type="http://schemas.openxmlformats.org/officeDocument/2006/relationships/notesSlide" Target="/ppt/notesSlides/notesSlide2.xml" Id="R90f7681f604a4e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aaf3b3cd7c4d21" /><Relationship Type="http://schemas.openxmlformats.org/officeDocument/2006/relationships/notesSlide" Target="/ppt/notesSlides/notesSlide3.xml" Id="Racce21b2cef642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356bc91b94af5" /><Relationship Type="http://schemas.openxmlformats.org/officeDocument/2006/relationships/notesSlide" Target="/ppt/notesSlides/notesSlide4.xml" Id="Rd982c5b0cc1a4f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04e0def08f409a" /><Relationship Type="http://schemas.openxmlformats.org/officeDocument/2006/relationships/image" Target="/ppt/media/image.png" Id="R049b763f4ed849da" /><Relationship Type="http://schemas.openxmlformats.org/officeDocument/2006/relationships/image" Target="/ppt/media/image2.png" Id="R8c60e98247c545a0" /><Relationship Type="http://schemas.openxmlformats.org/officeDocument/2006/relationships/notesSlide" Target="/ppt/notesSlides/notesSlide5.xml" Id="R38736049ed07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35028cc9ad43b9" /><Relationship Type="http://schemas.openxmlformats.org/officeDocument/2006/relationships/image" Target="/ppt/media/image3.png" Id="Ra251048f73184584" /><Relationship Type="http://schemas.openxmlformats.org/officeDocument/2006/relationships/image" Target="/ppt/media/image4.png" Id="R122536db62254988" /><Relationship Type="http://schemas.openxmlformats.org/officeDocument/2006/relationships/image" Target="/ppt/media/image5.png" Id="R06e65c45851d47b7" /><Relationship Type="http://schemas.openxmlformats.org/officeDocument/2006/relationships/notesSlide" Target="/ppt/notesSlides/notesSlide6.xml" Id="Rc9fcc338f89e42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1e8e5eee03448d" /><Relationship Type="http://schemas.openxmlformats.org/officeDocument/2006/relationships/notesSlide" Target="/ppt/notesSlides/notesSlide7.xml" Id="R6e3c35105b9f49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25430f20b4f99" /><Relationship Type="http://schemas.openxmlformats.org/officeDocument/2006/relationships/notesSlide" Target="/ppt/notesSlides/notesSlide8.xml" Id="Rc7dd3817acbe4f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75dda6e7b44949" /><Relationship Type="http://schemas.openxmlformats.org/officeDocument/2006/relationships/notesSlide" Target="/ppt/notesSlides/notesSlide9.xml" Id="Rff7027d64bd74e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560101862543b1" /><Relationship Type="http://schemas.openxmlformats.org/officeDocument/2006/relationships/notesSlide" Target="/ppt/notesSlides/notesSlide10.xml" Id="R53282cf42f8944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30aa029e146ab" /><Relationship Type="http://schemas.openxmlformats.org/officeDocument/2006/relationships/notesSlide" Target="/ppt/notesSlides/notesSlide11.xml" Id="Rf3bd31aa337944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9f57cea0e4be9" /><Relationship Type="http://schemas.openxmlformats.org/officeDocument/2006/relationships/notesSlide" Target="/ppt/notesSlides/notesSlide12.xml" Id="R706d7ba760094d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40238f0d4a4381" /><Relationship Type="http://schemas.openxmlformats.org/officeDocument/2006/relationships/image" Target="/ppt/media/image6.png" Id="Re744509d69764524" /><Relationship Type="http://schemas.openxmlformats.org/officeDocument/2006/relationships/image" Target="/ppt/media/image7.png" Id="R62288a9b064a4efe" /><Relationship Type="http://schemas.openxmlformats.org/officeDocument/2006/relationships/notesSlide" Target="/ppt/notesSlides/notesSlide13.xml" Id="R9305b0e6b1c147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a383d3ef2c4b2d" /><Relationship Type="http://schemas.openxmlformats.org/officeDocument/2006/relationships/notesSlide" Target="/ppt/notesSlides/notesSlide14.xml" Id="R64b32f97ba0240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89a6aa92df4e7b" /><Relationship Type="http://schemas.openxmlformats.org/officeDocument/2006/relationships/image" Target="/ppt/media/image8.png" Id="R5dbee45171b34595" /><Relationship Type="http://schemas.openxmlformats.org/officeDocument/2006/relationships/notesSlide" Target="/ppt/notesSlides/notesSlide15.xml" Id="R62ef2203920949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1f7c15210f4458" /><Relationship Type="http://schemas.openxmlformats.org/officeDocument/2006/relationships/image" Target="/ppt/media/image9.png" Id="R3b4dcdc53fb94d4c" /><Relationship Type="http://schemas.openxmlformats.org/officeDocument/2006/relationships/notesSlide" Target="/ppt/notesSlides/notesSlide16.xml" Id="R23f9ae66126845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4fd93e0bd34e58" /><Relationship Type="http://schemas.openxmlformats.org/officeDocument/2006/relationships/notesSlide" Target="/ppt/notesSlides/notesSlide17.xml" Id="R793f206073de4c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91052-E1AE-4364-A6FB-B59FECBE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70821-7A92-491A-B3A4-16B23F5F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341F2-83B8-4006-B36E-728B6BB7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557EA-403D-41F0-A2EF-BD0498E6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8585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4377F-5670-4ADF-A823-662710A6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 controlled comparison of CNN baselines, transfer learning, and CK+ external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DD468-5D92-428C-B3A4-6C145A5D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166BE-38CA-4B46-8960-B9D27902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9C73E-5C83-4812-A781-CFECE12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182CB-C711-4D1B-A8FE-65AABEE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7 classes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A27ED-2BF6-4285-9D05-FD430384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angry, disgust, fear, happy, sad, surprise, neutral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60D4C-E2EB-4336-8CB6-49FBAD99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C1EC9-AD0F-4596-AD3D-73B47D68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20BC1-3081-44DF-A8CE-5CC73F89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73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736B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E30E2-828F-4FF5-8D7A-DE6F4BA6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96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B0778-B5ED-410E-846A-875738C1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9585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primary score due to class imbalance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799B7-1054-495C-A294-764CD191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C3D04-9AC6-4577-ABF5-B5A199E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7AFC7-DBCA-4E73-9CE9-59C2B49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719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6B2C"/>
                </a:solidFill>
                <a:latin typeface="Aptos"/>
                <a:ea typeface="Aptos"/>
                <a:cs typeface="Aptos"/>
              </a:rPr>
              <a:t>EXTERNAL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9FCEC-D42C-4B15-9A49-5BFD9C50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196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3C6AD-93CD-4503-88E7-D7D8E68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9585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zero-shot validation beyond FER2013</a:t>
            </a:r>
          </a:p>
        </p:txBody>
      </p:sp>
    </p:spTree>
    <p:extLst>
      <p:ext uri="{BB962C8B-B14F-4D97-AF65-F5344CB8AC3E}">
        <p14:creationId xmlns:p14="http://schemas.microsoft.com/office/powerpoint/2010/main" val="16815827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3A541-2E8E-45E3-901B-7E4B2FA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8C667-7FCA-4CEC-96D0-81C2E122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F921D-6B70-48D9-ACCA-6BA3AA88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Presentation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15BF7-6DF1-423E-A0D2-85C51E6C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The deck follows the required scientific structure explicitly.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F3646-4E1C-4DCB-B09A-7C01C27A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A86AF-CF5C-424E-9976-52D83C2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48482-6CAB-4692-93F1-1E3EB4B1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AD87D-10CD-4E71-8623-4BFAFB27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0C868-6B4F-47B2-B2A6-92859D69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C2F3C-2A53-4407-842A-594FF8F2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430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2AA94-B13D-4E12-BA40-319CC574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57400"/>
            <a:ext cx="241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Why FER2013 is useful, difficult, and not well captured by accuracy alone.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3F438-1048-4FD8-9232-155BC65F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002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1D66D-D71B-405E-A7B4-756D842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D228C-9476-420F-B86C-198740C1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33F00-1BAF-4858-A977-87C4AF3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430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15D4F-98BC-4545-B705-C0A3415B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57400"/>
            <a:ext cx="241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How CNNs, transfer learning, and modern FER methods relate.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6CD00-4D95-44B3-9101-E18BD1D2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002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5FB33-9D1E-4F6E-83BE-E169C58B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E7C35-A3B6-4A67-89CF-525667D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2E52B-E875-490D-BB21-8ADB175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430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E6AF7-0614-4517-A38B-3E202884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241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FER2013 images, imbalance, augmentation, and pretrained input adaptation.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8A83B-243A-406F-AAD9-A9F62256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E5B7A-C43A-4303-B140-2412B5CD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08060-DC9B-49E9-9561-DD4884F4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B8362-FE57-4E4E-AD1A-D11423AA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FAA53-93DA-4E65-952B-406902C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241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Controlled experiment design and implemented models.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077A3-D4E2-4610-8760-FEF1E9B4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385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EDB55-4C0D-4E07-8893-C9A7FFE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D6DCC-1F13-435F-96BD-C17FA253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41E71-C223-44BD-869D-7BD9CC8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813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076A0-4900-4F03-831C-18A1D34E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95700"/>
            <a:ext cx="241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Baseline progression, transfer-learning configurations, and CK+ validation.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5EA06-3DBA-4D4F-A5F8-A9761138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3143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2A47E-9B6C-4027-A291-08574F6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7B5F46-0473-4905-B40D-D9742A3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CA2492-878D-4705-BC0A-4A8362DC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813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Results, comparison, discussion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8FFA80-1788-4BBA-9E32-D74537F8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41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Analyze results first, then compare models, then discuss limits and future work.</a:t>
            </a:r>
          </a:p>
        </p:txBody>
      </p:sp>
    </p:spTree>
    <p:extLst>
      <p:ext uri="{BB962C8B-B14F-4D97-AF65-F5344CB8AC3E}">
        <p14:creationId xmlns:p14="http://schemas.microsoft.com/office/powerpoint/2010/main" val="3115594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5F593-64B6-48E6-82B8-0CB63599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59590-E962-4AF6-B290-8534A37A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5D364-9D51-49AD-A4BE-AB6F876D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Introduction and 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0921B-0EE0-4925-8FEC-27F69F3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Facial expression recognition is useful, but ambiguity makes evaluation delicate.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880A3-C68F-494F-8CD5-4EEACE4B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76C78-37A3-4B98-A6C8-9BC46FCE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EA94E-251F-4379-A1EE-C9F9690E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6A902-4B7C-4BB6-9477-EAFF22D9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505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Facial expressions are useful cues for affective computing and human-computer interaction.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25E78-39B9-4A98-AB70-D139878E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D5528-BFE1-4B4D-963D-411A391E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6505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Expressions vary across people, pose, lighting, intensity, and annotation quality.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98A8A-CE91-48AF-B0C5-4BC4C218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63F2C-6ACB-417F-AF25-E456C79E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6505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FER2013 is a good stress test because images are low-resolution and labels can be ambiguous.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42FD4-DF4C-414A-97CA-A1EF75B9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62C1E-4CF2-4D8F-A898-A37D821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6505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project asks which training strategy improves balanced recognition, not only common-class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E0B2F-BF18-4619-B5B5-3FFEB63A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13E36-99CE-423D-80CF-78418BD3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2171A-DE44-45CC-AFB0-B28F0CC8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SCIENTIFIC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14765-0660-4C00-9E30-1B494C36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FF395-E989-4850-B050-BC5CAACD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956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Custom CNNs vs pretrained CNNs under imbalance-aware training and external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7079011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B4E52B-8479-4293-A303-C5039384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133C6-B904-4B84-B47F-58B81405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97088-9157-4987-88F3-D21478FC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Related work / state of the 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230F8-4589-4575-B3AA-C71CEC9C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Modern FER is dominated by learned visual features, but stronger systems add alignment and attention.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83651-7711-4834-9BB7-93FA7196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8E2BB-05FE-435E-B9E5-263D9F68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B0AC3-AA5E-4A7A-BD02-906BC61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0B857-EE82-4DFF-9ABF-FD14DEDB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BC033-452C-4883-B594-15A21317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A171E-A084-4EED-9823-58CD273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621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Classical 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36FA7-0EBC-44FF-8B69-D35EE0DA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Handcrafted descriptors with shallow classifiers; useful historically but weaker on varied images.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38DEF-3DF7-48B7-B577-1242F9CE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D7FD5-436C-4F98-A8DB-A711C03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D56A7-A182-4927-850C-FB702A1C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72D4F-919A-48B2-AA24-5ED78DA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621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CNN-based 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72CFE-98BD-4392-951E-676D2EFF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CNNs learn expression features directly from image data and form the main practical baseline.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537F7-C87D-486B-B20C-6A238A98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192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39F90-2C10-432B-B43D-3E7BEB5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851CC-F8C5-4CDA-A319-A91B7DF7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28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21174-857C-478F-B37C-BEAAE05F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Transfer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EA3E9-FC3E-4E2D-90AA-D6A1E703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ImageNet-pretrained backbones such as ResNet and EfficientNet are fine-tuned for emotion classes.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A740F-5BD0-422A-8B92-AF733BF6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D5C7A-010B-4353-9707-AEA30DF7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9124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Recent state-of-the-art methods often use attention, transformers, ensembles, face alignment, and larger curated datasets.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CF3BF-9F48-4802-AC06-853E69BB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F83A7-6F22-4BE9-AF2B-B1330B29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9124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This project does not claim SOTA; it compares implemented baselines and transfer-learning configurations under one evaluation protocol.</a:t>
            </a:r>
          </a:p>
        </p:txBody>
      </p:sp>
    </p:spTree>
    <p:extLst>
      <p:ext uri="{BB962C8B-B14F-4D97-AF65-F5344CB8AC3E}">
        <p14:creationId xmlns:p14="http://schemas.microsoft.com/office/powerpoint/2010/main" val="2291833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7FBB2-3EAB-499F-B25C-D94E964C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EB182-10F0-4711-AD11-69202618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92838-1E44-45E5-8DBB-A2B14E03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Dataset and preprocessing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FC9F2-C3F4-47BD-A930-25992A67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FER2013 combines low-resolution faces, imbalance, and label ambiguity.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FCAE9-FDFC-41D5-B644-FEC6C30E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26085-AD45-49DC-AAD9-8776B29B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244AA-131C-4521-B49C-7C6325AA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52575"/>
            <a:ext cx="34956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b763f4ed849da"/>
          <a:stretch xmlns:a="http://schemas.openxmlformats.org/drawingml/2006/main"/>
        </p:blipFill>
        <p:spPr>
          <a:xfrm xmlns:a="http://schemas.openxmlformats.org/drawingml/2006/main">
            <a:off x="1298601" y="1562100"/>
            <a:ext cx="2098623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3F2C7-E850-4A66-8601-625324DB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52575"/>
            <a:ext cx="4019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0e98247c545a0"/>
          <a:stretch xmlns:a="http://schemas.openxmlformats.org/drawingml/2006/main"/>
        </p:blipFill>
        <p:spPr>
          <a:xfrm xmlns:a="http://schemas.openxmlformats.org/drawingml/2006/main">
            <a:off x="4400550" y="1753565"/>
            <a:ext cx="4000500" cy="247457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297F1-F185-4915-8081-E1294877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DF3A5-1471-436F-B476-6D684F7F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436FE-A8CD-4685-9A73-0CE5982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INPUT FORMAT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058AC-A092-4FDD-BE34-AA31CD2E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48x48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72056-03C1-449C-BB84-E57213CF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336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grayscale face crops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D6CFC-CB87-4265-AD5F-9783F7E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4A8F8-F0F7-4040-B04E-A6D7B8CD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E3361-3E8F-4255-A4F2-EB940B4B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956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6B2C"/>
                </a:solidFill>
                <a:latin typeface="Aptos"/>
                <a:ea typeface="Aptos"/>
                <a:cs typeface="Aptos"/>
              </a:rPr>
              <a:t>IMBALANCE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CC63F-5BC2-4DC2-B313-32CF04FC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4330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7DC0C-E60D-494A-B08B-B3834E3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95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smallest class; happy is largest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81522-1FB8-4702-9B06-EA6167DD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942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Evaluation consequence: macro F1 is the primary model-selection metric; weighted F1 and confusion matrices support the analysis.</a:t>
            </a:r>
          </a:p>
        </p:txBody>
      </p:sp>
    </p:spTree>
    <p:extLst>
      <p:ext uri="{BB962C8B-B14F-4D97-AF65-F5344CB8AC3E}">
        <p14:creationId xmlns:p14="http://schemas.microsoft.com/office/powerpoint/2010/main" val="9718206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37E1B-A05E-432C-8008-F139A073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55851-6FE5-41BC-9886-FE6F11AD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3DA1B-DD4A-4EAF-A5CD-9ED0CEC9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Dataset and preprocessing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C11CD-0B70-467D-9353-99079CCA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Augmentation and input adaptation keep the comparison fair across model families.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8B882-F1F3-4BE3-9016-BA230C1C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46B99-17B8-434F-8597-5001FA32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C8EF0-FAE8-49B4-AAE8-68B12A4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28775"/>
            <a:ext cx="323850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1048f73184584"/>
          <a:stretch xmlns:a="http://schemas.openxmlformats.org/drawingml/2006/main"/>
        </p:blipFill>
        <p:spPr>
          <a:xfrm xmlns:a="http://schemas.openxmlformats.org/drawingml/2006/main">
            <a:off x="704850" y="2428672"/>
            <a:ext cx="3219450" cy="75288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BAE28-FDEE-46AD-9B76-BDFF2B4E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28775"/>
            <a:ext cx="3495675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536db62254988"/>
          <a:stretch xmlns:a="http://schemas.openxmlformats.org/drawingml/2006/main"/>
        </p:blipFill>
        <p:spPr>
          <a:xfrm xmlns:a="http://schemas.openxmlformats.org/drawingml/2006/main">
            <a:off x="4305300" y="1946889"/>
            <a:ext cx="3476625" cy="171644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E84F3-B480-4DAA-88A4-FEC33BFB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28775"/>
            <a:ext cx="259080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65c45851d47b7"/>
          <a:stretch xmlns:a="http://schemas.openxmlformats.org/drawingml/2006/main"/>
        </p:blipFill>
        <p:spPr>
          <a:xfrm xmlns:a="http://schemas.openxmlformats.org/drawingml/2006/main">
            <a:off x="8172450" y="1723504"/>
            <a:ext cx="2571750" cy="216321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D3D6F-1741-4718-93C0-58CCC43B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 CNNs stay close to native FER2013: 48x48 grayscale with data augmentation.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3F941-FC9F-4FA3-9E68-41C9E471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Pretrained CNNs require 224x224 three-channel inputs with ImageNet normalization.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4D4B2-7C78-4940-9C77-BA391B0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2714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Affect space explains why sad, neutral, fear, and angry are naturally hard to separate.</a:t>
            </a:r>
          </a:p>
        </p:txBody>
      </p:sp>
    </p:spTree>
    <p:extLst>
      <p:ext uri="{BB962C8B-B14F-4D97-AF65-F5344CB8AC3E}">
        <p14:creationId xmlns:p14="http://schemas.microsoft.com/office/powerpoint/2010/main" val="16359077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98DEC-0C19-464F-8F85-F1D27894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90919-467E-4D31-B610-47062E7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D2B44-8470-41BF-A2BF-6D101789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Methodology and implemented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F40AB-2CA1-447B-89FE-06C1D980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The methodology is a controlled experiment: change one modeling choice, then evaluate consistently.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C8C09-F24D-49F7-8795-32136250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D09C3-4862-4B5D-85E6-A31CFCE0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9FF24-F5F8-49EA-B002-1A9C3CA6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FC119-A585-476F-B782-AB71D487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E9B84-4076-4B3B-8FB1-BC29757A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1C1B2-50D9-4CA6-8A8D-D666780C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621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Fix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43091-FA67-463C-898D-03F82579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Same FER2013 test labels, same class order, macro F1 as primary metric.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FC0CF-1249-4398-9684-B0DA29A1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50EF2-0C56-4985-BA10-10398E1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7BDCA-DEF6-451F-9C69-E4786E33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7B0C1-E698-448F-8AE5-1607DA4F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621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 baseline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2A9ED-2891-4A75-8F0A-AA295C90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Start from a custom CNN and add augmentation, imbalance handling, optimization, crop evaluation, and capacity.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739F4-0EAC-4101-9FFB-87B06B2F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19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18C88-BE7A-438B-AF13-5A6C43A0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60B72-0F37-42CD-A564-85978C09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288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2A3CF-AD04-4E3D-A4F6-8BD2AD12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Transfer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C3A4D-EC57-4565-AB6D-DF7BB0E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Replace the learned-from-scratch feature extractor with ImageNet-pretrained ResNet18 and EfficientNet-B0.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53422-7339-41DE-A1E4-73F6ACD3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290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4588D-28A6-45E2-A095-92ABDCFB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81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4142B-07B8-4DE2-B683-B214C0C1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F2C90-BE35-4377-B644-E107DB4C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718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Error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F04D60-0521-44EA-890B-222348AB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Use confusion matrices, top confusions, and per-class F1 to explain failure modes.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3EFD7-8794-4510-94C9-EF8CC66C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87744-FBAF-4CC5-9928-21C28CE3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1D477-852E-49DD-9245-AAB868D0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366E96-1B75-436B-B0F1-7B99BF56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CF5BE-78ED-48A2-986C-1FA20D9E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2419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Evaluate final checkpoints on CK+ to test cross-dataset robustness.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8C940-A14C-4A8A-BED7-DA493BBE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Controlled variable: model/training configuration. Fixed outputs: macro F1, weighted F1, per-class scores, confusion patterns.</a:t>
            </a:r>
          </a:p>
        </p:txBody>
      </p:sp>
    </p:spTree>
    <p:extLst>
      <p:ext uri="{BB962C8B-B14F-4D97-AF65-F5344CB8AC3E}">
        <p14:creationId xmlns:p14="http://schemas.microsoft.com/office/powerpoint/2010/main" val="11942820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4E3F46-0078-412B-9034-2C142DC9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5583-EE58-4BB5-B357-75BBE5BD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EEEBB-0527-40C8-9D64-B00449C9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Methodology and implemented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4F57D-916C-483E-83F4-868654C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The implemented models test capacity, pretraining, and efficiency.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6F35E-8F63-44E9-8C97-EAFE61D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5E452-C906-4876-B2FF-29417C69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83A6A-C5D3-44E4-9539-7EBA6B02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0003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A7ED1-0FD9-4B4C-9DA0-9D830E2D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626CB-BF5F-4DFB-ADD3-7A950B91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76CD1-18D3-4F58-B108-F672E12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38325"/>
            <a:ext cx="2276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Custom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DB409-33FA-4E5C-B14B-C949D26F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52650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Trained from scratch on 48x48 grayscale inputs; establishes the project-specific baseline.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36F81-31A2-4261-82C4-A284305D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30003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6E719-EBE1-401C-AF6E-5C6B877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47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351D8-87AC-4438-ABF5-5CD574EF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88EFA-B64A-4013-9453-DC87B9E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38325"/>
            <a:ext cx="2276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Deeper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96C95-1CD3-47C4-BE88-6411878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Adds capacity to test whether the baseline is underpowered.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DFA9A-F993-4545-9615-8D1FC2E3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95450"/>
            <a:ext cx="30003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A1B5F-5487-43DE-81BF-E9B496D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47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7A7AF-DB0C-41AC-A068-1BDFA2FD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050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0F1F4-3E7F-4B34-9A80-5C2F526F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38325"/>
            <a:ext cx="2276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0849D-5D66-412D-8E3E-77EC7B46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Standard pretrained CNN; partial fine-tuning from deeper layers.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10B99-B90E-4040-B684-91EFE7A1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76650"/>
            <a:ext cx="30003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83F4C-62D7-4B2E-909B-CBA3A375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E0438-BC3D-4303-AF83-AF40FBFB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86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E38E4-7426-494C-8A06-335DCA9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9525"/>
            <a:ext cx="2276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6E7370-CD17-4BD6-A8DD-02AE6357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Lightweight pretrained CNN; tests efficiency-oriented transfer learning.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54589-8E2D-4681-A7E6-FB851868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A62A45-DB5E-4932-A01D-787B5DEF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455E7-3CA0-4312-986C-D4C0FD8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LOSS / SAMPLING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4E5DD7-EDB2-4904-B7B7-19AF20A9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CE + focal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FAC886-9BF8-4C76-AC4E-7C0D7E70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class weights and weighted sampler compared</a:t>
            </a:r>
          </a:p>
        </p:txBody>
      </p:sp>
    </p:spTree>
    <p:extLst>
      <p:ext uri="{BB962C8B-B14F-4D97-AF65-F5344CB8AC3E}">
        <p14:creationId xmlns:p14="http://schemas.microsoft.com/office/powerpoint/2010/main" val="14325964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9B629-68C1-4873-8C0E-30647D64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B2A5C-C320-4000-A69A-1D1C3413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5B81C-AB23-4642-B47E-EEE77257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Experiments and evaluated configurations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7E768-069F-47BD-A9D5-7F7A994A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The baseline experiments progress from basic CNN design to stronger training recipes.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6D9F5-5D04-416C-A7D4-B2E7B69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DA554-74FE-400A-A13D-10D85AE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BEE43-207A-4DCD-AA96-AA5ED11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C90BD-1FB1-4BD0-A5E4-0552825C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11CDA-6A61-4511-858A-BE2B3360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FE98B-1EC6-47C4-9073-6A7F34F0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Basic CNN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62693-5A37-4141-9290-6FF21B02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Custom CNN trained from scratch on FER2013.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A99C0-B21D-4EF6-A072-88AC0D6A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002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5D0F9-816C-465D-BB37-948ED530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40672-4A9D-406D-B056-A447EDFD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7B96E-30DD-400A-882A-FDD71A72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430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Augmentation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A2B42-63E6-4C7E-B5CB-50BD9C93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574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Random transforms reduce overfitting.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FC176-FC03-4BC0-B832-67BE123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C926B-CD93-46AA-A203-7EE51C01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52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68711-3166-493A-B0D5-C30BFD0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C4977-D4AD-4489-8673-DE19276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430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Imbalance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5EAFE-91C0-4B69-ADA0-26500F63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Sampler, class weights, and focal loss.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2D401-D551-44F2-B868-86753A07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002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F578D-8D60-4324-86F3-AB21DDA4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52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05003-AFF6-425A-87FB-C4C93927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3AF5D-9BE0-43AC-9EB4-0AA3445F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430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B49A7-E256-4E63-94D9-36DD146B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SGD, plateau LR, and clipping.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9D1CE-5CA2-4D47-9DCA-86EC4F46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99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CA8481-FB52-47E6-B2E1-B80677F3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62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D9950-8834-4B41-8DBE-47F9E127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D2D99-C5A2-4178-BDA7-67E553C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527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Capacity / crops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916DF-5495-42DE-9539-AFFCDBF6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Deeper CNN plus crop-based evaluation.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2DC956-0C34-4601-812E-0AC47764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Saved baseline results, test macro F1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9DE2CC-0B17-4E1C-A1DA-7D3C22C6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oversampling + focal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7AF031-3990-4751-8D24-8F070DF6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97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DB422D-3B6B-4C62-9B31-B649B712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65174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B5CA69-F295-4695-ACB3-0FBF95C3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718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0.483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A58BAB-2BCD-46CE-92BC-74440EF9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909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sampler + CE + SGD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940E83-F435-4AF3-AB9B-C4641F36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97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9C44E-D5E8-434A-A8DB-079188BB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80287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FB1959-1F97-414B-AE0D-12D1A1BF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909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0.595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DF5BCB-8D33-4593-B79F-4E4D5181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00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sampler + focal + SGD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94E201-877A-4260-A4FC-13C31DFF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97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A58EB9-E780-442E-9025-F3CEC05F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81367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A71BC8-BD7E-4D52-8639-ECDC7ED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100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BA01E4-9629-469D-8C45-DC1F1E62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291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deeper CNN, 80 epochs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F4D70A-669F-4B91-9AD4-58FEC615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81550"/>
            <a:ext cx="97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01BC16-78F1-4EF9-A283-C86572C1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81550"/>
            <a:ext cx="8420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0665A5-0063-4E87-BE8B-D6275D30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291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</p:spTree>
    <p:extLst>
      <p:ext uri="{BB962C8B-B14F-4D97-AF65-F5344CB8AC3E}">
        <p14:creationId xmlns:p14="http://schemas.microsoft.com/office/powerpoint/2010/main" val="1139904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FEE41-6BD4-43B4-B4C8-AE92B066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C9EC1-980D-4704-83FF-C9CC0E31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760C0-BC2E-4D72-83E5-67648C60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Experiments and evaluated configurations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74DBB-24FA-4640-9970-C80FD232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Transfer-learning experiments compare fine-tuning depth and imbalance strategies.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5DB32-619C-43EC-BE3A-88D3C461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2CB84-3148-4FB2-BBD2-06F1C92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39E27-0D6C-47AF-8ED9-2D4952B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ResNet18 configurations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18D2F-3318-49B4-82EA-B3F5294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feature extraction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9F608-6C5F-468C-AC00-19495B07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DD4C7-2055-4B63-8643-97887CD1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80094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F2904-0D0A-4478-90D2-FED12623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478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0.352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9BAC2-B7CB-4521-9DB7-2E71D050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layer4 fine-tuning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EBB8D-28C5-4D71-8EF3-58214C83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193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C8794-46B8-4251-9539-F813E0DE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19350"/>
            <a:ext cx="138117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C9F63-5586-4A55-892B-712DE753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669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98D36-1FA1-4A28-8E60-AC2C664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layer3 + class weights + focal + SGD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2CD66-DC74-4252-8D15-F05A391C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9A1E4-31DB-4A1F-8C83-23AF12CC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1538182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13631-458F-4F12-B866-68E957BE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860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76348-C44E-4024-895D-51B543CB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layer3 + crop/TenCrop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86749-764A-4B40-B735-8DB6844B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5AFA0-B51C-4BAF-B5F2-2E4FE92B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155183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C9EE5-7150-4412-AFD2-7DD674F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051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FC39D-FD61-4D2C-ABAC-77C7DB69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EfficientNet-B0 configurations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4925A-23F8-46DD-A318-EEDE07E4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plain small classifier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2DB77-233A-44E6-8D34-D9C8A276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90401-BDA0-40CC-870C-D49CEE03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13356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AAEB0-F59E-4620-BE78-A3CFA770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478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0.587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2D3CD-9EC5-4589-92F7-016D39F0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669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 weights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B7C935-D3E7-4078-86F7-86C790C3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76CA47-3355-4301-990C-16DE7B16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14221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83298D-71B6-45D4-8515-9849203A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669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8BD6DF-55A4-442C-8B4E-2D52649F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last blocks + sampler + SGD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86F64D-E151-4D41-8318-CBB67BEA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384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9F49F8-7222-4C48-A3F1-E93DB6E8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38450"/>
            <a:ext cx="151542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2B3801-D2C3-4CD4-A081-DAD3A204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860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0.666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D17E11-1B3F-425F-830B-B2640A65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051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last blocks + crop/TenCrop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5A9875-F65C-4DE2-8C54-BB76FB50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575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E91257-918C-433C-93FF-18564517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57550"/>
            <a:ext cx="15586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A9B584-C22A-4CEE-883A-35BB6808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051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E98783-1563-4406-8ACF-69CD3897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3714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83FB3B-90F2-4454-AA43-F6F512CF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559ADC-5009-4BB0-8DDD-1E1E0B8A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337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CONTROLLED COMPARISON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D2EE08-6A29-4B85-85BF-59722B98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91100"/>
            <a:ext cx="337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same metrics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F36AE5-7032-4A83-B3E1-131943D0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67350"/>
            <a:ext cx="3371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macro F1, weighted F1, per-class scores,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1160861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662CC-1396-461C-9884-B28EA67F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C9A4C-EDFB-49B5-867C-D80ADEAB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9FBCA-6AEE-4AAA-94DE-0EA46FB7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Results and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B8F34-F8F4-4FD5-B51C-E5BF3DD9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Baseline improvements show that imbalance handling helps, but capacity alone is not enough.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0BD06-5E95-4112-A7A6-BA4F3FC6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8DBD7-E03A-4662-8A8F-897AB9F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D7E1E-B2B6-485B-8451-ABBBFEC9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811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oversampling + focal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00626-4A75-4A01-894E-A3C9D76E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335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CDAD4-5AC3-47E2-AAA2-1A840F3E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33550"/>
            <a:ext cx="2121376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09409-BBBE-4D09-9213-97326B19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811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0.483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5B657-A6BB-4B39-A1DB-24D04F2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weighted sampler + CE + SGD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D9A3D-7E93-4B92-9B91-3B7C3E7C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1980A-C668-40C0-89D5-51DC39CC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26132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20961-BC8A-4D8E-89BE-5BB0607B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145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0.595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15242-8B3E-412E-A7B2-5DAACBD3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weighted sampler + focal + SGD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3485A-4EDA-4ADB-AAA0-44F4200F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03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E815B-651B-4581-A82F-B57A3D72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0350"/>
            <a:ext cx="2648426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03751-1968-4FD2-82B0-A02EC5D5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479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EEB29-32A8-491D-9792-FD15982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crop/TenCrop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DD283-2F76-4E1A-A3B7-2EFD1CE2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EE80F-19CB-41A0-9D8D-77BE3B2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62207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0490F-4305-411B-A021-B4E1ECE2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813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0.597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CF59D-BECA-4107-8F69-B23A6F7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deeper CNN, 80 epochs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BDC15-F303-4BA9-806F-9460FD2F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671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8B5CC-8219-45B5-A8C7-ADD31C3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67150"/>
            <a:ext cx="27406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73AB5-C98C-44C8-B025-E365FB8F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E8F95B-B478-417F-8D4D-43CCE4F0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4A2D12-CC60-4225-8763-097E8F2E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11434-D2A0-408A-88BA-E8F54BAE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BEST BASELINE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55C62-AF3A-44A5-A26E-B4B6955C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2B2AB7-E9C1-479B-B319-F25C111B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test macro F1; weighted F1 0.649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B1A543-5E3F-4E03-973D-C737A846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7B32A8-F402-4ACF-B184-65412BA1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B6692F-FFE8-4CE7-B0B8-3F75017D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004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6B2C"/>
                </a:solidFill>
                <a:latin typeface="Aptos"/>
                <a:ea typeface="Aptos"/>
                <a:cs typeface="Aptos"/>
              </a:rPr>
              <a:t>RECURRING ERROR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6C7E94-EF74-46A4-8775-E21CE8F6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481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C61A8C-E779-4E5A-99D7-1E6A8E2C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also fear -&gt; sad in several baseline runs</a:t>
            </a:r>
          </a:p>
        </p:txBody>
      </p:sp>
    </p:spTree>
    <p:extLst>
      <p:ext uri="{BB962C8B-B14F-4D97-AF65-F5344CB8AC3E}">
        <p14:creationId xmlns:p14="http://schemas.microsoft.com/office/powerpoint/2010/main" val="7177299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FEDA1E-944F-4C9D-9EC9-E7B73C85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B661B-A934-4CE7-88B6-75A1D117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A45BC-A47C-4C44-ABDB-729ACF00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Results and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E434A-ED79-4424-B9BD-15416A94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Transfer learning improves the strongest FER2013 results, especially after partial fine-tuning.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65001-E358-499B-91C9-BFA7F21F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A20A0-3F48-4BCC-8B19-DB795F1D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3CD84-5607-4DE6-AA6A-E3091B16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02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ResNet18 feature extraction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2EA8C-0353-4434-ACE1-6450AC97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0068E-1A05-47C8-A5D9-ED3FDCC9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14528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9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9EB2E-5ED0-4892-A46F-4FDEC1BB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02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0.352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EE6A4-41DD-4086-B340-998A7C1F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ResNet18 fine-tuned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B1CF5-BB29-4E7F-B96C-85B1493E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860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1F185-5657-4A96-95C8-062BA778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86000"/>
            <a:ext cx="2790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413DD-8BCC-4A33-A123-68DF0B22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36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27B24-EDBF-4538-9054-C20581BD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ResNet18 crop/TenCrop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98B42-25E7-45BE-9B48-65B3D56A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23BCC-B41B-4320-AB29-EB39DCCA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281495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4A6C2-EBA8-41BA-823E-9FB2117B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670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42258-445F-44A7-82FA-F60C22EE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EfficientNet-B0 class weights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30A66-4D72-400D-B797-FEA7B0B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DF578-9DD2-4478-A120-9560FD55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2579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7583B-D500-4020-8688-195B938C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761D5-81F8-43D3-98F7-AE9FD988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EffNet-B0 crop/TenCrop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7EB6C-B496-4528-B055-38BC41D4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862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C0B00-FE2E-4870-8C25-F18F4065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86200"/>
            <a:ext cx="282733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6D69B-F610-4DD6-83AC-940AB75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338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5E09A-E232-451B-A29D-D0456E77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A7507-3867-4031-8C04-C52AC9EA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771C8-5367-4352-8DE7-4059D593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812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9DA31-FBC5-4442-8FF6-E7D9BECC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288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fine-tuning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058B8F-7CAE-4CB4-8E69-122BA16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051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feature extraction alone is weak for FER2013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ABFCB-6F2E-4C17-8683-E42C539F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48050"/>
            <a:ext cx="2857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EC066-1E1B-4B40-BC00-BFA2778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480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2B13C8-ED93-483D-B3B7-5EC55FC1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6195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73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736B"/>
                </a:solidFill>
                <a:latin typeface="Aptos"/>
                <a:ea typeface="Aptos"/>
                <a:cs typeface="Aptos"/>
              </a:rPr>
              <a:t>BEST SAVED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7B132-683B-448D-8E77-03230466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671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3138C1-450F-4C15-A3EF-0552911B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3434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EfficientNet-B0 crop/TenCrop test macro F1</a:t>
            </a:r>
          </a:p>
        </p:txBody>
      </p:sp>
    </p:spTree>
    <p:extLst>
      <p:ext uri="{BB962C8B-B14F-4D97-AF65-F5344CB8AC3E}">
        <p14:creationId xmlns:p14="http://schemas.microsoft.com/office/powerpoint/2010/main" val="7327700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0ECA9-3664-4F68-A622-9D36A7F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F9765-4819-466D-951C-A9BBCB3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B1077-DE1B-4BC1-A78E-4AE9DA61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Results and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937D5-6AF6-4BDF-8232-15376F7C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The error analysis matches both the confusion matrix and affect-space intuition.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FC8C8-89B7-48E7-989B-9FE347A0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EE598-7B7C-46E2-B00F-36C018BB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FD615-9A04-4DDE-AB14-50E02A59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90675"/>
            <a:ext cx="497205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4509d69764524"/>
          <a:stretch xmlns:a="http://schemas.openxmlformats.org/drawingml/2006/main"/>
        </p:blipFill>
        <p:spPr>
          <a:xfrm xmlns:a="http://schemas.openxmlformats.org/drawingml/2006/main">
            <a:off x="685800" y="2246418"/>
            <a:ext cx="4953000" cy="246994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BB7FD-E115-48CB-9B12-84D0FD04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590675"/>
            <a:ext cx="3067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88a9b064a4efe"/>
          <a:stretch xmlns:a="http://schemas.openxmlformats.org/drawingml/2006/main"/>
        </p:blipFill>
        <p:spPr>
          <a:xfrm xmlns:a="http://schemas.openxmlformats.org/drawingml/2006/main">
            <a:off x="6019800" y="1699419"/>
            <a:ext cx="3048000" cy="256381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D06CC-189E-47F9-9C83-B4BF9130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71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457F5-DC61-4608-8EF0-661EF41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76400"/>
            <a:ext cx="18383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Happy and surprise are comparatively clean.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7C98B-09FC-4B01-9230-584D38DC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C42AD-1C44-432D-8666-95FE9BDE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18383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Fear and sad remain difficult classes.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7BD04-C24C-4C81-BD0A-A365FE81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4C1D9-B454-41F8-81C5-EFD89EA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48000"/>
            <a:ext cx="18383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Sad -&gt; neutral is the most persistent confusion.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82DC9-B5D3-408A-8677-790F2F1C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BC0AD-9D39-486C-96EC-280C450D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18383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affect circumplex supports this: some labels are close in emotion space.</a:t>
            </a:r>
          </a:p>
        </p:txBody>
      </p:sp>
    </p:spTree>
    <p:extLst>
      <p:ext uri="{BB962C8B-B14F-4D97-AF65-F5344CB8AC3E}">
        <p14:creationId xmlns:p14="http://schemas.microsoft.com/office/powerpoint/2010/main" val="1397096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CEF836-D006-405D-997F-943078B3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E99B5-2C9D-4392-97DA-4023C24B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1D7EE-2A19-4D25-99EA-96440B7C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Comparison against baselines and state of the 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53C45-F1B7-403E-BC24-28FA3E4D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Final comparison is separated from error analysis: implemented models first, SOTA context second.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06D52-1A66-43A8-812F-0DD2CE11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7EAF6-AB89-46C2-B2F5-7534CC72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2E46C-0CF9-40A9-8826-2B6338E2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Best custom CNN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31FB8-9FCD-4884-8383-537998A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335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E9086-43F3-45DD-919E-569FB99E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33550"/>
            <a:ext cx="27406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D20B8-783C-47DE-9B49-34770E8C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811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6CBE6-1DC9-4140-A57E-3027BD0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Best ResNet18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3ED14-9080-45CD-BEA7-23CA56CD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895DE-8278-4C43-A736-538A4B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299540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0CC65-848A-4C42-9364-43A4D362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479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6BE0C-92D1-441F-8D2D-A0B19F7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Best EfficientNet-B0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384B4-A3B7-4511-83F2-0517E8B7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E4F5E-4780-4194-A7E8-FE6D2B71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300857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2E063-A7F9-4506-B875-FDEBF63A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085C7-C704-4C68-AD7E-300EEA1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2762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A4970-46A0-4C19-B8A5-9EFAC75F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2762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47375-0638-4B82-A71C-0B06ED90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73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736B"/>
                </a:solidFill>
                <a:latin typeface="Aptos"/>
                <a:ea typeface="Aptos"/>
                <a:cs typeface="Aptos"/>
              </a:rPr>
              <a:t>IMPLEMENTED COMPARISON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00971-5804-46D4-8AEB-A70B233C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EffNet ~= R18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27632-5889-44D9-8FAF-973AD3F7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Both outperform the custom CNN baseline on FER2013.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C8687-241F-4E22-8E3B-A5A69C82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762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0C122-6B3B-4B0E-AD6A-79B20A7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762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157EE9-B5E3-45B1-A9CF-7A832D7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9095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SOTA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59AB47-0022-400B-8C2E-D766A898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2419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1003D-3CC7-4F78-8B2A-DAEA9773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14850"/>
            <a:ext cx="2419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Modern FER SOTA often uses stronger preprocessing, attention, ensembles, and larger training setups.</a:t>
            </a:r>
          </a:p>
        </p:txBody>
      </p:sp>
    </p:spTree>
    <p:extLst>
      <p:ext uri="{BB962C8B-B14F-4D97-AF65-F5344CB8AC3E}">
        <p14:creationId xmlns:p14="http://schemas.microsoft.com/office/powerpoint/2010/main" val="2876948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29766-76E3-4326-B29F-84B43EB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49FA4-CE7D-46EC-B690-6CE2C30D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C9FD7-53E0-43F1-986F-A9FCFB1B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Comparison against baselines and state of the 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8CC71-CA23-4A96-9DB9-8E00DB0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CK+ external validation changes the ranking and exposes domain shift.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90558-5B3B-48CA-9185-06BC88D8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32A36-328B-4837-84BB-E5CEB066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5DF98-E100-4921-B3DF-7B7B8EB4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09725"/>
            <a:ext cx="39243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ee45171b34595"/>
          <a:stretch xmlns:a="http://schemas.openxmlformats.org/drawingml/2006/main"/>
        </p:blipFill>
        <p:spPr>
          <a:xfrm xmlns:a="http://schemas.openxmlformats.org/drawingml/2006/main">
            <a:off x="666750" y="2200523"/>
            <a:ext cx="3905250" cy="202832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917D4-CD07-4DE8-BD91-47A0DC4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145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 CNN on CK+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564FF-393B-47BA-B891-464FCC28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FF6AB-0D8F-44F5-B134-CD181E2D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183896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17B55-1C41-456D-AA06-0C78514D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145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0.724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C70E7-FAA8-4BDC-AC00-930BA68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479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ResNet18 on CK+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A2E8C-4904-4069-B66D-BA63BEC8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11E80-04D7-469F-A888-C5FEDB89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7957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1BCC9-20CA-491F-B3B6-C874E993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479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0.707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CCCCB-ACC8-4514-9A7F-E5F6442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8132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EfficientNet-B0 on CK+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69F75-B644-4544-9060-D5D56275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11B30-0247-4747-8617-648BA89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141224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D3B9A-2021-4609-8797-BAF719E3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8132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0.556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35072-EEF7-4D2E-A161-43C199D1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100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32F68-7F93-4B95-A421-E8A7FF9A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10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190DE-422C-4905-AA69-58FB90DF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814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6B2C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FAFFB-093D-4952-93B1-4DDFF255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2910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domain shift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FC512-330E-442C-967C-A5601E3D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05350"/>
            <a:ext cx="2990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The best FER2013 model does not automatically dominate CK+.</a:t>
            </a:r>
          </a:p>
        </p:txBody>
      </p:sp>
    </p:spTree>
    <p:extLst>
      <p:ext uri="{BB962C8B-B14F-4D97-AF65-F5344CB8AC3E}">
        <p14:creationId xmlns:p14="http://schemas.microsoft.com/office/powerpoint/2010/main" val="787598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6B9A0-D3A1-4655-8227-947F65EE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08573-6BFD-4565-9FB1-35C102D8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D460B-6F06-4512-B965-732A7FCE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Discussion of limitations and observations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0D860-8E87-4169-8EBD-B24EB32E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The results are useful, but the model should not be overclaimed.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20E1D-4F00-4C1F-B1F6-7D31B040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6C968-9F4C-4F68-95B2-BA5DCE96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F8DDF-447B-4DA5-B66B-7038117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28775"/>
            <a:ext cx="497205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dcdc53fb94d4c"/>
          <a:stretch xmlns:a="http://schemas.openxmlformats.org/drawingml/2006/main"/>
        </p:blipFill>
        <p:spPr>
          <a:xfrm xmlns:a="http://schemas.openxmlformats.org/drawingml/2006/main">
            <a:off x="685800" y="2793258"/>
            <a:ext cx="4953000" cy="107145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14FC3-69DB-421E-96AF-A282A5E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39D0A-8813-4743-83AD-838CBF3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3981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FER2013 is low-resolution and contains ambiguous or noisy labels.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D31B1-D049-4295-A9CD-AB9948D6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9A159-CC58-4F80-8837-E7DF1CC5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3981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 imbalance remains visible even after sampler and loss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95084-9800-4D40-9F15-23F693D9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074F6-0B63-45AA-A5B4-00B045C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3981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Emotion labels are categorical, but affect is continuous.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38B82-DF5A-439A-A1BD-910B9A93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48F39-6B97-4BDA-BBE6-5343913E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3981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validation shows dataset shift between FER2013 and CK+.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EB84C-46EC-44B1-A510-8D8A43EB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02672-2904-4DD5-8D01-74DD2A19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3981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explicit face alignment pipeline was included.</a:t>
            </a:r>
          </a:p>
        </p:txBody>
      </p:sp>
    </p:spTree>
    <p:extLst>
      <p:ext uri="{BB962C8B-B14F-4D97-AF65-F5344CB8AC3E}">
        <p14:creationId xmlns:p14="http://schemas.microsoft.com/office/powerpoint/2010/main" val="158770468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5BCACA-8E1D-48A7-9D20-D7478C61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50593-13D0-4E85-A6AA-3357937A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623A1-B6E7-4EA9-B269-CFCED0CA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Conclusions and future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8B2DA-E9A8-48EC-A362-72919D71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The project improves FER2013 performance while identifying the remaining bottlenecks.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E2D0D-5FAB-4F64-8856-679DBA79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0B7FD-F20F-4309-AE15-2A3B87A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46E79-A732-4339-B615-5D40614C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4006D-33F2-42AC-8C1B-408B67A7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33D3A-EEDB-4304-BCCA-529B86BC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6EA6"/>
                </a:solidFill>
                <a:latin typeface="Aptos"/>
                <a:ea typeface="Aptos"/>
                <a:cs typeface="Aptos"/>
              </a:rPr>
              <a:t>CONCLUSION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41CF4-9831-496D-A468-1248408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transfer helps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15A1-93CD-471E-B3BD-E614853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ResNet18 and EfficientNet-B0 outperform the custom CNN baseline.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3C98B-D9A4-4014-9FA1-B77451D3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2ABBF-5A5F-43DF-B181-21569F6C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AF900-B33F-4044-94FD-65DBB346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73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736B"/>
                </a:solidFill>
                <a:latin typeface="Aptos"/>
                <a:ea typeface="Aptos"/>
                <a:cs typeface="Aptos"/>
              </a:rPr>
              <a:t>CONCLUSION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A0E92-F569-4402-A0F9-FE75D8DB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metrics matter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15B32-1E02-4F86-9B98-C0C07767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Macro F1 and per-class analysis reveal hard classes.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E80C4-EE87-4950-8E8E-E9159EDA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002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7874D-504A-42E9-8BCA-66FB37A6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002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CB13E-A69E-4F28-87AD-2BD47741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716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86B2C"/>
                </a:solidFill>
                <a:latin typeface="Aptos"/>
                <a:ea typeface="Aptos"/>
                <a:cs typeface="Aptos"/>
              </a:rPr>
              <a:t>CONCLUSION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9B307-A077-4152-AD9A-5821705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193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domain shift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19CF4-84A1-4593-9562-781E20F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CK+ validation shows cross-dataset limits.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2585E-2F59-42E9-A0AE-3252913A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D7B98-D254-4EF5-B420-C4881ED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4EBF5-DE77-4AE2-9B3E-B030F96B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3CF78-131B-4082-B8C8-D4FBBB28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004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Face alignment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C2026-132F-4DE9-A913-599CC2C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Reduce pose and crop variation before training.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4B8EE-76ED-4A67-B1FB-9A344221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576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2DCBA-74D2-4535-B8C0-E38D5394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10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6FDDF-B255-4375-A889-384E1476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671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532A49-CB78-417B-8C17-34DF901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004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Label-noise handling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47802-A9CC-4801-80BC-6AD32D2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148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Account for ambiguous FER2013 annotations.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41C552-8ECB-4772-81CE-F5C43D03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73977-6E40-4506-A1B4-9111CCED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3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D97BAA-E5A2-4617-AE56-ED00CCE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B00643-0CB4-4B5F-985E-F8EEEC0C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004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Stronger models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3A4CF6-F5D2-4486-93AC-C60D8EFD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Attention, transformers, or ensembles.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1F6D90-9906-42EF-AD98-42490E75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576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BD06A-7E89-4989-9905-F57BDB6D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810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27DEF1-8C5C-4E03-9857-DA39E953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8671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B5D650-B651-4C8E-BC9C-2E402871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8004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C1B59F-849B-4E4B-831D-E2041CF9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14800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6575"/>
                </a:solidFill>
                <a:latin typeface="Aptos"/>
                <a:ea typeface="Aptos"/>
                <a:cs typeface="Aptos"/>
              </a:rPr>
              <a:t>Analyze confidence and high-confidence errors.</a:t>
            </a:r>
          </a:p>
        </p:txBody>
      </p:sp>
    </p:spTree>
    <p:extLst>
      <p:ext uri="{BB962C8B-B14F-4D97-AF65-F5344CB8AC3E}">
        <p14:creationId xmlns:p14="http://schemas.microsoft.com/office/powerpoint/2010/main" val="1119606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2026-05-30T15:30:52.2260000Z</dcterms:created>
  <dcterms:modified xsi:type="dcterms:W3CDTF">2026-05-30T15:30:52.2260000Z</dcterms:modified>
</coreProperties>
</file>