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3a2e822522454e" /><Relationship Type="http://schemas.openxmlformats.org/officeDocument/2006/relationships/extended-properties" Target="/docProps/app.xml" Id="Rf655d0fddfa34947" /><Relationship Type="http://schemas.openxmlformats.org/officeDocument/2006/relationships/officeDocument" Target="/ppt/presentation.xml" Id="R9cb93067b8b748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89b555f47b4fdf"/>
  </p:sldMasterIdLst>
  <p:notesMasterIdLst>
    <p:notesMasterId xmlns:r="http://schemas.openxmlformats.org/officeDocument/2006/relationships" r:id="R479740cf6d1e4af5"/>
  </p:notesMasterIdLst>
  <p:sldIdLst>
    <p:sldId xmlns:r="http://schemas.openxmlformats.org/officeDocument/2006/relationships" id="256" r:id="Re0e2ef47dfb14f35"/>
    <p:sldId xmlns:r="http://schemas.openxmlformats.org/officeDocument/2006/relationships" id="257" r:id="R543e64a3b493467b"/>
    <p:sldId xmlns:r="http://schemas.openxmlformats.org/officeDocument/2006/relationships" id="258" r:id="R22aed2b58a664c0b"/>
    <p:sldId xmlns:r="http://schemas.openxmlformats.org/officeDocument/2006/relationships" id="259" r:id="R6383e5e161184bb1"/>
    <p:sldId xmlns:r="http://schemas.openxmlformats.org/officeDocument/2006/relationships" id="260" r:id="R99129d5052814f00"/>
    <p:sldId xmlns:r="http://schemas.openxmlformats.org/officeDocument/2006/relationships" id="261" r:id="R8a4f867d0bcb444d"/>
    <p:sldId xmlns:r="http://schemas.openxmlformats.org/officeDocument/2006/relationships" id="262" r:id="R53ff4bffb75844cc"/>
    <p:sldId xmlns:r="http://schemas.openxmlformats.org/officeDocument/2006/relationships" id="263" r:id="R10f9bd8c6ec94243"/>
    <p:sldId xmlns:r="http://schemas.openxmlformats.org/officeDocument/2006/relationships" id="264" r:id="Rf45c0e1f69874b32"/>
    <p:sldId xmlns:r="http://schemas.openxmlformats.org/officeDocument/2006/relationships" id="265" r:id="R4407ecf343894fe0"/>
    <p:sldId xmlns:r="http://schemas.openxmlformats.org/officeDocument/2006/relationships" id="266" r:id="Rbedd639987bd4006"/>
    <p:sldId xmlns:r="http://schemas.openxmlformats.org/officeDocument/2006/relationships" id="267" r:id="R703a7f1d388f4eba"/>
    <p:sldId xmlns:r="http://schemas.openxmlformats.org/officeDocument/2006/relationships" id="268" r:id="R9d15a7fdfa544c3d"/>
    <p:sldId xmlns:r="http://schemas.openxmlformats.org/officeDocument/2006/relationships" id="269" r:id="R95699c67f9d140db"/>
    <p:sldId xmlns:r="http://schemas.openxmlformats.org/officeDocument/2006/relationships" id="270" r:id="R715705bfaa3646b0"/>
    <p:sldId xmlns:r="http://schemas.openxmlformats.org/officeDocument/2006/relationships" id="271" r:id="R5bc566b2a1f64fee"/>
    <p:sldId xmlns:r="http://schemas.openxmlformats.org/officeDocument/2006/relationships" id="272" r:id="R2ae7e0f65b1d47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9b555f47b4fdf" /><Relationship Type="http://schemas.openxmlformats.org/officeDocument/2006/relationships/theme" Target="/ppt/theme/theme1.xml" Id="R115496d1c860409d" /><Relationship Type="http://schemas.openxmlformats.org/officeDocument/2006/relationships/notesMaster" Target="/ppt/notesMasters/notesMaster1.xml" Id="R479740cf6d1e4af5" /><Relationship Type="http://schemas.openxmlformats.org/officeDocument/2006/relationships/presProps" Target="/ppt/presProps.xml" Id="Rac22ba834243494d" /><Relationship Type="http://schemas.openxmlformats.org/officeDocument/2006/relationships/viewProps" Target="/ppt/viewProps.xml" Id="R750b42afb0824ac3" /><Relationship Type="http://schemas.openxmlformats.org/officeDocument/2006/relationships/tableStyles" Target="/ppt/tableStyles.xml" Id="Re1bf01e3c83349e4" /><Relationship Type="http://schemas.openxmlformats.org/officeDocument/2006/relationships/slide" Target="/ppt/slides/slide1.xml" Id="Re0e2ef47dfb14f35" /><Relationship Type="http://schemas.openxmlformats.org/officeDocument/2006/relationships/slide" Target="/ppt/slides/slide2.xml" Id="R543e64a3b493467b" /><Relationship Type="http://schemas.openxmlformats.org/officeDocument/2006/relationships/slide" Target="/ppt/slides/slide3.xml" Id="R22aed2b58a664c0b" /><Relationship Type="http://schemas.openxmlformats.org/officeDocument/2006/relationships/slide" Target="/ppt/slides/slide4.xml" Id="R6383e5e161184bb1" /><Relationship Type="http://schemas.openxmlformats.org/officeDocument/2006/relationships/slide" Target="/ppt/slides/slide5.xml" Id="R99129d5052814f00" /><Relationship Type="http://schemas.openxmlformats.org/officeDocument/2006/relationships/slide" Target="/ppt/slides/slide6.xml" Id="R8a4f867d0bcb444d" /><Relationship Type="http://schemas.openxmlformats.org/officeDocument/2006/relationships/slide" Target="/ppt/slides/slide7.xml" Id="R53ff4bffb75844cc" /><Relationship Type="http://schemas.openxmlformats.org/officeDocument/2006/relationships/slide" Target="/ppt/slides/slide8.xml" Id="R10f9bd8c6ec94243" /><Relationship Type="http://schemas.openxmlformats.org/officeDocument/2006/relationships/slide" Target="/ppt/slides/slide9.xml" Id="Rf45c0e1f69874b32" /><Relationship Type="http://schemas.openxmlformats.org/officeDocument/2006/relationships/slide" Target="/ppt/slides/slide10.xml" Id="R4407ecf343894fe0" /><Relationship Type="http://schemas.openxmlformats.org/officeDocument/2006/relationships/slide" Target="/ppt/slides/slide11.xml" Id="Rbedd639987bd4006" /><Relationship Type="http://schemas.openxmlformats.org/officeDocument/2006/relationships/slide" Target="/ppt/slides/slide12.xml" Id="R703a7f1d388f4eba" /><Relationship Type="http://schemas.openxmlformats.org/officeDocument/2006/relationships/slide" Target="/ppt/slides/slide13.xml" Id="R9d15a7fdfa544c3d" /><Relationship Type="http://schemas.openxmlformats.org/officeDocument/2006/relationships/slide" Target="/ppt/slides/slide14.xml" Id="R95699c67f9d140db" /><Relationship Type="http://schemas.openxmlformats.org/officeDocument/2006/relationships/slide" Target="/ppt/slides/slide15.xml" Id="R715705bfaa3646b0" /><Relationship Type="http://schemas.openxmlformats.org/officeDocument/2006/relationships/slide" Target="/ppt/slides/slide16.xml" Id="R5bc566b2a1f64fee" /><Relationship Type="http://schemas.openxmlformats.org/officeDocument/2006/relationships/slide" Target="/ppt/slides/slide17.xml" Id="R2ae7e0f65b1d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9face90316d4a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acee80639449b3" /><Relationship Type="http://schemas.openxmlformats.org/officeDocument/2006/relationships/notesMaster" Target="/ppt/notesMasters/notesMaster1.xml" Id="Rb72a5883ac224c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0d78ac98e144b8" /><Relationship Type="http://schemas.openxmlformats.org/officeDocument/2006/relationships/notesMaster" Target="/ppt/notesMasters/notesMaster1.xml" Id="R9cb8753f92d74b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d8a87a3f2f4045" /><Relationship Type="http://schemas.openxmlformats.org/officeDocument/2006/relationships/notesMaster" Target="/ppt/notesMasters/notesMaster1.xml" Id="R0b4630722e53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e65264bb284e8e" /><Relationship Type="http://schemas.openxmlformats.org/officeDocument/2006/relationships/notesMaster" Target="/ppt/notesMasters/notesMaster1.xml" Id="R0989de05a96543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c9001f62a4663" /><Relationship Type="http://schemas.openxmlformats.org/officeDocument/2006/relationships/notesMaster" Target="/ppt/notesMasters/notesMaster1.xml" Id="R41bfba780cc04a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c1ccd8802c4b7c" /><Relationship Type="http://schemas.openxmlformats.org/officeDocument/2006/relationships/notesMaster" Target="/ppt/notesMasters/notesMaster1.xml" Id="Re8a47e4b357b46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f971560c664151" /><Relationship Type="http://schemas.openxmlformats.org/officeDocument/2006/relationships/notesMaster" Target="/ppt/notesMasters/notesMaster1.xml" Id="R5af9f9f772b948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03ee73f28c4611" /><Relationship Type="http://schemas.openxmlformats.org/officeDocument/2006/relationships/notesMaster" Target="/ppt/notesMasters/notesMaster1.xml" Id="R462b09ad1c4847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ab683b8508409f" /><Relationship Type="http://schemas.openxmlformats.org/officeDocument/2006/relationships/notesMaster" Target="/ppt/notesMasters/notesMaster1.xml" Id="Reba61d81683b44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ab7a0c8ed44f81" /><Relationship Type="http://schemas.openxmlformats.org/officeDocument/2006/relationships/notesMaster" Target="/ppt/notesMasters/notesMaster1.xml" Id="Rcfcd78be201443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cbbfbac0ec4dd6" /><Relationship Type="http://schemas.openxmlformats.org/officeDocument/2006/relationships/notesMaster" Target="/ppt/notesMasters/notesMaster1.xml" Id="R47e6aa48ec6147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802fe32097491f" /><Relationship Type="http://schemas.openxmlformats.org/officeDocument/2006/relationships/notesMaster" Target="/ppt/notesMasters/notesMaster1.xml" Id="R7f0d97d3976e4f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0d6941a4f64f64" /><Relationship Type="http://schemas.openxmlformats.org/officeDocument/2006/relationships/notesMaster" Target="/ppt/notesMasters/notesMaster1.xml" Id="Re44c8383e57d4f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87f57c1c3a4065" /><Relationship Type="http://schemas.openxmlformats.org/officeDocument/2006/relationships/notesMaster" Target="/ppt/notesMasters/notesMaster1.xml" Id="Rdf28a58c621246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1f9764d0b749b8" /><Relationship Type="http://schemas.openxmlformats.org/officeDocument/2006/relationships/notesMaster" Target="/ppt/notesMasters/notesMaster1.xml" Id="Rb99de68d834a42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2a763918f241a0" /><Relationship Type="http://schemas.openxmlformats.org/officeDocument/2006/relationships/notesMaster" Target="/ppt/notesMasters/notesMaster1.xml" Id="Rb31cec4356a040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03c2006a214e90" /><Relationship Type="http://schemas.openxmlformats.org/officeDocument/2006/relationships/notesMaster" Target="/ppt/notesMasters/notesMaster1.xml" Id="R70095579d09843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a8a83e7f04ee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1993357c56a440a" /><Relationship Type="http://schemas.openxmlformats.org/officeDocument/2006/relationships/slideLayout" Target="/ppt/slideLayouts/slideLayout2.xml" Id="R25adce2d5eae4f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adce2d5eae4f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8b0baafa904ba8" /><Relationship Type="http://schemas.openxmlformats.org/officeDocument/2006/relationships/notesSlide" Target="/ppt/notesSlides/notesSlide1.xml" Id="R4f3c061ef36a49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f93e61293d4aaa" /><Relationship Type="http://schemas.openxmlformats.org/officeDocument/2006/relationships/notesSlide" Target="/ppt/notesSlides/notesSlide2.xml" Id="R871da1e9794241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3b235ceed4d12" /><Relationship Type="http://schemas.openxmlformats.org/officeDocument/2006/relationships/notesSlide" Target="/ppt/notesSlides/notesSlide3.xml" Id="Rc5dd2572c85948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3c993db908455f" /><Relationship Type="http://schemas.openxmlformats.org/officeDocument/2006/relationships/notesSlide" Target="/ppt/notesSlides/notesSlide4.xml" Id="R839bfe9975334e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f05b151ea545d5" /><Relationship Type="http://schemas.openxmlformats.org/officeDocument/2006/relationships/image" Target="/ppt/media/image.png" Id="Rdf2134a2d6194d40" /><Relationship Type="http://schemas.openxmlformats.org/officeDocument/2006/relationships/image" Target="/ppt/media/image2.png" Id="Rb6fb72a9a077483e" /><Relationship Type="http://schemas.openxmlformats.org/officeDocument/2006/relationships/notesSlide" Target="/ppt/notesSlides/notesSlide5.xml" Id="Ra411c429d15e46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272c31b0b947e7" /><Relationship Type="http://schemas.openxmlformats.org/officeDocument/2006/relationships/image" Target="/ppt/media/image3.png" Id="R1b05cf852d704b8d" /><Relationship Type="http://schemas.openxmlformats.org/officeDocument/2006/relationships/image" Target="/ppt/media/image4.png" Id="R88e57e1dc8e546df" /><Relationship Type="http://schemas.openxmlformats.org/officeDocument/2006/relationships/image" Target="/ppt/media/image5.png" Id="Rcff988f4dea94659" /><Relationship Type="http://schemas.openxmlformats.org/officeDocument/2006/relationships/notesSlide" Target="/ppt/notesSlides/notesSlide6.xml" Id="R52c323c3ca0244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9059bc10e422b" /><Relationship Type="http://schemas.openxmlformats.org/officeDocument/2006/relationships/notesSlide" Target="/ppt/notesSlides/notesSlide7.xml" Id="Rcab718edb0644d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0d6f53b12c4ab6" /><Relationship Type="http://schemas.openxmlformats.org/officeDocument/2006/relationships/notesSlide" Target="/ppt/notesSlides/notesSlide8.xml" Id="Rfe2639c3d36742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ce4385163d4eaa" /><Relationship Type="http://schemas.openxmlformats.org/officeDocument/2006/relationships/notesSlide" Target="/ppt/notesSlides/notesSlide9.xml" Id="R805c3514dc2e4f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c06d44e0df4594" /><Relationship Type="http://schemas.openxmlformats.org/officeDocument/2006/relationships/notesSlide" Target="/ppt/notesSlides/notesSlide10.xml" Id="Rdc97a2364f2149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9b008a486a4a32" /><Relationship Type="http://schemas.openxmlformats.org/officeDocument/2006/relationships/notesSlide" Target="/ppt/notesSlides/notesSlide11.xml" Id="R761087e857534c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6b6e5903424ced" /><Relationship Type="http://schemas.openxmlformats.org/officeDocument/2006/relationships/notesSlide" Target="/ppt/notesSlides/notesSlide12.xml" Id="Rdef74c69eac24d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45b51d2f6c443c" /><Relationship Type="http://schemas.openxmlformats.org/officeDocument/2006/relationships/image" Target="/ppt/media/image6.png" Id="R6f4b465d1e6d4094" /><Relationship Type="http://schemas.openxmlformats.org/officeDocument/2006/relationships/image" Target="/ppt/media/image7.png" Id="R3715657614d643e0" /><Relationship Type="http://schemas.openxmlformats.org/officeDocument/2006/relationships/notesSlide" Target="/ppt/notesSlides/notesSlide13.xml" Id="R737c69ef4bbf4d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98cff2bc394eba" /><Relationship Type="http://schemas.openxmlformats.org/officeDocument/2006/relationships/notesSlide" Target="/ppt/notesSlides/notesSlide14.xml" Id="R2540d7a7fd5245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74fb459a9d4ddc" /><Relationship Type="http://schemas.openxmlformats.org/officeDocument/2006/relationships/image" Target="/ppt/media/image8.png" Id="R89e14d217e4a4766" /><Relationship Type="http://schemas.openxmlformats.org/officeDocument/2006/relationships/notesSlide" Target="/ppt/notesSlides/notesSlide15.xml" Id="R43f1ce247ea945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4fedb8da6542cc" /><Relationship Type="http://schemas.openxmlformats.org/officeDocument/2006/relationships/image" Target="/ppt/media/image9.png" Id="Rb8a0fa1278da4b5e" /><Relationship Type="http://schemas.openxmlformats.org/officeDocument/2006/relationships/notesSlide" Target="/ppt/notesSlides/notesSlide16.xml" Id="R0a4df6ef533c4b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9d43c2f64b4675" /><Relationship Type="http://schemas.openxmlformats.org/officeDocument/2006/relationships/notesSlide" Target="/ppt/notesSlides/notesSlide17.xml" Id="Reb6f2b036ebf45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06AED-1992-43A7-9289-BA057C17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C8FB1-940D-4105-B232-783DBC79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Facial Expression Recognition on FER2013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0FC11-1A16-4546-A858-51A52BA7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Controlled CNN baselines, transfer learning, and CK+ external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AAFDE-AB00-4693-939E-0B0BA72E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D306A-432C-4FDE-8FB6-86C2BB77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697EA-860D-4C16-B337-C4000D9B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7 emotions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68303-486F-4CC9-8863-C0FC7CC8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48x48 grayscale FER2013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F708C-3A5D-44D1-8A8B-DD3328BF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872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8726A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2F969-E2CF-4898-9B49-4158F732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ED6F0-4F94-4BA3-AD64-3071F446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balanced evaluation under class imbalance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7D8AE-9229-4E42-97E3-8FDF3531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7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75D2A"/>
                </a:solidFill>
                <a:latin typeface="Aptos"/>
                <a:ea typeface="Aptos"/>
                <a:cs typeface="Aptos"/>
              </a:rPr>
              <a:t>EXTERNAL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557B8-3DF0-4659-9DA7-3BD926B5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52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19823-95FE-4A15-B1AC-D26343D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zero-shot transfer beyond FER2013</a:t>
            </a:r>
          </a:p>
        </p:txBody>
      </p:sp>
    </p:spTree>
    <p:extLst>
      <p:ext uri="{BB962C8B-B14F-4D97-AF65-F5344CB8AC3E}">
        <p14:creationId xmlns:p14="http://schemas.microsoft.com/office/powerpoint/2010/main" val="21416408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AC734-A74F-41A6-ACDC-CCEE5088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A89E8-6FD9-4C91-B4A1-C23C6380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PRESENTATION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DC2E4-DA8F-4BD4-A9C4-21CAF947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scientific structure is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DD1C0-B4DD-4E2B-88DB-F48A9AE7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B83AE-1A72-4BAC-8261-A0681EEE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A45F8-B451-48C7-9091-2F40876F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88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447D9-1E73-42F6-9CF4-D297160B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80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E8EDC-A9DB-4E32-9948-F3CC4BEB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76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5A9D5-50A7-4CEF-BFDE-B20276AB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650" y="1809750"/>
            <a:ext cx="288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2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26A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6A23D-5F25-4372-95FD-9E89C623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650" y="2171700"/>
            <a:ext cx="280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20767-9BE5-481D-BEA6-45A05EAE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650" y="2343150"/>
            <a:ext cx="276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Controlled experiment design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Implemented models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Baseline progression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Transfer-learning configurations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0A81E-9B73-4D9A-8839-677AFDD5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150" y="1809750"/>
            <a:ext cx="288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5D2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97531-C7D2-48FD-AC60-8125F57B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150" y="2171700"/>
            <a:ext cx="280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50E56-B39D-47A3-8C42-2A94A41C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150" y="2343150"/>
            <a:ext cx="276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Results and analysis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Comparison against baselines / SOTA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Limitations and observations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1380414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E780EB-AAD2-4132-B8C5-7313FA4C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4D34F-FC47-45DA-B9B6-250DE525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D1FF6-4EB9-4E2E-A5F9-7EC47B30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task is useful, but subtle expression boundaries make evaluation hard.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049EE-58BD-44D9-BF24-AB0759B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5ECA0-6318-410F-8DF0-E0DFCA09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4B9CB-5B85-4F24-BF06-6A158BF1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9985C-33F2-41E5-A82F-BA91F32D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Facial expression recognition supports affective computing and human-computer interaction.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CC924-78EA-425F-B310-D9CCEC16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37C80-6D9C-4D7B-B8BE-CC6001FF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Expressions vary by identity, pose, lighting, intensity, and annotation quality.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29F07-C7D2-4FD9-8DCC-3C2C8789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2E7E-B7BC-443C-B867-7D00F3CF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FER2013 is intentionally difficult: low-resolution grayscale crops and visually ambiguous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6B55C-5727-44C5-85B6-3E1D077E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652A1-81EA-43C8-BB57-96C693F7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The project focuses on balanced recognition, not only performance on the easiest or largest classes.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BD4B1-1A46-4A7E-8845-3996ACD6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MAIN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0C91A-CFB5-4EF8-B9CC-87AD95AF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What generalizes?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06153-48CF-4684-99D0-F4AB59E9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custom CNNs vs pretrained CNNs under controlled evaluation</a:t>
            </a:r>
          </a:p>
        </p:txBody>
      </p:sp>
    </p:spTree>
    <p:extLst>
      <p:ext uri="{BB962C8B-B14F-4D97-AF65-F5344CB8AC3E}">
        <p14:creationId xmlns:p14="http://schemas.microsoft.com/office/powerpoint/2010/main" val="13260425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2849B9-AA48-4642-84E1-0A40839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5A831-B859-48AE-BDCE-16BEA790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50303-60C8-4C08-872F-9313838D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FER has moved from handcrafted features to CNNs, transfer learning, and attention-based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C5A91-C5F3-4E4A-9C32-92216001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697B9-9A7F-4F95-9FB2-BCC98D6C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4B5FE-13BC-46D6-8778-406F9A9C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04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5D2A"/>
                </a:solidFill>
                <a:latin typeface="Aptos"/>
                <a:ea typeface="Aptos"/>
                <a:cs typeface="Aptos"/>
              </a:rPr>
              <a:t>Classical 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4D777-88AA-4011-8B4E-86703C3A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96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AE132-EB5A-4853-A982-5E6F0864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927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Handcrafted descriptors with shallow classifiers. Useful historical baseline, less robust to noisy in-the-wild images.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6132A-4515-410D-A356-8B43C019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1695450"/>
            <a:ext cx="304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CNN / transfer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6ECE9-D368-4F71-88B6-0CC43A4E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2057400"/>
            <a:ext cx="296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E1EC1-C359-475F-B17D-DBAE960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2228850"/>
            <a:ext cx="2927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CNNs learn expression features directly. ImageNet-pretrained ResNet/EfficientNet backbones are practical strong baselines.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C95A6-56FD-417E-8170-807CE9D5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695450"/>
            <a:ext cx="304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2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26A"/>
                </a:solidFill>
                <a:latin typeface="Aptos"/>
                <a:ea typeface="Aptos"/>
                <a:cs typeface="Aptos"/>
              </a:rPr>
              <a:t>Recent SOTA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6E7C9-9B2C-45F7-B9A9-53267026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2057400"/>
            <a:ext cx="296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44E40-7F73-4235-B358-E156492E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2228850"/>
            <a:ext cx="2927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Often uses face alignment, attention or transformers, ensembles, and larger curated training setups.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C9D15-05A3-4856-8622-0C21A883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72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68C43-8C03-4E9D-B1CE-BB4319B5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This project does not claim state-of-the-art performance.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6E594-7F34-47DE-B72B-A143AEB7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05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AD8B9-9D1E-4EEC-9A31-BCD9D9DE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006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The fair comparison is between implemented baselines and transfer-learning configurations under the same protocol.</a:t>
            </a:r>
          </a:p>
        </p:txBody>
      </p:sp>
    </p:spTree>
    <p:extLst>
      <p:ext uri="{BB962C8B-B14F-4D97-AF65-F5344CB8AC3E}">
        <p14:creationId xmlns:p14="http://schemas.microsoft.com/office/powerpoint/2010/main" val="8151438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CBDAC3-1DAC-4DD2-B322-D6A60F4F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DE415-8542-4DC8-A7C7-74BA2F9D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E4A49-BC61-47CE-BA6F-AE92B2A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FER2013 is compact, imbalanced, and visually ambiguous.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4E90D-2786-46BD-A7E6-8B991FC4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8DE35-CC85-47FF-8228-E775E470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134a2d6194d40"/>
          <a:stretch xmlns:a="http://schemas.openxmlformats.org/drawingml/2006/main"/>
        </p:blipFill>
        <p:spPr>
          <a:xfrm xmlns:a="http://schemas.openxmlformats.org/drawingml/2006/main">
            <a:off x="1265420" y="1619250"/>
            <a:ext cx="1888761" cy="25717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b72a9a077483e"/>
          <a:stretch xmlns:a="http://schemas.openxmlformats.org/drawingml/2006/main"/>
        </p:blipFill>
        <p:spPr>
          <a:xfrm xmlns:a="http://schemas.openxmlformats.org/drawingml/2006/main">
            <a:off x="4114800" y="1756217"/>
            <a:ext cx="3714750" cy="229781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03DD6-9431-498D-B1AF-19F72B3B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IMAGE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B6978-4D26-41FD-AC7A-4C68E1C5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48x48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94D05-E5D8-4788-B8BF-7114AA0B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grayscale face crops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CF77C-CCB9-4DBD-AC86-24281EE5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7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75D2A"/>
                </a:solidFill>
                <a:latin typeface="Aptos"/>
                <a:ea typeface="Aptos"/>
                <a:cs typeface="Aptos"/>
              </a:rPr>
              <a:t>IMBALANCE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DBF0E-B598-44F7-A862-E1E1A691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1DCD0-5C37-4B28-B5EF-20BCFFEC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smallest class; happy is largest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C3593-8C1C-4C83-BDB6-00C9F3D1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904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Consequence: macro F1 is the primary metric; weighted F1, per-class scores, and confusion matrices support the analysis.</a:t>
            </a:r>
          </a:p>
        </p:txBody>
      </p:sp>
    </p:spTree>
    <p:extLst>
      <p:ext uri="{BB962C8B-B14F-4D97-AF65-F5344CB8AC3E}">
        <p14:creationId xmlns:p14="http://schemas.microsoft.com/office/powerpoint/2010/main" val="1028932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338CD7-4DE7-4E1F-A15D-4422DF16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3EEB4-419B-4BD2-B47B-73F5BB2C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926F9-5269-4C89-9F7E-4A1F41C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Preprocessing differs by model family, while affect space helps interpret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6E692-83FC-4C98-9083-266D8802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42386-229D-490E-90AE-48F90436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5cf852d704b8d"/>
          <a:stretch xmlns:a="http://schemas.openxmlformats.org/drawingml/2006/main"/>
        </p:blipFill>
        <p:spPr>
          <a:xfrm xmlns:a="http://schemas.openxmlformats.org/drawingml/2006/main">
            <a:off x="685800" y="2409081"/>
            <a:ext cx="2857500" cy="668238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57e1dc8e546df"/>
          <a:stretch xmlns:a="http://schemas.openxmlformats.org/drawingml/2006/main"/>
        </p:blipFill>
        <p:spPr>
          <a:xfrm xmlns:a="http://schemas.openxmlformats.org/drawingml/2006/main">
            <a:off x="4076700" y="1967272"/>
            <a:ext cx="3143250" cy="1551856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988f4dea94659"/>
          <a:stretch xmlns:a="http://schemas.openxmlformats.org/drawingml/2006/main"/>
        </p:blipFill>
        <p:spPr>
          <a:xfrm xmlns:a="http://schemas.openxmlformats.org/drawingml/2006/main">
            <a:off x="7879328" y="1695450"/>
            <a:ext cx="2491245" cy="2095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F3582-8AB7-4A16-A807-403527BD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Baseline CNNs: 48x48 grayscale with augmentation.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AE529-90EC-4A8C-9C9C-99BCC9CE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Pretrained CNNs: resized 224x224, three channels, ImageNet normalization.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456EE-14FA-487F-9E82-79E54FBA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Affect circumplex: sad, neutral, fear, and angry are close enough to expect confusions.</a:t>
            </a:r>
          </a:p>
        </p:txBody>
      </p:sp>
    </p:spTree>
    <p:extLst>
      <p:ext uri="{BB962C8B-B14F-4D97-AF65-F5344CB8AC3E}">
        <p14:creationId xmlns:p14="http://schemas.microsoft.com/office/powerpoint/2010/main" val="16008355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C784D-4BA7-400D-AA7D-9862FBAE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8F9CE-30FB-44A7-B58E-BCF9938C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METHODOLOGY AND IMPLEMENTED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EFAE5-D3C0-4B0A-8B17-EBED5323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This is a controlled experiment, not a list of unrelated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CA3A9-C62D-4292-91B5-F426938D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B47AF-62E6-4AA9-B7AC-7E84EEDE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87DDA-4275-4198-B5B5-AA08F3B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4F343-78AF-4F07-AFB1-F26CA24C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92C1B-DE56-4475-B777-56A8ECCC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E841E-E46C-4C35-9E56-98F70E8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Fix protocol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260D0-5E30-450A-8AA0-1CB9CDF2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same FER2013 test set, same label order, macro F1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FFFA6-BD50-45FF-9C30-99576C56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1790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7E44B-E78D-41DC-9F25-BA2BD009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18288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0B330-177C-4914-85E0-217B4088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21717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Change one choice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FA8B0-EE04-4559-93BF-E3F9C77D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24955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architecture, imbalance strategy, optimizer, crop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BB7D6-31A0-495A-A1DC-3FD14640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1790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8D0C5-3D2A-4A5A-B218-654D87CC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18288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7856C-219F-4036-AFF4-67274902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1717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Compare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72C08-C184-4627-BA7C-036B1077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4955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macro F1, weighted F1, per-class F1, confusion 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BBD03-A958-4A9F-B3DF-C4594C4D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F2DCB-FE4E-484D-ADB0-36F8845B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288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AC401-1D50-4A07-B596-2289CE3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Validate externally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70FB8-20DA-4FFF-B37A-14DD94A2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zero-shot CK+ evaluation of final checkpoints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F5FFC-9A53-4D9B-9FF3-1369448A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91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98C73-92C6-4274-A21B-38079268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Controlled variable: training/model configuration.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2DCFA-D1A2-4CC6-A6A7-4F85A5C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86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9B2EF-7603-45A3-BDB6-41E1C012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Fixed outputs: macro F1, weighted F1, per-class scores, top confusions, confusion matrices.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CB36B4-C668-42B4-8A9A-F7C3CA68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D50A3-170A-46B7-8E8C-6B3574F2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Interpretation uses both numeric results and affect-space ambiguity.</a:t>
            </a:r>
          </a:p>
        </p:txBody>
      </p:sp>
    </p:spTree>
    <p:extLst>
      <p:ext uri="{BB962C8B-B14F-4D97-AF65-F5344CB8AC3E}">
        <p14:creationId xmlns:p14="http://schemas.microsoft.com/office/powerpoint/2010/main" val="14519741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D9C225-2F09-444B-82EC-9E997E5A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89FDA-5516-4B99-90BC-80838CA2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METHODOLOGY AND IMPLEMENTED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23D97-BAAB-4566-9E89-47CD2FA4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implemented models test from-scratch learning, capacity, pretraining, and efficiency.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397FE-4805-488F-913E-94846102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4009B-7F71-46F5-93DD-CDBAA40F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06F8E-0645-44CF-B135-840B2B95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43FF1-B192-4EFA-B470-F059A557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40BEE-CDF2-4C84-BE45-0F5F237A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2228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48x48 grayscale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trained from scratch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baseline for the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3BBB9-621F-41B6-B7EA-537AC93A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5D2A"/>
                </a:solidFill>
                <a:latin typeface="Aptos"/>
                <a:ea typeface="Aptos"/>
                <a:cs typeface="Aptos"/>
              </a:rPr>
              <a:t>Deeper 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87228-02BC-45D5-AEE0-FC9859DF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574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CB192-FDC9-4471-BB63-96E9F6DF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28850"/>
            <a:ext cx="2228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48x48 grayscale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more feature channels / capacity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tests whether baseline is underpowered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0C47A-7ECD-4D53-B2D3-EE9509E9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9545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2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26A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5F38E-1CB7-4D67-ABC5-C069DFDC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574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E24F0-515A-42ED-9FD6-296F6C61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28850"/>
            <a:ext cx="2228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224x224 RGB-like input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ImageNet pretrained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partial fine-tuning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A48EE-9A7A-4FB5-8412-9DAC00D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2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26A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2B48F-5713-4943-A355-6C540A5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B9E07-0F92-48BB-A5A9-EAFEC37B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228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224x224 RGB-like input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ImageNet pretrained</a:t>
            </a:r>
          </a:p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lightweight transfer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36F9D-9C59-4E83-9799-133F37E8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TRAINING STRATEGIES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1CF9E-454A-417E-99A9-A434E840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CE / focal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27910-84BD-4489-B962-460AA4A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721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class weights, weighted sampler, SGD schedule, crop/TenCrop evaluation</a:t>
            </a:r>
          </a:p>
        </p:txBody>
      </p:sp>
    </p:spTree>
    <p:extLst>
      <p:ext uri="{BB962C8B-B14F-4D97-AF65-F5344CB8AC3E}">
        <p14:creationId xmlns:p14="http://schemas.microsoft.com/office/powerpoint/2010/main" val="2933980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2D670B-91AF-4F0E-B336-40DBBEEE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EFCE7-28E2-4C8E-9F23-A1C4EF93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3D694-9CED-4F31-B4EA-CA6FEE05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Baseline progression starts from a simple CNN and adds one idea at a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0355A-9140-47C7-B3F4-E5623848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41B32-2E15-4301-861A-5F9E5F83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FC64D-99F5-4EF8-8903-9BC55B40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1139E-D605-4B51-BA02-CCAE5140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BDB5E-D9A8-4B76-9DD8-EDC72C9B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67F0A-F1A5-4DBC-A353-481F191C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Basic 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43BC7-4501-45F7-A0D5-EA1DE8A0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from-scratch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C18C9-7B05-4DBE-9D3D-C3F2CFAF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1695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58FA7-2B78-4DAB-BF30-9BE15ED8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17335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2EE22-E494-48BD-B488-9B5F83E5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2076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Augment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7EB8A-BF86-47FE-A1D8-4377330C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24003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flips, shifts, crops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D4AA8-5FF7-427C-B1A4-DE59E27F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695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33BC6-CD1E-451D-9AFA-E4E1A1A1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7335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77E38-9BE6-4191-8B77-511D15BE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76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Imbalance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47673-B75E-4B39-9048-6876CA46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003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weights, sampler, focal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34F6C-278E-42DA-A8E7-2B84AD65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1695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30B6A-D098-44FD-946D-6F3D2B2B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17335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420CD-5907-4CCB-92AD-023333AD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2076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570D5-0F7A-45E2-BE11-3FD7A9D2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24003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SGD, LR plateau, clipping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2998C-5303-4215-B1C9-5231F70E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95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32BEA-9ECC-4325-8E1A-A2ED9BDD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335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C30AF-FC68-4A8D-A0EC-90DF10BA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76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1318F-86E0-4D38-B24F-E0DC258C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deeper CNN, longer 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72BDE-6A5A-45FC-9CDE-DCE60B00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Saved baseline results, test macro 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2D7702-2764-47F8-9D32-124441C5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576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oversampling + focal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A0DCE4-1E24-453A-807A-F51D7F3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481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61D2D8-6C54-42CF-9078-5E93511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48150"/>
            <a:ext cx="226833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8A1216-1A21-4581-9753-11B94A6F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0.483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9D1CE2-6083-4D0F-9481-704408CA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weighted sampler + CE + SGD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FC8603-13C9-4FA7-8A05-A6835103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556F72-79DC-49FF-9CEF-7023D63C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279433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65E2D4-6C1A-4D3A-97D3-23F26361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0.595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E83424-E402-4A64-8590-DD3558FD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577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weighted sampler + focal + SGD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A26112-10DC-4AF4-8A09-969C855D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482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038274-C2EC-4862-9224-01999B54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48250"/>
            <a:ext cx="283190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DD083C-3C67-4161-BBCE-A2D742E6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854E8D-804C-4FD9-A1A7-3F2DBF30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deeper CNN, 80 epochs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2D4D2E-EDCD-4924-9397-69590EBE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4830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7FCDF7-CDDC-4D45-B76B-D03A26CC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48300"/>
            <a:ext cx="2930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BF9221-A648-4AB8-8112-F80F6A88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483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</p:spTree>
    <p:extLst>
      <p:ext uri="{BB962C8B-B14F-4D97-AF65-F5344CB8AC3E}">
        <p14:creationId xmlns:p14="http://schemas.microsoft.com/office/powerpoint/2010/main" val="6015620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347365-61A1-4D6A-A179-55A9509D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D5953-CAE8-4E85-9992-9963F4A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FA620-91A3-453B-8418-CB17C4DB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Transfer-learning configurations test fine-tuning depth and imbalance handling.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99259-1A0B-40AA-BCC5-DA526A8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B6505-A980-45A1-A467-200D91F5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5DC21-547B-427D-9408-683DE7E5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7B723-3FB2-4E15-8A50-F3E857C3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feature extraction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C203A-5CE8-46EF-B100-790F72A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ABC43-F902-44C0-913B-29A9BD17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6D05E-58CA-403E-A4FC-FA7161A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0.352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04C50-5C7E-40D0-A682-C60A2320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layer4 fine-tuning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19F6D-6156-41FB-81BF-4325AC2F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B78F3-4B96-486C-A08E-4EA82AD9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108406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0B5F3-8788-4A7D-A610-7EF87FD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55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98C97-6410-4609-96D9-FCE5D17A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layer3 + weights + focal + SGD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0B0E1-B9FE-4D4F-99A1-961DF0BF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9E9CE-422E-49F2-9859-D2A99DFB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120729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61615-CF95-410B-BFCE-553C1D87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95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6AFBE-F700-4C0A-94D2-69816248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layer3 + crop/TenCrop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AF9C5-BF38-4134-9969-302CC22F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2D8CA-92B0-4054-AFA4-A3D09EB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21800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B1488-8F92-4A11-AF7A-DF5D0D68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956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630F1-6BF7-47CB-B935-077E04FC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726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8726A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6CCBC-B9C4-41D1-A14B-D12EB0EE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05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plain small classifier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B7E99-695D-4117-9E2D-7CF93493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1A8B5-33D1-4F0F-888C-07D599F2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04834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8624C-8B9C-42AD-B10E-49222016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955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0.587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39CF3-6615-41F7-9516-33053821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050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class weights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E5C7A-FF06-4882-A2BD-B3E03100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C297F-DAD1-4E26-9750-35D1B5BB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111621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32E719-0063-482B-8501-EE9E8E98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955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A879F1-F0A8-45E3-B52C-35D2313E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last blocks + sampler + SGD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205C9C-00E9-42BA-961D-F59EF4DA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A29B35-6F7A-4C23-93A0-0B7CFA58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18943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D098EF-CAD0-4353-A490-29729A92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95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0.666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A2C632-5DAF-4E78-A1A3-20B07332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051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last blocks + crop/TenCrop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46A5BE-06C0-4B15-91F2-9BCB21A2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5B89D5-B597-4EB1-96AE-4DB715C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122336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AD5A10-7C84-469C-B293-8243B8EA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956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7EF2A5-DC4C-405C-978D-EB0602EE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434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CONTROLLED OUTPUT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91A745-CCB2-48F4-B94B-D188EB04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911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same metrics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18CFD1-7766-4750-A3D2-B8699955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292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macro F1, weighted F1, per-class scores,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3261717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E1743B-DF69-4B71-9244-C9D7FDF8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62485-47C5-435B-A416-832FD8A3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A2467-73C6-4C4C-808E-A823EE4C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Baseline improvements help, but from-scratch CNNs still plateau below transfer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4C29-1668-4B66-AF2E-28826DBC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CBB67-B3EB-420B-A3C1-C7EB5F12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DAC96-43AA-4856-851D-7237DA17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oversampling + focal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51D33-6131-4285-A24E-DB9CB8C1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3000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A807E-88E1-4F19-9142-5DF030E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201275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842BC-082B-4E75-8BDE-38D583FB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907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0.483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1B9C4-A220-4EC2-AC49-C067AF5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weighted sampler + CE + SGD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A7F3A-0A8F-4E44-B5D1-5B937389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3000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B96F6-3B06-4312-8345-3F2F07BD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4794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D8A49-6F18-42C9-AA9C-9085C4C6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0.595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D2DE9-1066-492C-AB49-6626BBB1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weighted sampler + focal + SGD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5C13B-93DC-4C7D-8D7C-97F2C99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3000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DF07C-169D-4D05-A78F-FFE10358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251281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43B02-3F5B-47AF-AF94-DC0ABF4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D3E8C-52A8-44E3-9CFC-9FC70314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crop/TenCrop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738DA-4116-4BEF-B756-5ED60EC4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3000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270BE-80FA-4AC4-9967-D0728794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248781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34563-E99A-4F5A-87B0-0F510146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0.597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1E191-D600-482F-BB6E-0679C0D0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deeper CNN, 80 epochs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DAAFB-1FE2-42F1-9463-75E2B2DC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3000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A43EA-E2DC-4E39-904D-67B7FCF0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2600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3BE56-D79C-4264-8C66-2E336335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243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D38AF-5AA6-45FA-9DEB-12053299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81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BEST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D07BA-62E3-47C0-B300-B667C7BE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CE43D-958E-4759-8FDE-BFAF57A6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test macro F1; weighted F1 0.649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C9FF85-8A5C-4EE8-AD16-9A7D101E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7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75D2A"/>
                </a:solidFill>
                <a:latin typeface="Aptos"/>
                <a:ea typeface="Aptos"/>
                <a:cs typeface="Aptos"/>
              </a:rPr>
              <a:t>MAIN ERROR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F90CC-A4A3-49F6-A414-B9B0A92C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12433-FF76-4132-B4B8-9B21B83D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291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also fear -&gt; sad in several runs</a:t>
            </a:r>
          </a:p>
        </p:txBody>
      </p:sp>
    </p:spTree>
    <p:extLst>
      <p:ext uri="{BB962C8B-B14F-4D97-AF65-F5344CB8AC3E}">
        <p14:creationId xmlns:p14="http://schemas.microsoft.com/office/powerpoint/2010/main" val="10606710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DB5A07-6B7D-482E-843C-7FF63047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879AE-9B16-47AF-B7A4-A861780F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46ED9-AB6B-49F5-9750-E72C7B4E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Partial fine-tuning is the major gain in the pretrained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71684-D61B-4D06-A568-B45A4050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A8088-0FB2-4222-9950-A4BF926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2709F-9E5C-4691-9426-0D728CC4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ResNet18 feature extraction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063D7-590D-4A8F-81E0-F024A3C5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28800"/>
            <a:ext cx="3095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4DFDA-29B1-406B-8286-418B8F13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28800"/>
            <a:ext cx="151341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7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208E2-20FB-41EC-9052-1AF096FA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288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0.352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A9CB0-1C80-44AE-BA3E-D67BCE3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ResNet18 fine-tuned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4640F-08B8-4268-A560-7C7C3518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3095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1036A-3991-45EB-ADAB-D44A809A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290644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2BCE2-9142-4E1F-9839-CE148A86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65A15-A19B-44BE-A309-2186ED0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ResNet18 crop/TenCrop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44DB5-E0F6-4F86-8DE6-7C8EE707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3095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00C00-33BB-4463-9346-BC785CAB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93224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2DC5C-403C-4838-84FC-1C1E4269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29B7C-7460-4138-81EB-1B15221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385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EfficientNet-B0 class weights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26EFB-80C5-4BFE-BC82-B2F44AA9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29000"/>
            <a:ext cx="3095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A8467-FFDA-4728-B2C3-188A4DBA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29000"/>
            <a:ext cx="268717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8B688-5D14-44B4-AB00-7FEC404B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0F2A4-6B11-49B0-9199-26521BFC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EfficientNet-B0 crop/TenCrop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626BF-7577-4E98-BFAA-3E3DCF72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3095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B8753-5CD8-4E57-8BAE-67975492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294514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2DE01D-ABFC-4098-890C-4A1716FD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624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FB02D-ECB3-45B1-A9DE-3CEE3C0D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7A43C-86DD-40C7-9E9C-B3A66F04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E4AA8-7816-4EE7-AA8A-53B37F4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feature extraction alone is too weak for FER2013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0304B-76DF-4601-BDCF-F27FCD28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872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8726A"/>
                </a:solidFill>
                <a:latin typeface="Aptos"/>
                <a:ea typeface="Aptos"/>
                <a:cs typeface="Aptos"/>
              </a:rPr>
              <a:t>BEST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862FF5-47B0-4015-A2DC-E0B6E415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24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A3256-6298-4502-A905-93BABDA9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EfficientNet-B0 crop/TenCrop macro F1</a:t>
            </a:r>
          </a:p>
        </p:txBody>
      </p:sp>
    </p:spTree>
    <p:extLst>
      <p:ext uri="{BB962C8B-B14F-4D97-AF65-F5344CB8AC3E}">
        <p14:creationId xmlns:p14="http://schemas.microsoft.com/office/powerpoint/2010/main" val="17645601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57EBD9-E78E-4A0E-B942-83A109BD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4FB4D-B870-43CE-BF05-5C0EA287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99425-0A21-457A-8262-162502EB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error analysis is consistent with both the confusion matrix and affect 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02DEB-18FD-43C0-B8B7-D3F7CE98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86651-34C3-4F49-A3C2-A92347AA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b465d1e6d4094"/>
          <a:stretch xmlns:a="http://schemas.openxmlformats.org/drawingml/2006/main"/>
        </p:blipFill>
        <p:spPr>
          <a:xfrm xmlns:a="http://schemas.openxmlformats.org/drawingml/2006/main">
            <a:off x="666750" y="2253530"/>
            <a:ext cx="4905375" cy="244619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5657614d643e0"/>
          <a:stretch xmlns:a="http://schemas.openxmlformats.org/drawingml/2006/main"/>
        </p:blipFill>
        <p:spPr>
          <a:xfrm xmlns:a="http://schemas.openxmlformats.org/drawingml/2006/main">
            <a:off x="5953125" y="1814835"/>
            <a:ext cx="2762250" cy="232345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0E361-0BFB-47D2-AE25-9A04331C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19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955B2-DEC6-44E7-8497-5FDEA559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Happy and surprise are comparatively clean.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ED258-CBBC-4E6C-A0C2-E5781356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72723-20D6-44BC-88C0-3DE5D44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Fear and sad remain difficult.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DE7C6-41C6-4568-9209-CB1CADB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28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A7777-7CEC-448A-8E48-118446FC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Sad -&gt; neutral is the most persistent confusion.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DD94A-A7D3-4752-A3BD-9AE08F82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33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17D10-2083-4A63-B340-5EDC4394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Affect-space proximity supports the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5347023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AA7BC-474E-4C96-83A6-E8351FF9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BE58D-1642-43A7-B5C4-0F326812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COMPARISON AGAINST BASELINES AND 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4BD78-A8A3-4C59-8DFC-3791F550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Comparison is separated from analysis: implemented models first, SOTA context second.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ED1A5-D9B0-488B-AEA2-149FF846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DEFFE-8864-4537-A656-8A1B9C99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7968B-06A1-4BF4-A42D-1567A00D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Best custom CNN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CBFAC-EECD-4CC0-BD99-CE7B98DD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3190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DB249-791D-4BC8-A6E8-0BC69DE3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276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68C3F-0478-4210-85A5-8A562B52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EDD9F-3ED2-4251-8659-BEB3DB04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Best ResNet18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2A383-A6CE-4A88-B8B7-7ED78407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3190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03178-BA3E-48AA-B753-78CBA5C2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302246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DFB75-AC2E-4430-AD2D-FC039ACB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08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0AF8D-01C9-43F3-B139-D6F2263D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Best EfficientNet-B0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29C1E-FA48-40A1-872F-2C42392D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3190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237F7-5DE2-45E9-B7A8-350C4C56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30357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49639-C834-4106-8827-0BAEF188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B9DDE-50BE-4332-AAC8-7BA30224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872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8726A"/>
                </a:solidFill>
                <a:latin typeface="Aptos"/>
                <a:ea typeface="Aptos"/>
                <a:cs typeface="Aptos"/>
              </a:rPr>
              <a:t>IMPLEMENTED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1AEDF-BA3F-4AF9-A38D-A3754B90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EffNet ~= R18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3C9DD-8258-44BD-99EE-F3E6A577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both outperform the custom CNN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FCB5D-80DF-4039-B7CE-80C38A1B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SOTA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7A873-C79C-4C30-B7A3-C4966A3E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C1255-FAB5-42A1-A4A4-C81F5681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291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modern FER often uses alignment, attention, ensembles, and larger training setups</a:t>
            </a:r>
          </a:p>
        </p:txBody>
      </p:sp>
    </p:spTree>
    <p:extLst>
      <p:ext uri="{BB962C8B-B14F-4D97-AF65-F5344CB8AC3E}">
        <p14:creationId xmlns:p14="http://schemas.microsoft.com/office/powerpoint/2010/main" val="209025877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F3BBE-7B73-4091-87A9-BFD66624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B7170-41DB-4E8B-9112-614D6FF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COMPARISON AGAINST BASELINES AND 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03B51-0289-4DF1-8B48-48CF4293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CK+ external validation changes the ranking and exposes domain shift.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F5265-ECEA-4BC0-A460-AB17D719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FD95B-77B2-4D99-A51A-20851028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14d217e4a4766"/>
          <a:stretch xmlns:a="http://schemas.openxmlformats.org/drawingml/2006/main"/>
        </p:blipFill>
        <p:spPr>
          <a:xfrm xmlns:a="http://schemas.openxmlformats.org/drawingml/2006/main">
            <a:off x="666750" y="2273807"/>
            <a:ext cx="3714750" cy="19293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C1604-CE86-44AB-B8CB-90BE1DB6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478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Baseline CNN on CK+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624CC-A80D-47C1-9F1B-E8FD1903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38350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3995F-B585-4D61-BD5A-970D2E2A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38350"/>
            <a:ext cx="14845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3D605-CEB3-4F17-BE4B-D008EEC1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383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0.724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A84C6-D109-4F10-A8E4-FC9E6529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812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ResNet18 on CK+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9B8AF-A3AA-4A51-934A-1E490B4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BA9E0-390A-4492-B9C2-8579133C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144971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2CA77-6F2E-413B-ACC8-6716B69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0.707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E8AFF-6095-4544-98B0-11BCCF7C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146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EfficientNet-B0 on CK+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7AAC5-33BD-44B7-85CD-48238C53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AC5FA-E073-4F5E-B06F-44148AD2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1140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5CBE9-F065-480D-A7B5-E8DB4478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0.556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EDF11-948C-4F50-B444-7C212963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7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75D2A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7AE0E-2984-4405-817B-BF18636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434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domain shift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E1417E-BC5B-41A9-8CD9-ABD0DEB2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815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the best FER2013 model does not automatically dominate CK+</a:t>
            </a:r>
          </a:p>
        </p:txBody>
      </p:sp>
    </p:spTree>
    <p:extLst>
      <p:ext uri="{BB962C8B-B14F-4D97-AF65-F5344CB8AC3E}">
        <p14:creationId xmlns:p14="http://schemas.microsoft.com/office/powerpoint/2010/main" val="115849542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5489EC-FB89-46C6-9703-D11E830B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F39D9-AAE0-4DB5-AA40-3EB5AD12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DISCUSSION OF LIMITATIONS AND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4A35B-37E8-44A3-B578-5D6597F6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results are useful, but the model should not be overclaimed.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D3B28-C654-421A-BD6E-2652CA7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2D8CC-AAC8-4FED-9A53-7F36A715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0fa1278da4b5e"/>
          <a:stretch xmlns:a="http://schemas.openxmlformats.org/drawingml/2006/main"/>
        </p:blipFill>
        <p:spPr>
          <a:xfrm xmlns:a="http://schemas.openxmlformats.org/drawingml/2006/main">
            <a:off x="762000" y="2804338"/>
            <a:ext cx="4762500" cy="10302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60619-48F6-4D53-97C3-1C152507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19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3FDC8-D198-4CB1-A06B-38184411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FER2013 is low-resolution and contains ambiguous or noisy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22708-C9DD-4609-A6AF-109E3504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90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17891-F7E0-4B7A-B77D-D8FAA96F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Class imbalance remains visible even after sampler and loss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D2753-223F-4A54-A311-913E6C21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6F304-62A2-42C7-B548-4D7D536A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Emotion labels are categorical, but affect is continuous.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C2E7C-8F7D-41BE-A9E6-8CF5597F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33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1EE4B-BF3F-4ECD-A86F-5EC065D9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External validation shows dataset shift between FER2013 and CK+.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E15DF-40B6-4836-957F-099EF2C6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44339-4967-417D-A13E-08CC762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No explicit face alignment pipeline was included.</a:t>
            </a:r>
          </a:p>
        </p:txBody>
      </p:sp>
    </p:spTree>
    <p:extLst>
      <p:ext uri="{BB962C8B-B14F-4D97-AF65-F5344CB8AC3E}">
        <p14:creationId xmlns:p14="http://schemas.microsoft.com/office/powerpoint/2010/main" val="212383487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56A62-A33A-49E8-A8EE-4CE32C17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C6BEC-7A0F-403C-BB53-3A5DC196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3E167-9D5D-43D0-97DF-0D7419CA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project improves FER2013 performance while identifying the remaining bottlenecks.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89851-0D68-4B30-86B0-CDC8C884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98EC7-0668-4C48-84A2-565EA394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5871D-1D42-4A92-A8D4-D7EF9FD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94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59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659A"/>
                </a:solidFill>
                <a:latin typeface="Aptos"/>
                <a:ea typeface="Aptos"/>
                <a:cs typeface="Aptos"/>
              </a:rPr>
              <a:t>Transfer helps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980FE-7476-4A3B-A968-D3E3D0E0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87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C0C55-971D-49AB-BF45-BF3C5F29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2832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ResNet18 and EfficientNet-B0 outperform the custom CNN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F6D06-803F-4E91-9245-EC14C672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1695450"/>
            <a:ext cx="294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2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726A"/>
                </a:solidFill>
                <a:latin typeface="Aptos"/>
                <a:ea typeface="Aptos"/>
                <a:cs typeface="Aptos"/>
              </a:rPr>
              <a:t>Metrics matter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CAC86-8780-4A19-AEE3-D3F394C6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057400"/>
            <a:ext cx="287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93BD8-F719-411E-BCBC-EE10C7A5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228850"/>
            <a:ext cx="2832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Macro F1 and per-class analysis reveal hard classes and misleading aggregate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606E4-B5A1-40FD-B6A2-C167758C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1695450"/>
            <a:ext cx="294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5D2A"/>
                </a:solidFill>
                <a:latin typeface="Aptos"/>
                <a:ea typeface="Aptos"/>
                <a:cs typeface="Aptos"/>
              </a:rPr>
              <a:t>Domain shift remains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4846C-F5EA-4340-BA63-EA6950F8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2057400"/>
            <a:ext cx="287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C92F0-51DD-4F50-B869-711B65BD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2228850"/>
            <a:ext cx="2832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CK+ validation shows that FER2013 performance does not fully guarantee transfer.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0E63B-A115-4D84-80D1-00934FAA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D5753-A9C4-4469-8897-E97A7558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312B1-A663-4AEB-A541-78D8BD0D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005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4C690-B2F5-4CED-8035-92D7A779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Face alignment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4677F-4564-4318-9E45-0835BAED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better crop consistency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C6B0C-1A60-4FEA-B769-4A466267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62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B9887-A36B-45F0-9575-78DC3158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005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E5A4C-F673-45E2-9787-83D09C21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43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Label noise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23821-4FD1-43A3-B3E4-DB340E46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handle ambiguous annotations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7E3D4-6041-4ED4-BD7C-225CC65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A34F2-D4F7-4A65-BD36-F65B08F4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BA8E7-634A-48D6-B504-D6545385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Stronger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E1D9D-3F09-425E-99D8-F2BB57CB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673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attention, transformers, ensembles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5BCE9-7BB1-4699-B086-B5F94697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2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CCC956-4965-4FB2-B9D5-4AE35440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7E8FBD-8779-4D1F-BB81-A0556B82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434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3BC455-6D40-4414-A514-B9A92AC9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2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26E"/>
                </a:solidFill>
                <a:latin typeface="Aptos"/>
                <a:ea typeface="Aptos"/>
                <a:cs typeface="Aptos"/>
              </a:rPr>
              <a:t>confidence and high-error review</a:t>
            </a:r>
          </a:p>
        </p:txBody>
      </p:sp>
    </p:spTree>
    <p:extLst>
      <p:ext uri="{BB962C8B-B14F-4D97-AF65-F5344CB8AC3E}">
        <p14:creationId xmlns:p14="http://schemas.microsoft.com/office/powerpoint/2010/main" val="59153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2026-05-30T15:39:11.3690000Z</dcterms:created>
  <dcterms:modified xsi:type="dcterms:W3CDTF">2026-05-30T15:39:11.3690000Z</dcterms:modified>
</coreProperties>
</file>