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1" d="100"/>
          <a:sy n="91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D69710-E547-4379-9C84-97FAF05E4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61100-0CA9-4162-8123-33FB0104FB62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ABC9-D049-4BF3-91EF-6CE07E5ED324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Controlled experiments with a custom CNN, ResNet18, EfficientNet-B0, and CK+ external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4A305-42EB-4A97-82E5-1431D157FC54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8096250" cy="19050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14F5D-3696-4FD9-B768-CA88C1DDC965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262F9-67A3-4751-8AB9-BEC6DBE6A65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9A3D3-6334-40A8-8632-66D0B667A046}"/>
              </a:ext>
            </a:extLst>
          </p:cNvPr>
          <p:cNvSpPr>
            <a:spLocks noGrp="1"/>
          </p:cNvSpPr>
          <p:nvPr/>
        </p:nvSpPr>
        <p:spPr>
          <a:xfrm>
            <a:off x="36195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C7EB0-2AFE-4730-A7F2-5C4E3AF7F608}"/>
              </a:ext>
            </a:extLst>
          </p:cNvPr>
          <p:cNvSpPr>
            <a:spLocks noGrp="1"/>
          </p:cNvSpPr>
          <p:nvPr/>
        </p:nvSpPr>
        <p:spPr>
          <a:xfrm>
            <a:off x="36195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93E4B-6971-4F52-A01F-369339CABC01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91BC8-5F8C-4F76-A326-CAD5ED01020A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</p:spTree>
    <p:extLst>
      <p:ext uri="{BB962C8B-B14F-4D97-AF65-F5344CB8AC3E}">
        <p14:creationId xmlns:p14="http://schemas.microsoft.com/office/powerpoint/2010/main" val="123308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14A3F1-CEC5-42A3-ACB5-084D3E292F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A0C78-C5B5-4366-9BFA-A4EA9BE2AC8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6A6AD-7914-46C3-B5C4-00E329F3D064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Presentation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430DD-5BC1-4001-BA1F-BEF681875EF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27B310-7C60-4519-869B-B6C2EEEE483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DE963-0AF1-4034-8A47-A495CD0CEE30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1. Introduction and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ED9E9-F67B-4310-8D4D-E0FA79247F9D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2. Related work / state of the 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6784A-1BA2-41D1-A515-7F68F738ADCA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3. Dataset and preprocessing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D1568-46FC-47FD-A69C-8D8E5B131B4A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4. Methodology and implemented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D17F9-8A15-41A1-B45E-790F529422F3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5. Experiments and evaluated configurations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B1E3E-F71F-49D1-A6F3-DA8C539A0F5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6. Results and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8BFE3-0D9E-4A69-84EF-552FCE608906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7. Comparison against baselines and state-of-the-art approaches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4FE7A-1F66-48E2-9F7D-94D2C43AC4AC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8. Discussion of limitations and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06738-D0B0-4923-81D5-4A2621A0B959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9. 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481166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67E64D0-90C3-441B-A4E2-A72591FC3A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D166B0-BE20-4ECD-934A-F5649A9CBB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00B1C-756B-4E5A-8717-CC4FB498FEC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Expression recognition is useful, but FER2013 makes it hard.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2262B-E50B-4747-93DC-436E5FB55C7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68EA-5F8F-4A86-A527-F0F59C037B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CF713-7912-4AF7-99F7-0A5A25E92683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39AC6-184F-4276-8AA0-BC06BE38F27F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Facial expressions are useful for affective computing and human-computer interaction.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85F0B1-7482-43D2-BBF4-7BE95D3FFE4E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9402A-28D4-496B-B07F-8092A9D1386D}"/>
              </a:ext>
            </a:extLst>
          </p:cNvPr>
          <p:cNvSpPr>
            <a:spLocks noGrp="1"/>
          </p:cNvSpPr>
          <p:nvPr/>
        </p:nvSpPr>
        <p:spPr>
          <a:xfrm>
            <a:off x="1123950" y="28765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images are low-resolution 48x48 grayscale face crops.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B3782-3A40-42CC-8F06-FC7DB9A7A9F3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826588-4C05-44A6-B094-1F06C260A2E0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Expressions can be visually ambiguous; several emotions occupy nearby affective regions.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2020C5-FE1E-4215-B19B-92471550F903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A5BE7-5642-41EA-A822-F7DDCE9A4BCF}"/>
              </a:ext>
            </a:extLst>
          </p:cNvPr>
          <p:cNvSpPr>
            <a:spLocks noGrp="1"/>
          </p:cNvSpPr>
          <p:nvPr/>
        </p:nvSpPr>
        <p:spPr>
          <a:xfrm>
            <a:off x="1123950" y="42481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makes macro F1 and per-class analysis more appropriate than accuracy alone.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2E5D1A-AF3C-4136-9526-9D18E55EFE32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23DA9-0E28-4B3D-9471-FEDC3BB3F807}"/>
              </a:ext>
            </a:extLst>
          </p:cNvPr>
          <p:cNvSpPr>
            <a:spLocks noGrp="1"/>
          </p:cNvSpPr>
          <p:nvPr/>
        </p:nvSpPr>
        <p:spPr>
          <a:xfrm>
            <a:off x="8858250" y="2952750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Which modeling choices improve balanced recognition and generalization?</a:t>
            </a:r>
          </a:p>
        </p:txBody>
      </p:sp>
    </p:spTree>
    <p:extLst>
      <p:ext uri="{BB962C8B-B14F-4D97-AF65-F5344CB8AC3E}">
        <p14:creationId xmlns:p14="http://schemas.microsoft.com/office/powerpoint/2010/main" val="14246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2CBC59-C66E-4E28-9BF1-5027A07FF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5EC69-B197-4D8D-8CE2-7557C996A0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266CB-DFED-4920-A334-CD1D9414800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 systems evolved from handcrafted features to deep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8D7C8-2112-4AA2-BC7F-F78252B1DC6A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663FD-FE61-4758-8A9E-12DCE0DC510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0F11D-E073-4A1E-96DC-73920D96E737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8BD61-6DAE-404C-9749-CC3328456794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B60AD-EBB1-4C95-AF0F-BE5081363F36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00ACE-9515-486D-8815-ED4F046135FC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Handcrafted descriptors plus shallow classifiers were common historically.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084BD-3DC8-46D7-B971-087AE9BA09E1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AA54D-202D-4D84-88C8-C06B8EB07A9B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They are less robust to pose, lighting, and dataset noise.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428CE-A7B7-48A2-8A48-368EA1355440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DEEP 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704380-ED25-40C2-99EF-15BB0EA80B27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F9B14-A1B4-41B8-BB47-C12CD96B5E7E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2C3931-9F04-49C2-A58D-58B31079F2F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CNNs learn expression features directly from pixels.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3A0ED-DDC5-4E2E-9FD0-6EC545327361}"/>
              </a:ext>
            </a:extLst>
          </p:cNvPr>
          <p:cNvSpPr>
            <a:spLocks noGrp="1"/>
          </p:cNvSpPr>
          <p:nvPr/>
        </p:nvSpPr>
        <p:spPr>
          <a:xfrm>
            <a:off x="624840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E81BEC-371A-42C7-A35F-77900F9B09B9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ImageNet-pretrained backbones such as ResNet and EfficientNet are practical baselines.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87F8A-4486-4C9F-AC6A-999D62664E59}"/>
              </a:ext>
            </a:extLst>
          </p:cNvPr>
          <p:cNvSpPr>
            <a:spLocks noGrp="1"/>
          </p:cNvSpPr>
          <p:nvPr/>
        </p:nvSpPr>
        <p:spPr>
          <a:xfrm>
            <a:off x="6248400" y="4076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7CF79-FA2C-407F-ABBA-7ADB494B343B}"/>
              </a:ext>
            </a:extLst>
          </p:cNvPr>
          <p:cNvSpPr>
            <a:spLocks noGrp="1"/>
          </p:cNvSpPr>
          <p:nvPr/>
        </p:nvSpPr>
        <p:spPr>
          <a:xfrm>
            <a:off x="6496050" y="39814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Recent state-of-the-art systems often add alignment, attention, transformers, ensembles, or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189536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1152F7-8609-4C0F-BF96-0BBB8AE90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7300-6988-4599-958B-973CEEF9BCF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F712F-1FD9-4555-8D52-27F19AC729B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Sample images reveal ambiguity and low resolution.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C1472-A01A-4DED-A683-235B0346A3F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8315A-F978-4DC2-9800-C5C1D1A925C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05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F4C53-E630-47D0-A149-6FBD7163A149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41529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92080" y="2133600"/>
            <a:ext cx="2378439" cy="3238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991D48-BC22-4BD8-9CDA-35ED841EBEE9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2DE7E-8772-4F0D-A067-0EFA15D568B3}"/>
              </a:ext>
            </a:extLst>
          </p:cNvPr>
          <p:cNvSpPr>
            <a:spLocks noGrp="1"/>
          </p:cNvSpPr>
          <p:nvPr/>
        </p:nvSpPr>
        <p:spPr>
          <a:xfrm>
            <a:off x="5867400" y="24765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Faces are small, grayscale, and sometimes poorly aligned.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6DD3-DB97-4ACE-BE47-4585ED193A9D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6296B-F226-4EE0-BD36-25A013C1F99C}"/>
              </a:ext>
            </a:extLst>
          </p:cNvPr>
          <p:cNvSpPr>
            <a:spLocks noGrp="1"/>
          </p:cNvSpPr>
          <p:nvPr/>
        </p:nvSpPr>
        <p:spPr>
          <a:xfrm>
            <a:off x="5867400" y="32004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Several classes differ by subtle mouth, eye, or eyebrow cues.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4654B8-5E29-4DF1-99CE-CD8D8F5D6EB9}"/>
              </a:ext>
            </a:extLst>
          </p:cNvPr>
          <p:cNvSpPr>
            <a:spLocks noGrp="1"/>
          </p:cNvSpPr>
          <p:nvPr/>
        </p:nvSpPr>
        <p:spPr>
          <a:xfrm>
            <a:off x="561975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C2DCE-93EB-4D41-8540-AF2582B26609}"/>
              </a:ext>
            </a:extLst>
          </p:cNvPr>
          <p:cNvSpPr>
            <a:spLocks noGrp="1"/>
          </p:cNvSpPr>
          <p:nvPr/>
        </p:nvSpPr>
        <p:spPr>
          <a:xfrm>
            <a:off x="5867400" y="39243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Human-visible ambiguity justifies evaluating more than a single aggregate score.</a:t>
            </a:r>
          </a:p>
        </p:txBody>
      </p:sp>
    </p:spTree>
    <p:extLst>
      <p:ext uri="{BB962C8B-B14F-4D97-AF65-F5344CB8AC3E}">
        <p14:creationId xmlns:p14="http://schemas.microsoft.com/office/powerpoint/2010/main" val="18232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4F0F98-4BC8-4BB6-883B-BF3CE7D99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034F9-00BA-4727-8B65-BC9933E1AAC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6BD73-FA1D-4D17-85B5-2B2712DBADE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Class imbalance and affect proximity explain why this dataset is difficult.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E7F2F-119D-46C6-92A6-6305B1723142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494B2-6733-4C4A-A659-F22B8B8E6F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A840B-FCD4-4A42-8DB6-C221730E8B51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6291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6480" y="2152650"/>
            <a:ext cx="4311589" cy="2667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3AA9B1-7AED-4688-B9DB-414E6C1DCA91}"/>
              </a:ext>
            </a:extLst>
          </p:cNvPr>
          <p:cNvSpPr>
            <a:spLocks noGrp="1"/>
          </p:cNvSpPr>
          <p:nvPr/>
        </p:nvSpPr>
        <p:spPr>
          <a:xfrm>
            <a:off x="5676900" y="2076450"/>
            <a:ext cx="32956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53100" y="2164184"/>
            <a:ext cx="3143250" cy="26439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51DE9F-F40D-4376-BA5E-FD0092E5181C}"/>
              </a:ext>
            </a:extLst>
          </p:cNvPr>
          <p:cNvSpPr>
            <a:spLocks noGrp="1"/>
          </p:cNvSpPr>
          <p:nvPr/>
        </p:nvSpPr>
        <p:spPr>
          <a:xfrm>
            <a:off x="9372600" y="2247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 size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A9568F-E3BB-4292-BCA1-1D78805723E2}"/>
              </a:ext>
            </a:extLst>
          </p:cNvPr>
          <p:cNvSpPr>
            <a:spLocks noGrp="1"/>
          </p:cNvSpPr>
          <p:nvPr/>
        </p:nvSpPr>
        <p:spPr>
          <a:xfrm>
            <a:off x="9372600" y="2533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28,709 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00486-C763-4B61-9E26-EDD6702BF54F}"/>
              </a:ext>
            </a:extLst>
          </p:cNvPr>
          <p:cNvSpPr>
            <a:spLocks noGrp="1"/>
          </p:cNvSpPr>
          <p:nvPr/>
        </p:nvSpPr>
        <p:spPr>
          <a:xfrm>
            <a:off x="9372600" y="2914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7,178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E01C2-88C8-4E6C-8872-427CC28A281A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E89E5-CF5A-4040-A3BF-3CD67FB3083E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Happy has much more support than minority classes such as disgust.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9F297-9891-44FA-8DD0-6D6E7A4DC9EF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3FED16-8733-4C38-85D4-80FCFFC12C6F}"/>
              </a:ext>
            </a:extLst>
          </p:cNvPr>
          <p:cNvSpPr>
            <a:spLocks noGrp="1"/>
          </p:cNvSpPr>
          <p:nvPr/>
        </p:nvSpPr>
        <p:spPr>
          <a:xfrm>
            <a:off x="1028700" y="561975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Nearby affective states help explain confusions such as sad, fear, angry, and neutral.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CA92F-93EA-4A95-9693-FCDB0B1BCC7C}"/>
              </a:ext>
            </a:extLst>
          </p:cNvPr>
          <p:cNvSpPr>
            <a:spLocks noGrp="1"/>
          </p:cNvSpPr>
          <p:nvPr/>
        </p:nvSpPr>
        <p:spPr>
          <a:xfrm>
            <a:off x="781050" y="6115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D59C5-F3CE-4E61-B92A-04349CF824F2}"/>
              </a:ext>
            </a:extLst>
          </p:cNvPr>
          <p:cNvSpPr>
            <a:spLocks noGrp="1"/>
          </p:cNvSpPr>
          <p:nvPr/>
        </p:nvSpPr>
        <p:spPr>
          <a:xfrm>
            <a:off x="1028700" y="60198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motivates macro F1, per-class F1, and confusion analysis.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E1011-05AE-42CB-30BA-F5CC577B9AAB}"/>
              </a:ext>
            </a:extLst>
          </p:cNvPr>
          <p:cNvSpPr txBox="1"/>
          <p:nvPr/>
        </p:nvSpPr>
        <p:spPr>
          <a:xfrm>
            <a:off x="914400" y="7848600"/>
            <a:ext cx="1320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E5F72"/>
                </a:solidFill>
                <a:latin typeface="Aptos" panose="020B0004020202020204" pitchFamily="34" charset="0"/>
              </a:rPr>
              <a:t>Takeaway: FER2013 requires augmentation, imbalance handling, macro/per-class F1, and confusion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329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3471376-3F9E-4AF5-8A89-4D5BE0AE7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4A629E-F55B-48A3-A734-483442ED6B2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F5259-E5A0-47AF-B5B8-10C3E0C47B1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split is fixed, and validation is created from the training folder.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0311D-C390-415E-839E-B7064820676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DF8D4-28EA-4039-AA73-0CCF5B63B54A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A368B-CC38-44FE-96F5-953FB36E7DBF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FA5AD-8755-4603-9832-97CE2E315AF0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BE74D-1DDB-42E3-B101-A51C0BBF2FA0}"/>
              </a:ext>
            </a:extLst>
          </p:cNvPr>
          <p:cNvSpPr>
            <a:spLocks noGrp="1"/>
          </p:cNvSpPr>
          <p:nvPr/>
        </p:nvSpPr>
        <p:spPr>
          <a:xfrm>
            <a:off x="25717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0A579-C31C-4CFD-A901-C31194288ED4}"/>
              </a:ext>
            </a:extLst>
          </p:cNvPr>
          <p:cNvSpPr>
            <a:spLocks noGrp="1"/>
          </p:cNvSpPr>
          <p:nvPr/>
        </p:nvSpPr>
        <p:spPr>
          <a:xfrm>
            <a:off x="29210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8BB72-0D11-4020-AAB3-94BB911D724A}"/>
              </a:ext>
            </a:extLst>
          </p:cNvPr>
          <p:cNvSpPr>
            <a:spLocks noGrp="1"/>
          </p:cNvSpPr>
          <p:nvPr/>
        </p:nvSpPr>
        <p:spPr>
          <a:xfrm>
            <a:off x="30162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fixed seed shuffle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6E083-9F5A-4559-B797-964CC9B32683}"/>
              </a:ext>
            </a:extLst>
          </p:cNvPr>
          <p:cNvSpPr>
            <a:spLocks noGrp="1"/>
          </p:cNvSpPr>
          <p:nvPr/>
        </p:nvSpPr>
        <p:spPr>
          <a:xfrm>
            <a:off x="463550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83E46-93AC-47F3-A748-2EC4407289D1}"/>
              </a:ext>
            </a:extLst>
          </p:cNvPr>
          <p:cNvSpPr>
            <a:spLocks noGrp="1"/>
          </p:cNvSpPr>
          <p:nvPr/>
        </p:nvSpPr>
        <p:spPr>
          <a:xfrm>
            <a:off x="49847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5C987-C755-4C9C-B24E-8B29E7A39D81}"/>
              </a:ext>
            </a:extLst>
          </p:cNvPr>
          <p:cNvSpPr>
            <a:spLocks noGrp="1"/>
          </p:cNvSpPr>
          <p:nvPr/>
        </p:nvSpPr>
        <p:spPr>
          <a:xfrm>
            <a:off x="50800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90% train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97800-00B1-4252-9CAF-2CAEA1375CA0}"/>
              </a:ext>
            </a:extLst>
          </p:cNvPr>
          <p:cNvSpPr>
            <a:spLocks noGrp="1"/>
          </p:cNvSpPr>
          <p:nvPr/>
        </p:nvSpPr>
        <p:spPr>
          <a:xfrm>
            <a:off x="66992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AD08AF-0CBE-4DB7-8A5E-B829AB33415E}"/>
              </a:ext>
            </a:extLst>
          </p:cNvPr>
          <p:cNvSpPr>
            <a:spLocks noGrp="1"/>
          </p:cNvSpPr>
          <p:nvPr/>
        </p:nvSpPr>
        <p:spPr>
          <a:xfrm>
            <a:off x="70485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2448D-0BBF-4F1E-9F1E-8A4CDE5EE3BD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10%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BB591-4181-4DEC-9A27-9ACDBE94F60E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CA573-8C6E-4590-8CC0-C46E5A8A6076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67A3DC-6206-4FA3-A4C6-B56AF73B7F51}"/>
              </a:ext>
            </a:extLst>
          </p:cNvPr>
          <p:cNvSpPr>
            <a:spLocks noGrp="1"/>
          </p:cNvSpPr>
          <p:nvPr/>
        </p:nvSpPr>
        <p:spPr>
          <a:xfrm>
            <a:off x="2571750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91A2F1-581A-4EC2-A65D-A5146A260670}"/>
              </a:ext>
            </a:extLst>
          </p:cNvPr>
          <p:cNvSpPr>
            <a:spLocks noGrp="1"/>
          </p:cNvSpPr>
          <p:nvPr/>
        </p:nvSpPr>
        <p:spPr>
          <a:xfrm>
            <a:off x="3000375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26FABD-6D5D-4D7D-A1F0-E4BAAE4F1883}"/>
              </a:ext>
            </a:extLst>
          </p:cNvPr>
          <p:cNvSpPr>
            <a:spLocks noGrp="1"/>
          </p:cNvSpPr>
          <p:nvPr/>
        </p:nvSpPr>
        <p:spPr>
          <a:xfrm>
            <a:off x="3095625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stratified test indices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0C1938-1CEB-49D4-820E-9E7A0EA35D61}"/>
              </a:ext>
            </a:extLst>
          </p:cNvPr>
          <p:cNvSpPr>
            <a:spLocks noGrp="1"/>
          </p:cNvSpPr>
          <p:nvPr/>
        </p:nvSpPr>
        <p:spPr>
          <a:xfrm>
            <a:off x="4714875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C130F6-DA3E-46F7-BF60-A575E98C15B4}"/>
              </a:ext>
            </a:extLst>
          </p:cNvPr>
          <p:cNvSpPr>
            <a:spLocks noGrp="1"/>
          </p:cNvSpPr>
          <p:nvPr/>
        </p:nvSpPr>
        <p:spPr>
          <a:xfrm>
            <a:off x="514350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11C108-51A9-44DF-846C-98948CA27220}"/>
              </a:ext>
            </a:extLst>
          </p:cNvPr>
          <p:cNvSpPr>
            <a:spLocks noGrp="1"/>
          </p:cNvSpPr>
          <p:nvPr/>
        </p:nvSpPr>
        <p:spPr>
          <a:xfrm>
            <a:off x="523875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held-out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0C6F2-8CBE-415B-AD86-F16B7214A382}"/>
              </a:ext>
            </a:extLst>
          </p:cNvPr>
          <p:cNvSpPr>
            <a:spLocks noGrp="1"/>
          </p:cNvSpPr>
          <p:nvPr/>
        </p:nvSpPr>
        <p:spPr>
          <a:xfrm>
            <a:off x="8858250" y="23431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Sizes used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F52E5-5096-444A-8064-7F42FFD82ED1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folder: 28,709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CCD16-A025-4125-9DB7-799338C5800E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folder: 7,178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C026F-AD89-4DC0-B57E-1613735594E8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validation: 10% of train folder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1BFB93-74D7-492F-96BD-95B66D474849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3A62E-78CF-4FF8-9634-0C2F24523122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train/validation split is reproducible with seed 42.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A05A50-5DE5-479C-B610-5C6B668268BD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6F593F-E230-4A25-9B64-699FBF28DC1B}"/>
              </a:ext>
            </a:extLst>
          </p:cNvPr>
          <p:cNvSpPr>
            <a:spLocks noGrp="1"/>
          </p:cNvSpPr>
          <p:nvPr/>
        </p:nvSpPr>
        <p:spPr>
          <a:xfrm>
            <a:off x="1123950" y="525780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Smoke-test subsets, when used, are class-stratified.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A736E9-63DE-4FD1-AF4C-A6514043C1CF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43A006-4CFB-4714-88D9-CFB946A08E6B}"/>
              </a:ext>
            </a:extLst>
          </p:cNvPr>
          <p:cNvSpPr>
            <a:spLocks noGrp="1"/>
          </p:cNvSpPr>
          <p:nvPr/>
        </p:nvSpPr>
        <p:spPr>
          <a:xfrm>
            <a:off x="1123950" y="56959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sampling and oversampling are applied only to the training subset.</a:t>
            </a:r>
          </a:p>
        </p:txBody>
      </p:sp>
    </p:spTree>
    <p:extLst>
      <p:ext uri="{BB962C8B-B14F-4D97-AF65-F5344CB8AC3E}">
        <p14:creationId xmlns:p14="http://schemas.microsoft.com/office/powerpoint/2010/main" val="202661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0C02B02-64EF-47FD-B260-5F392D89B6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8C914-3CA6-4882-A3A0-F4196295653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2F7A04-1F83-4D82-B416-09DE90E388E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Input preprocessing depends on whether the model is trained from scratch or pretrained.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757F0-1C50-4214-AF8C-20EE897437F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AEBA2-A995-4076-B731-A2088A36DC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0AF09C-0EAB-46C6-804A-C279804F971C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2E1172-7692-4986-9640-EFB42986B366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8F5AF-C7F7-4970-A2DB-7D7D3BCDE4F6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C5B44-0DC7-4CB8-BBBC-5C7048E8F64F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 grayscale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16836-6961-40D3-94CB-88C3D5111147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C4165-FE28-4BD5-BB3B-771021B0744E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random crop and horizontal flip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0D4ABB-E821-4CE7-9044-3AF95E407EF9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2368E-0421-4D0C-BE2B-D48B7F060A9D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mean 0.5 / std 0.5 normalization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814144-444B-4D44-AB7C-2A207C34DEB7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RESNET18 AND EFFICIENTNET-B0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11F9E-259A-4A31-9EDC-AD41CA906AD5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AEDEF9-7FD5-4E64-9F5D-DCDC0CF28B8E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1B665B-1973-456B-9B2C-252765C2BBFD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same transfer preprocessing for both pretrained backbones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572347-223E-4C09-AB3F-8E4AA24908F5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8008F-ED69-4A2B-AAAB-0D3CCB92B4D2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resize to 224x224 and replicate grayscale to 3 channels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584A23-22E5-4A02-BFDE-E2080BD20F9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FEFD62-6426-4C82-A162-FF47965E207D}"/>
              </a:ext>
            </a:extLst>
          </p:cNvPr>
          <p:cNvSpPr>
            <a:spLocks noGrp="1"/>
          </p:cNvSpPr>
          <p:nvPr/>
        </p:nvSpPr>
        <p:spPr>
          <a:xfrm>
            <a:off x="1028700" y="58293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 normalization to match pretrained weights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9C2FE-306C-4108-AD38-11EE80830C11}"/>
              </a:ext>
            </a:extLst>
          </p:cNvPr>
          <p:cNvSpPr>
            <a:spLocks noGrp="1"/>
          </p:cNvSpPr>
          <p:nvPr/>
        </p:nvSpPr>
        <p:spPr>
          <a:xfrm>
            <a:off x="6115050" y="2324100"/>
            <a:ext cx="46291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581065"/>
            <a:ext cx="4476750" cy="22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4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0C41C89-ABC4-4F29-BFAD-204D7794C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F921A-0A3D-4836-9F7A-4B73F5D8D1A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5DC7C-CCC4-49E0-8F25-AB6BD2D8CEF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methodology is built around controlled experiments.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F4A51-90C7-4657-A8E8-09F8E104E71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278F7-756A-4FFF-B783-84A0AA1E11C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4F709-D268-493F-A0F0-72059D3D08EE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391F66-CC47-4B8B-A4C3-5D4AA2C68A13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8B42F-FF02-49D6-A808-E7C4CC189DCC}"/>
              </a:ext>
            </a:extLst>
          </p:cNvPr>
          <p:cNvSpPr>
            <a:spLocks noGrp="1"/>
          </p:cNvSpPr>
          <p:nvPr/>
        </p:nvSpPr>
        <p:spPr>
          <a:xfrm>
            <a:off x="240030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CF0FC9-E444-4DD8-A21B-3CFFA3301D2A}"/>
              </a:ext>
            </a:extLst>
          </p:cNvPr>
          <p:cNvSpPr>
            <a:spLocks noGrp="1"/>
          </p:cNvSpPr>
          <p:nvPr/>
        </p:nvSpPr>
        <p:spPr>
          <a:xfrm>
            <a:off x="273367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F928B-01A5-4520-84AB-13199B24E6CC}"/>
              </a:ext>
            </a:extLst>
          </p:cNvPr>
          <p:cNvSpPr>
            <a:spLocks noGrp="1"/>
          </p:cNvSpPr>
          <p:nvPr/>
        </p:nvSpPr>
        <p:spPr>
          <a:xfrm>
            <a:off x="282892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Change one factor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4700E-BE3A-4830-8786-BDC387578A24}"/>
              </a:ext>
            </a:extLst>
          </p:cNvPr>
          <p:cNvSpPr>
            <a:spLocks noGrp="1"/>
          </p:cNvSpPr>
          <p:nvPr/>
        </p:nvSpPr>
        <p:spPr>
          <a:xfrm>
            <a:off x="435292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7BFAE1-7D50-4A9D-8997-F3D2BD84D7EF}"/>
              </a:ext>
            </a:extLst>
          </p:cNvPr>
          <p:cNvSpPr>
            <a:spLocks noGrp="1"/>
          </p:cNvSpPr>
          <p:nvPr/>
        </p:nvSpPr>
        <p:spPr>
          <a:xfrm>
            <a:off x="468630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EDF0ED-C13B-4731-9F8B-CF6C8AD30284}"/>
              </a:ext>
            </a:extLst>
          </p:cNvPr>
          <p:cNvSpPr>
            <a:spLocks noGrp="1"/>
          </p:cNvSpPr>
          <p:nvPr/>
        </p:nvSpPr>
        <p:spPr>
          <a:xfrm>
            <a:off x="478155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/ select checkpoint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FB95E-E12A-4E08-BF03-5359993FAD81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07E3B7-B604-4204-8CE7-0C537CDA61E7}"/>
              </a:ext>
            </a:extLst>
          </p:cNvPr>
          <p:cNvSpPr>
            <a:spLocks noGrp="1"/>
          </p:cNvSpPr>
          <p:nvPr/>
        </p:nvSpPr>
        <p:spPr>
          <a:xfrm>
            <a:off x="663892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D16512-4E5A-4795-8AC0-C28443E3A043}"/>
              </a:ext>
            </a:extLst>
          </p:cNvPr>
          <p:cNvSpPr>
            <a:spLocks noGrp="1"/>
          </p:cNvSpPr>
          <p:nvPr/>
        </p:nvSpPr>
        <p:spPr>
          <a:xfrm>
            <a:off x="673417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Evaluate same metrics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C0CA1B-D0A4-4965-B391-A9182660079F}"/>
              </a:ext>
            </a:extLst>
          </p:cNvPr>
          <p:cNvSpPr>
            <a:spLocks noGrp="1"/>
          </p:cNvSpPr>
          <p:nvPr/>
        </p:nvSpPr>
        <p:spPr>
          <a:xfrm>
            <a:off x="825817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7EB839-5528-4F5E-BDC9-6F2C69D56BD5}"/>
              </a:ext>
            </a:extLst>
          </p:cNvPr>
          <p:cNvSpPr>
            <a:spLocks noGrp="1"/>
          </p:cNvSpPr>
          <p:nvPr/>
        </p:nvSpPr>
        <p:spPr>
          <a:xfrm>
            <a:off x="85915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5C9C97-45B9-4199-B9DF-6E2073162D04}"/>
              </a:ext>
            </a:extLst>
          </p:cNvPr>
          <p:cNvSpPr>
            <a:spLocks noGrp="1"/>
          </p:cNvSpPr>
          <p:nvPr/>
        </p:nvSpPr>
        <p:spPr>
          <a:xfrm>
            <a:off x="86868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Analyze errors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D9E41-7932-4E02-B1BA-13F7161FC643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F7B451-A0B2-4ADB-9A6C-AF676E65FC39}"/>
              </a:ext>
            </a:extLst>
          </p:cNvPr>
          <p:cNvSpPr>
            <a:spLocks noGrp="1"/>
          </p:cNvSpPr>
          <p:nvPr/>
        </p:nvSpPr>
        <p:spPr>
          <a:xfrm>
            <a:off x="1123950" y="36004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experiment compares model families under consistent train/validation/test logic.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43427D-915D-4CFC-9497-08E07FBB74A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D3D301-7553-4F00-82F4-C419C90D83E8}"/>
              </a:ext>
            </a:extLst>
          </p:cNvPr>
          <p:cNvSpPr>
            <a:spLocks noGrp="1"/>
          </p:cNvSpPr>
          <p:nvPr/>
        </p:nvSpPr>
        <p:spPr>
          <a:xfrm>
            <a:off x="1123950" y="430530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Variables include architecture, imbalance handling, loss function, optimizer, fine-tuning depth, and crop/TenCrop evaluation.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B306F0-E9B9-435B-AA3F-4AC695FA57E9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33706-C028-40FD-B6A8-BA0E14216FF0}"/>
              </a:ext>
            </a:extLst>
          </p:cNvPr>
          <p:cNvSpPr>
            <a:spLocks noGrp="1"/>
          </p:cNvSpPr>
          <p:nvPr/>
        </p:nvSpPr>
        <p:spPr>
          <a:xfrm>
            <a:off x="1123950" y="50101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evidence types are reported: macro F1, weighted F1, per-class F1, loss curves, and confusion matrices.</a:t>
            </a:r>
          </a:p>
        </p:txBody>
      </p:sp>
    </p:spTree>
    <p:extLst>
      <p:ext uri="{BB962C8B-B14F-4D97-AF65-F5344CB8AC3E}">
        <p14:creationId xmlns:p14="http://schemas.microsoft.com/office/powerpoint/2010/main" val="159858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4CB95BC-0227-46BE-A4DA-B84B155C37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91556-1D1D-4ECA-9768-8E85A497021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EFA3E-0B83-4E04-A956-3D29672135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custom CNN baseline trained from scratch.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8B683-A0B1-4879-B9D4-F7996EE0385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36FCD-0B74-45C5-89FC-DA995A1974E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9F5C8-8DDF-4E53-A170-7E09CBB4746A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D24EC-C0AD-4C9B-927D-D50E27682CB2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48x48x1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28183-755F-4BB3-926B-424ECDD8DC57}"/>
              </a:ext>
            </a:extLst>
          </p:cNvPr>
          <p:cNvSpPr>
            <a:spLocks noGrp="1"/>
          </p:cNvSpPr>
          <p:nvPr/>
        </p:nvSpPr>
        <p:spPr>
          <a:xfrm>
            <a:off x="1733550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8508D-EB94-4DFF-93D3-BC108BD8C1F0}"/>
              </a:ext>
            </a:extLst>
          </p:cNvPr>
          <p:cNvSpPr>
            <a:spLocks noGrp="1"/>
          </p:cNvSpPr>
          <p:nvPr/>
        </p:nvSpPr>
        <p:spPr>
          <a:xfrm>
            <a:off x="1807369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CC4C5-DEFD-4CCC-BAC6-282588CCDF9D}"/>
              </a:ext>
            </a:extLst>
          </p:cNvPr>
          <p:cNvSpPr>
            <a:spLocks noGrp="1"/>
          </p:cNvSpPr>
          <p:nvPr/>
        </p:nvSpPr>
        <p:spPr>
          <a:xfrm>
            <a:off x="1902619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32 x2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5AEBF9-57F4-418B-AD1D-2BF83AFCF845}"/>
              </a:ext>
            </a:extLst>
          </p:cNvPr>
          <p:cNvSpPr>
            <a:spLocks noGrp="1"/>
          </p:cNvSpPr>
          <p:nvPr/>
        </p:nvSpPr>
        <p:spPr>
          <a:xfrm>
            <a:off x="2874169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A669D-3475-422A-83E7-36E3ADC919CE}"/>
              </a:ext>
            </a:extLst>
          </p:cNvPr>
          <p:cNvSpPr>
            <a:spLocks noGrp="1"/>
          </p:cNvSpPr>
          <p:nvPr/>
        </p:nvSpPr>
        <p:spPr>
          <a:xfrm>
            <a:off x="2947988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7ABF4-DC98-4B82-8821-8613E26DBC55}"/>
              </a:ext>
            </a:extLst>
          </p:cNvPr>
          <p:cNvSpPr>
            <a:spLocks noGrp="1"/>
          </p:cNvSpPr>
          <p:nvPr/>
        </p:nvSpPr>
        <p:spPr>
          <a:xfrm>
            <a:off x="3043238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599B3-661D-4749-B7C8-C6F6DAA02AB9}"/>
              </a:ext>
            </a:extLst>
          </p:cNvPr>
          <p:cNvSpPr>
            <a:spLocks noGrp="1"/>
          </p:cNvSpPr>
          <p:nvPr/>
        </p:nvSpPr>
        <p:spPr>
          <a:xfrm>
            <a:off x="4014788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AE00B2-AC37-4B70-81FA-5FA7858784E4}"/>
              </a:ext>
            </a:extLst>
          </p:cNvPr>
          <p:cNvSpPr>
            <a:spLocks noGrp="1"/>
          </p:cNvSpPr>
          <p:nvPr/>
        </p:nvSpPr>
        <p:spPr>
          <a:xfrm>
            <a:off x="4088606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6B8FAE-DC26-410E-8831-9BAD9B726487}"/>
              </a:ext>
            </a:extLst>
          </p:cNvPr>
          <p:cNvSpPr>
            <a:spLocks noGrp="1"/>
          </p:cNvSpPr>
          <p:nvPr/>
        </p:nvSpPr>
        <p:spPr>
          <a:xfrm>
            <a:off x="4183856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64 x2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7BA1DA-AC2D-41F4-B5BA-FC35F02C51B0}"/>
              </a:ext>
            </a:extLst>
          </p:cNvPr>
          <p:cNvSpPr>
            <a:spLocks noGrp="1"/>
          </p:cNvSpPr>
          <p:nvPr/>
        </p:nvSpPr>
        <p:spPr>
          <a:xfrm>
            <a:off x="5155406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C58827-EEBF-4BB6-879C-8FFFADFEFD50}"/>
              </a:ext>
            </a:extLst>
          </p:cNvPr>
          <p:cNvSpPr>
            <a:spLocks noGrp="1"/>
          </p:cNvSpPr>
          <p:nvPr/>
        </p:nvSpPr>
        <p:spPr>
          <a:xfrm>
            <a:off x="5229225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262979-F3EB-4D57-99DC-E963377AACFB}"/>
              </a:ext>
            </a:extLst>
          </p:cNvPr>
          <p:cNvSpPr>
            <a:spLocks noGrp="1"/>
          </p:cNvSpPr>
          <p:nvPr/>
        </p:nvSpPr>
        <p:spPr>
          <a:xfrm>
            <a:off x="5324475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0E966-95FD-4EB4-96A8-AAD0CC4E2972}"/>
              </a:ext>
            </a:extLst>
          </p:cNvPr>
          <p:cNvSpPr>
            <a:spLocks noGrp="1"/>
          </p:cNvSpPr>
          <p:nvPr/>
        </p:nvSpPr>
        <p:spPr>
          <a:xfrm>
            <a:off x="6296025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75690-A7FC-404E-ABFE-AC99E8DC6169}"/>
              </a:ext>
            </a:extLst>
          </p:cNvPr>
          <p:cNvSpPr>
            <a:spLocks noGrp="1"/>
          </p:cNvSpPr>
          <p:nvPr/>
        </p:nvSpPr>
        <p:spPr>
          <a:xfrm>
            <a:off x="6369844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F6611-3050-439F-93D5-8038BE4E441E}"/>
              </a:ext>
            </a:extLst>
          </p:cNvPr>
          <p:cNvSpPr>
            <a:spLocks noGrp="1"/>
          </p:cNvSpPr>
          <p:nvPr/>
        </p:nvSpPr>
        <p:spPr>
          <a:xfrm>
            <a:off x="6465094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128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04210-F58A-4200-AF21-27515EBD5F7B}"/>
              </a:ext>
            </a:extLst>
          </p:cNvPr>
          <p:cNvSpPr>
            <a:spLocks noGrp="1"/>
          </p:cNvSpPr>
          <p:nvPr/>
        </p:nvSpPr>
        <p:spPr>
          <a:xfrm>
            <a:off x="7436644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88C891-DD93-46C7-8755-C2E883E51852}"/>
              </a:ext>
            </a:extLst>
          </p:cNvPr>
          <p:cNvSpPr>
            <a:spLocks noGrp="1"/>
          </p:cNvSpPr>
          <p:nvPr/>
        </p:nvSpPr>
        <p:spPr>
          <a:xfrm>
            <a:off x="7510463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789EE2-6FFB-4B93-B916-A7D958E17CAB}"/>
              </a:ext>
            </a:extLst>
          </p:cNvPr>
          <p:cNvSpPr>
            <a:spLocks noGrp="1"/>
          </p:cNvSpPr>
          <p:nvPr/>
        </p:nvSpPr>
        <p:spPr>
          <a:xfrm>
            <a:off x="7605713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19E0B-0BAC-4FB5-815C-B433828734A5}"/>
              </a:ext>
            </a:extLst>
          </p:cNvPr>
          <p:cNvSpPr>
            <a:spLocks noGrp="1"/>
          </p:cNvSpPr>
          <p:nvPr/>
        </p:nvSpPr>
        <p:spPr>
          <a:xfrm>
            <a:off x="8577263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CBBFC3-98A5-4F94-B502-E2F9267E41CA}"/>
              </a:ext>
            </a:extLst>
          </p:cNvPr>
          <p:cNvSpPr>
            <a:spLocks noGrp="1"/>
          </p:cNvSpPr>
          <p:nvPr/>
        </p:nvSpPr>
        <p:spPr>
          <a:xfrm>
            <a:off x="8651081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416CF-D303-4769-9A70-5D49F63C9465}"/>
              </a:ext>
            </a:extLst>
          </p:cNvPr>
          <p:cNvSpPr>
            <a:spLocks noGrp="1"/>
          </p:cNvSpPr>
          <p:nvPr/>
        </p:nvSpPr>
        <p:spPr>
          <a:xfrm>
            <a:off x="8746331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256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6CA3B6-EBA4-4220-BE54-4A08CCA4AE3B}"/>
              </a:ext>
            </a:extLst>
          </p:cNvPr>
          <p:cNvSpPr>
            <a:spLocks noGrp="1"/>
          </p:cNvSpPr>
          <p:nvPr/>
        </p:nvSpPr>
        <p:spPr>
          <a:xfrm>
            <a:off x="9717881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418FC-5938-4B3E-ADBB-588DF3E044A6}"/>
              </a:ext>
            </a:extLst>
          </p:cNvPr>
          <p:cNvSpPr>
            <a:spLocks noGrp="1"/>
          </p:cNvSpPr>
          <p:nvPr/>
        </p:nvSpPr>
        <p:spPr>
          <a:xfrm>
            <a:off x="979170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E86AB3-D043-43BB-83FC-B61857F00CF9}"/>
              </a:ext>
            </a:extLst>
          </p:cNvPr>
          <p:cNvSpPr>
            <a:spLocks noGrp="1"/>
          </p:cNvSpPr>
          <p:nvPr/>
        </p:nvSpPr>
        <p:spPr>
          <a:xfrm>
            <a:off x="988695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0B5DA-AB71-4563-B739-173B24D1A06A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BaselineCNN implementation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2EF71E-BBBC-4348-B393-7E3E10A9E0E0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AE314B-5263-4224-B46C-7EFCB62B87F2}"/>
              </a:ext>
            </a:extLst>
          </p:cNvPr>
          <p:cNvSpPr>
            <a:spLocks noGrp="1"/>
          </p:cNvSpPr>
          <p:nvPr/>
        </p:nvSpPr>
        <p:spPr>
          <a:xfrm>
            <a:off x="1162050" y="39243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Feature channels: 32, 64, 128.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62A84-E66D-4174-A4D5-142CE7232097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66382F-1E99-4400-A28B-2DA2B48B7E79}"/>
              </a:ext>
            </a:extLst>
          </p:cNvPr>
          <p:cNvSpPr>
            <a:spLocks noGrp="1"/>
          </p:cNvSpPr>
          <p:nvPr/>
        </p:nvSpPr>
        <p:spPr>
          <a:xfrm>
            <a:off x="1162050" y="44386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Convolution filters: 3x3, padding 1; block depths: 2, 2, 1.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09E5B8-A99B-4926-87D4-A4CD4AB5EB44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D5C72-0907-443D-83B5-1F90F0BCC66D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Dropout2d after early pooling blocks; dropout before classifier output.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5979EA-95D7-4104-98C3-82B66C4A1A29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FE89B1-5419-4D39-AA22-5634441BF75C}"/>
              </a:ext>
            </a:extLst>
          </p:cNvPr>
          <p:cNvSpPr>
            <a:spLocks noGrp="1"/>
          </p:cNvSpPr>
          <p:nvPr/>
        </p:nvSpPr>
        <p:spPr>
          <a:xfrm>
            <a:off x="1162050" y="54673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Purpose: establish a reproducible from-scratch baseline.</a:t>
            </a:r>
          </a:p>
        </p:txBody>
      </p:sp>
    </p:spTree>
    <p:extLst>
      <p:ext uri="{BB962C8B-B14F-4D97-AF65-F5344CB8AC3E}">
        <p14:creationId xmlns:p14="http://schemas.microsoft.com/office/powerpoint/2010/main" val="25384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BE5EA2E-CDEC-4B0E-8DEF-CF8D425CA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F154D-FF26-4644-9BDB-048F8CA86DE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6A361-3355-4064-8741-B3A5524ECA5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ResNet18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F0C03-36FD-4B8B-9811-7A7CBE0C036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4B766-CF06-40B1-BB3C-548579515C6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46166-9874-4026-AE01-2CD4C79237A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8F3014-F231-4FE3-957E-A090E64B2D67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0F25B-1A75-45DF-871E-4E7A05AE471F}"/>
              </a:ext>
            </a:extLst>
          </p:cNvPr>
          <p:cNvSpPr>
            <a:spLocks noGrp="1"/>
          </p:cNvSpPr>
          <p:nvPr/>
        </p:nvSpPr>
        <p:spPr>
          <a:xfrm>
            <a:off x="20193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7270-4A0E-45B3-BACA-036AA76055F5}"/>
              </a:ext>
            </a:extLst>
          </p:cNvPr>
          <p:cNvSpPr>
            <a:spLocks noGrp="1"/>
          </p:cNvSpPr>
          <p:nvPr/>
        </p:nvSpPr>
        <p:spPr>
          <a:xfrm>
            <a:off x="20383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B7B91E-9F10-4CDA-9AB7-3CD77C9CDDFD}"/>
              </a:ext>
            </a:extLst>
          </p:cNvPr>
          <p:cNvSpPr>
            <a:spLocks noGrp="1"/>
          </p:cNvSpPr>
          <p:nvPr/>
        </p:nvSpPr>
        <p:spPr>
          <a:xfrm>
            <a:off x="21336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7x7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F9851-FC6D-408E-B1C8-6308A6C53B10}"/>
              </a:ext>
            </a:extLst>
          </p:cNvPr>
          <p:cNvSpPr>
            <a:spLocks noGrp="1"/>
          </p:cNvSpPr>
          <p:nvPr/>
        </p:nvSpPr>
        <p:spPr>
          <a:xfrm>
            <a:off x="32004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BEC9C-2908-4934-BCE6-464CE38CA9BA}"/>
              </a:ext>
            </a:extLst>
          </p:cNvPr>
          <p:cNvSpPr>
            <a:spLocks noGrp="1"/>
          </p:cNvSpPr>
          <p:nvPr/>
        </p:nvSpPr>
        <p:spPr>
          <a:xfrm>
            <a:off x="32194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A382D9-4833-423E-B8E2-534E4BDD42DC}"/>
              </a:ext>
            </a:extLst>
          </p:cNvPr>
          <p:cNvSpPr>
            <a:spLocks noGrp="1"/>
          </p:cNvSpPr>
          <p:nvPr/>
        </p:nvSpPr>
        <p:spPr>
          <a:xfrm>
            <a:off x="33147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residual blocks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20E97-AC4C-48D9-849D-5FA73238AE5E}"/>
              </a:ext>
            </a:extLst>
          </p:cNvPr>
          <p:cNvSpPr>
            <a:spLocks noGrp="1"/>
          </p:cNvSpPr>
          <p:nvPr/>
        </p:nvSpPr>
        <p:spPr>
          <a:xfrm>
            <a:off x="4381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FD247-08D6-44E7-9ECF-3988C7251D2B}"/>
              </a:ext>
            </a:extLst>
          </p:cNvPr>
          <p:cNvSpPr>
            <a:spLocks noGrp="1"/>
          </p:cNvSpPr>
          <p:nvPr/>
        </p:nvSpPr>
        <p:spPr>
          <a:xfrm>
            <a:off x="44005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52135-3985-43E7-80AE-9D7D13918669}"/>
              </a:ext>
            </a:extLst>
          </p:cNvPr>
          <p:cNvSpPr>
            <a:spLocks noGrp="1"/>
          </p:cNvSpPr>
          <p:nvPr/>
        </p:nvSpPr>
        <p:spPr>
          <a:xfrm>
            <a:off x="44958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D7A42-AB31-43E5-904E-AE3C7C394C39}"/>
              </a:ext>
            </a:extLst>
          </p:cNvPr>
          <p:cNvSpPr>
            <a:spLocks noGrp="1"/>
          </p:cNvSpPr>
          <p:nvPr/>
        </p:nvSpPr>
        <p:spPr>
          <a:xfrm>
            <a:off x="55626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885F9B-B104-4005-8EFF-025035765333}"/>
              </a:ext>
            </a:extLst>
          </p:cNvPr>
          <p:cNvSpPr>
            <a:spLocks noGrp="1"/>
          </p:cNvSpPr>
          <p:nvPr/>
        </p:nvSpPr>
        <p:spPr>
          <a:xfrm>
            <a:off x="55816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3960B-0ABB-4697-9C72-8F87138674EE}"/>
              </a:ext>
            </a:extLst>
          </p:cNvPr>
          <p:cNvSpPr>
            <a:spLocks noGrp="1"/>
          </p:cNvSpPr>
          <p:nvPr/>
        </p:nvSpPr>
        <p:spPr>
          <a:xfrm>
            <a:off x="56769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B32406-03AE-4E08-985D-5C4D555E3C67}"/>
              </a:ext>
            </a:extLst>
          </p:cNvPr>
          <p:cNvSpPr>
            <a:spLocks noGrp="1"/>
          </p:cNvSpPr>
          <p:nvPr/>
        </p:nvSpPr>
        <p:spPr>
          <a:xfrm>
            <a:off x="67437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EEB58F-1F65-4C1D-9423-693A99CA5C26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EC384B-63F6-4A2E-994F-B78122516350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CB7F23-30B7-4E42-9AFC-0C18CBFAF925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052317-7762-4033-808B-69705CE710EA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B3AD9F-97D7-41B6-9368-85DF16CF1DC3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24D4A2-E0FD-4679-98DD-3879C0C6BB1B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45C2A-AF76-4BCF-9A3E-5164E6C4DC23}"/>
              </a:ext>
            </a:extLst>
          </p:cNvPr>
          <p:cNvSpPr>
            <a:spLocks noGrp="1"/>
          </p:cNvSpPr>
          <p:nvPr/>
        </p:nvSpPr>
        <p:spPr>
          <a:xfrm>
            <a:off x="91249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35736C-8089-47B0-B020-B4318799893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CFAC9A-2A6B-4B0D-88A8-F9265F19B3C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Fine-tuning design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3C2C3D-88F0-479C-B067-CEB50FC8B5B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7DBAEA-AFA7-4431-9D73-2615210F14F8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common transfer baseline, residual blocks, moderate size, easy to fine-tune systematically.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3DC02B-5910-4F11-BF3E-C9C4C912FF93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FA45A-7144-437D-8CFF-C7FDFBD86465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Classifier head is replaced with a 7-class FER2013 output; earlier layers keep ImageNet visual features.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188763-9BB7-4A5C-8F27-96A37D550704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8E0AE7-1FA5-4D92-9070-ECC8A3ED7C9F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frozen FC -&gt; layer4 -&gt; layer3 -&gt; class weights -&gt; focal loss -&gt;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28907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AEE169B-C508-4BCE-8835-281C7BCC1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0EF107-603F-4C9F-B496-54A382F6A8F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2F4DCA-8CB0-4020-924A-59A097DB6B3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EfficientNet-B0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E9801-2458-4824-9D3F-6D2C395DA38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BE9E1-8A6E-46BE-9331-4DFD3BC6430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7DD35-8999-42D0-A4C2-47EE9A47C2D7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67682-E3D0-4DD3-A509-ECA533C451BD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234E3-327E-4C10-AAD2-3223119A8168}"/>
              </a:ext>
            </a:extLst>
          </p:cNvPr>
          <p:cNvSpPr>
            <a:spLocks noGrp="1"/>
          </p:cNvSpPr>
          <p:nvPr/>
        </p:nvSpPr>
        <p:spPr>
          <a:xfrm>
            <a:off x="2190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F4C79-48C5-4756-9FE3-CF8188F3E7D3}"/>
              </a:ext>
            </a:extLst>
          </p:cNvPr>
          <p:cNvSpPr>
            <a:spLocks noGrp="1"/>
          </p:cNvSpPr>
          <p:nvPr/>
        </p:nvSpPr>
        <p:spPr>
          <a:xfrm>
            <a:off x="2254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5DBD9C-7720-4D28-ACCA-C97E5B9E5B5B}"/>
              </a:ext>
            </a:extLst>
          </p:cNvPr>
          <p:cNvSpPr>
            <a:spLocks noGrp="1"/>
          </p:cNvSpPr>
          <p:nvPr/>
        </p:nvSpPr>
        <p:spPr>
          <a:xfrm>
            <a:off x="2349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F54D6-8927-4C15-A03C-88659E38E0C2}"/>
              </a:ext>
            </a:extLst>
          </p:cNvPr>
          <p:cNvSpPr>
            <a:spLocks noGrp="1"/>
          </p:cNvSpPr>
          <p:nvPr/>
        </p:nvSpPr>
        <p:spPr>
          <a:xfrm>
            <a:off x="3492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A474CD-A398-4C7C-8484-A221590FAD45}"/>
              </a:ext>
            </a:extLst>
          </p:cNvPr>
          <p:cNvSpPr>
            <a:spLocks noGrp="1"/>
          </p:cNvSpPr>
          <p:nvPr/>
        </p:nvSpPr>
        <p:spPr>
          <a:xfrm>
            <a:off x="3556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7CCF4-E3A7-414B-8FAC-3D0F228A6A58}"/>
              </a:ext>
            </a:extLst>
          </p:cNvPr>
          <p:cNvSpPr>
            <a:spLocks noGrp="1"/>
          </p:cNvSpPr>
          <p:nvPr/>
        </p:nvSpPr>
        <p:spPr>
          <a:xfrm>
            <a:off x="3651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MBConv 1-5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21CAD-DC90-4683-8E7A-A6F23F188FA8}"/>
              </a:ext>
            </a:extLst>
          </p:cNvPr>
          <p:cNvSpPr>
            <a:spLocks noGrp="1"/>
          </p:cNvSpPr>
          <p:nvPr/>
        </p:nvSpPr>
        <p:spPr>
          <a:xfrm>
            <a:off x="47942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F043-A3BB-4747-A257-49A7D91F1754}"/>
              </a:ext>
            </a:extLst>
          </p:cNvPr>
          <p:cNvSpPr>
            <a:spLocks noGrp="1"/>
          </p:cNvSpPr>
          <p:nvPr/>
        </p:nvSpPr>
        <p:spPr>
          <a:xfrm>
            <a:off x="48577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56D18-DAC1-41E0-84C5-E342BD241885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MBConv blocks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E84E8-1FDD-4A3F-9E84-B21F811D84C3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0EB576-5151-4493-9BEA-E00632CEE7F7}"/>
              </a:ext>
            </a:extLst>
          </p:cNvPr>
          <p:cNvSpPr>
            <a:spLocks noGrp="1"/>
          </p:cNvSpPr>
          <p:nvPr/>
        </p:nvSpPr>
        <p:spPr>
          <a:xfrm>
            <a:off x="6159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8D754-0AAF-43AD-9347-FD25A5608CDA}"/>
              </a:ext>
            </a:extLst>
          </p:cNvPr>
          <p:cNvSpPr>
            <a:spLocks noGrp="1"/>
          </p:cNvSpPr>
          <p:nvPr/>
        </p:nvSpPr>
        <p:spPr>
          <a:xfrm>
            <a:off x="6254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pooling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B951A-D721-464D-A925-AF392D1BEDEB}"/>
              </a:ext>
            </a:extLst>
          </p:cNvPr>
          <p:cNvSpPr>
            <a:spLocks noGrp="1"/>
          </p:cNvSpPr>
          <p:nvPr/>
        </p:nvSpPr>
        <p:spPr>
          <a:xfrm>
            <a:off x="7397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FE264D-B6E6-4DD3-9FDC-A1DB1BCCCB2B}"/>
              </a:ext>
            </a:extLst>
          </p:cNvPr>
          <p:cNvSpPr>
            <a:spLocks noGrp="1"/>
          </p:cNvSpPr>
          <p:nvPr/>
        </p:nvSpPr>
        <p:spPr>
          <a:xfrm>
            <a:off x="7461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FAF7C6-EDF5-471F-86BD-D2942D9130F8}"/>
              </a:ext>
            </a:extLst>
          </p:cNvPr>
          <p:cNvSpPr>
            <a:spLocks noGrp="1"/>
          </p:cNvSpPr>
          <p:nvPr/>
        </p:nvSpPr>
        <p:spPr>
          <a:xfrm>
            <a:off x="7556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3B9539-3BF3-4A86-9EE8-429C848B85A8}"/>
              </a:ext>
            </a:extLst>
          </p:cNvPr>
          <p:cNvSpPr>
            <a:spLocks noGrp="1"/>
          </p:cNvSpPr>
          <p:nvPr/>
        </p:nvSpPr>
        <p:spPr>
          <a:xfrm>
            <a:off x="8699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15BA88-C0A4-4EBF-B3D6-83E59AB1755D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52BE1-207C-4CC3-B606-77E48269FA3F}"/>
              </a:ext>
            </a:extLst>
          </p:cNvPr>
          <p:cNvSpPr>
            <a:spLocks noGrp="1"/>
          </p:cNvSpPr>
          <p:nvPr/>
        </p:nvSpPr>
        <p:spPr>
          <a:xfrm>
            <a:off x="8858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DB12BA-6CA1-448D-AA9F-C8C3991473F4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Why include it?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20C16D-9CF1-4F6F-BA4F-CF774D6F81E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8E3A8D-B35A-4090-9A21-C315B2D16B83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lightweight ImageNet backbone with compound scaling and efficient MBConv blocks.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094465-70B8-450B-8730-2EFAD1DCF620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CB47F3-C4E8-468C-B43E-7979AD4E5B77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It tests whether a smaller model can match ResNet18 after comparable fine-tuning.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92C36D-1D2D-498B-84D3-72906D6327E7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00034C-D81F-46F7-960F-D6F88866B87B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classifier only -&gt; last block -&gt; last two blocks -&gt; last three blocks -&gt; sampler +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81987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206722-DE95-4C31-BBE4-46D7979FDD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AB1A6-EC40-4F0C-B096-AEA73EE5CD8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D470A-83EA-49A4-9A60-1A0CADEF03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Each strategy tests a specific hypothesis.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F26C5-66C8-4D1A-9431-8C405CD717DF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B525E-34EE-4672-AC1F-63C04ED8EB99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3D781C-63C0-49A2-BAB1-2604B3983B8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STRATEGIES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7C6FB-4CF5-46C9-96DC-3783CB3111F2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6C7D6-1DA7-4940-AFB7-2D1487724C6C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2DBCF-6FE1-4AFF-95EC-D21EDC293473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Augmentation: improve robustness to small face shifts and flips.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95D4D-8EAB-4EB8-94C2-D120402B2A6B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0CE8A-3EAF-4E28-BDF1-10CD6A33B276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weights / weighted sampler / oversampling: reduce class imbalance effects.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F5203-C86B-4CF9-9A9D-8C114AC87B8D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E1DB0-DD95-4827-954A-2DE7D1271300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Focal loss: focus learning on hard examples.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66A10D-2F21-4EA5-A622-38C0ADDD779D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07E02-A491-47F7-AC54-67C84ABC3776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SGD + LR plateau: stabilize final fine-tuning.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978EC6-09A2-4483-A299-5298E2337D65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D99E60-AAED-472B-ADBA-C0F634DAA414}"/>
              </a:ext>
            </a:extLst>
          </p:cNvPr>
          <p:cNvSpPr>
            <a:spLocks noGrp="1"/>
          </p:cNvSpPr>
          <p:nvPr/>
        </p:nvSpPr>
        <p:spPr>
          <a:xfrm>
            <a:off x="1104900" y="48387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Crop/TenCrop: test whether inference-time crops improve robustness.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87B056-349C-4851-9784-2A45547AE869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CONFIGURATIONS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3F9E8-D113-4594-8F8D-D0677B207B7E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B0B7E-357A-4701-AAAB-2310435BF718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889E03-A6F9-4D97-A170-75047787192D}"/>
              </a:ext>
            </a:extLst>
          </p:cNvPr>
          <p:cNvSpPr>
            <a:spLocks noGrp="1"/>
          </p:cNvSpPr>
          <p:nvPr/>
        </p:nvSpPr>
        <p:spPr>
          <a:xfrm>
            <a:off x="6877050" y="26289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 CNN: basic, augmented, imbalance-aware, deeper 80-epoch run.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911329-C9D8-4852-B14D-D236932D5AAB}"/>
              </a:ext>
            </a:extLst>
          </p:cNvPr>
          <p:cNvSpPr>
            <a:spLocks noGrp="1"/>
          </p:cNvSpPr>
          <p:nvPr/>
        </p:nvSpPr>
        <p:spPr>
          <a:xfrm>
            <a:off x="6629400" y="34480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53E09B-A6B6-4324-8890-9470BC25A699}"/>
              </a:ext>
            </a:extLst>
          </p:cNvPr>
          <p:cNvSpPr>
            <a:spLocks noGrp="1"/>
          </p:cNvSpPr>
          <p:nvPr/>
        </p:nvSpPr>
        <p:spPr>
          <a:xfrm>
            <a:off x="6877050" y="33528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ResNet18: feature extraction, layer4/layer3 unfreeze, imbalance and loss variants.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EB3E65-5747-4155-A43F-28625A64E574}"/>
              </a:ext>
            </a:extLst>
          </p:cNvPr>
          <p:cNvSpPr>
            <a:spLocks noGrp="1"/>
          </p:cNvSpPr>
          <p:nvPr/>
        </p:nvSpPr>
        <p:spPr>
          <a:xfrm>
            <a:off x="6629400" y="41719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4FB099-5F18-47A1-8CF8-FC22FABA2C1A}"/>
              </a:ext>
            </a:extLst>
          </p:cNvPr>
          <p:cNvSpPr>
            <a:spLocks noGrp="1"/>
          </p:cNvSpPr>
          <p:nvPr/>
        </p:nvSpPr>
        <p:spPr>
          <a:xfrm>
            <a:off x="6877050" y="40767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EfficientNet-B0: classifier variants, last-block fine-tuning, weighted sampler, crop/TenCrop.</a:t>
            </a:r>
          </a:p>
        </p:txBody>
      </p:sp>
    </p:spTree>
    <p:extLst>
      <p:ext uri="{BB962C8B-B14F-4D97-AF65-F5344CB8AC3E}">
        <p14:creationId xmlns:p14="http://schemas.microsoft.com/office/powerpoint/2010/main" val="1800912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420AF1-F3A5-4255-860B-2153ABDEB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65A0F-8320-45FB-AE18-D95C094D55B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DE726-A964-4181-BAEE-A02B2B82AF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evaluation uses complementary metrics, not only one score.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66568-E6CF-472F-AFE5-3C1DFF3F0FC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654E9-12A1-4948-8789-725913EBE8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98AED-AFA0-4720-9775-8E5EF8673EBA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MAIN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EAFB6-B489-4069-9286-0D4C5205C4E7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B1D11-C36F-455E-B011-4F6168D17C42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79883-375E-415C-B90D-D74ADE14B382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F1: primary metric because all classes count equally.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0C84D-9106-459D-9634-8B44308E3535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7F25D-E7C4-4A86-B969-9AB404BC32C6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F1: reflects performance under the real class distribution.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71FE9-C5E9-4C36-AC43-04E0F9B715CF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DAD74-870F-4D97-9F46-2F3365CD5F43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Precision and recall: show whether each class is over- or under-predicted.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0DB9C2-E300-42CA-A2CF-E70BC63F8847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SUPPORTING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160A7-BBAF-4DBE-ADFF-1D2345411740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A21FE-3DB2-4E06-A9B0-5562EFCBEC0D}"/>
              </a:ext>
            </a:extLst>
          </p:cNvPr>
          <p:cNvSpPr>
            <a:spLocks noGrp="1"/>
          </p:cNvSpPr>
          <p:nvPr/>
        </p:nvSpPr>
        <p:spPr>
          <a:xfrm>
            <a:off x="6534150" y="2743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884F9-DF2F-4556-9CB0-766562DD1379}"/>
              </a:ext>
            </a:extLst>
          </p:cNvPr>
          <p:cNvSpPr>
            <a:spLocks noGrp="1"/>
          </p:cNvSpPr>
          <p:nvPr/>
        </p:nvSpPr>
        <p:spPr>
          <a:xfrm>
            <a:off x="6781800" y="2647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Loss curves: diagnose optimization and overfitting.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2C368A-8D0E-478B-A43C-80E8CB646F5E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817B9-25E1-4758-81B2-ACD9C4BCA437}"/>
              </a:ext>
            </a:extLst>
          </p:cNvPr>
          <p:cNvSpPr>
            <a:spLocks noGrp="1"/>
          </p:cNvSpPr>
          <p:nvPr/>
        </p:nvSpPr>
        <p:spPr>
          <a:xfrm>
            <a:off x="6781800" y="3219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F1 per class: identifies weak emotion categories.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2CF968-76CF-4942-88D8-19C43E527054}"/>
              </a:ext>
            </a:extLst>
          </p:cNvPr>
          <p:cNvSpPr>
            <a:spLocks noGrp="1"/>
          </p:cNvSpPr>
          <p:nvPr/>
        </p:nvSpPr>
        <p:spPr>
          <a:xfrm>
            <a:off x="6534150" y="3886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B592F6-3959-4A0C-8E70-846F98951834}"/>
              </a:ext>
            </a:extLst>
          </p:cNvPr>
          <p:cNvSpPr>
            <a:spLocks noGrp="1"/>
          </p:cNvSpPr>
          <p:nvPr/>
        </p:nvSpPr>
        <p:spPr>
          <a:xfrm>
            <a:off x="6781800" y="3790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Confusion matrix: shows the actual error pattern.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5CC73-017C-4D75-81F8-00208E6399F3}"/>
              </a:ext>
            </a:extLst>
          </p:cNvPr>
          <p:cNvSpPr>
            <a:spLocks noGrp="1"/>
          </p:cNvSpPr>
          <p:nvPr/>
        </p:nvSpPr>
        <p:spPr>
          <a:xfrm>
            <a:off x="6534150" y="4457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D31839-3202-4EED-97F1-3019A7DB8046}"/>
              </a:ext>
            </a:extLst>
          </p:cNvPr>
          <p:cNvSpPr>
            <a:spLocks noGrp="1"/>
          </p:cNvSpPr>
          <p:nvPr/>
        </p:nvSpPr>
        <p:spPr>
          <a:xfrm>
            <a:off x="6781800" y="4362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analysis: checks whether errors are made confidently.</a:t>
            </a:r>
          </a:p>
        </p:txBody>
      </p:sp>
    </p:spTree>
    <p:extLst>
      <p:ext uri="{BB962C8B-B14F-4D97-AF65-F5344CB8AC3E}">
        <p14:creationId xmlns:p14="http://schemas.microsoft.com/office/powerpoint/2010/main" val="218386093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ns2:creationId id="{B7A10652-DBAD-4CC8-BF51-34A957F78FC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DC97A962-D0F8-489F-8833-D4F16BA20DB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Custom CNN results improve gradually, but plateau below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0B5065FC-A785-45B4-9D0B-BBAC383309D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ns2:creationId id="{1F9C1C59-B2F2-41D3-9180-02AA7BC3B305}"/>
              </a:ext>
            </a:extLst>
          </p:cNvPr>
          <p:cNvSpPr>
            <a:spLocks noGrp="1"/>
          </p:cNvSpPr>
          <p:nvPr/>
        </p:nvSpPr>
        <p:spPr>
          <a:xfrm>
            <a:off x="4800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ns2:creationId id="{09655975-8EF2-406D-8D61-3FCA6336D858}"/>
              </a:ext>
            </a:extLst>
          </p:cNvPr>
          <p:cNvSpPr>
            <a:spLocks noGrp="1"/>
          </p:cNvSpPr>
          <p:nvPr/>
        </p:nvSpPr>
        <p:spPr>
          <a:xfrm>
            <a:off x="4933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9" name="Rectangle 48">
            <a:extLst>
              <a:ext uri="{FF2B5EF4-FFF2-40B4-BE49-F238E27FC236}">
                <ns2:creationId id="{5AF45C3A-89DE-4966-B2B3-92CACC03C0D3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ns2:creationId id="{C5941327-EA24-43CD-816E-C37524DB6FAC}"/>
              </a:ext>
            </a:extLst>
          </p:cNvPr>
          <p:cNvSpPr>
            <a:spLocks noGrp="1"/>
          </p:cNvSpPr>
          <p:nvPr/>
        </p:nvSpPr>
        <p:spPr>
          <a:xfrm>
            <a:off x="5753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ns2:creationId id="{92722837-A55D-749F-CB54-542D7B026855}"/>
              </a:ext>
            </a:extLst>
          </p:cNvPr>
          <p:cNvCxnSpPr/>
          <p:nvPr/>
        </p:nvCxnSpPr>
        <p:spPr>
          <a:xfrm>
            <a:off x="1346200" y="5359400"/>
            <a:ext cx="73152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ns2:creationId id="{BA346942-6349-CBA8-33F7-2195AF752FD9}"/>
              </a:ext>
            </a:extLst>
          </p:cNvPr>
          <p:cNvCxnSpPr/>
          <p:nvPr/>
        </p:nvCxnSpPr>
        <p:spPr>
          <a:xfrm>
            <a:off x="1346200" y="535940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ns2:creationId id="{7FA72A1C-A2CC-F874-CCD5-173214447B8F}"/>
              </a:ext>
            </a:extLst>
          </p:cNvPr>
          <p:cNvSpPr txBox="1"/>
          <p:nvPr/>
        </p:nvSpPr>
        <p:spPr>
          <a:xfrm>
            <a:off x="965200" y="52578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0.45</a:t>
            </a:r>
          </a:p>
        </p:txBody>
      </p:sp>
      <p:cxnSp>
        <p:nvCxnSpPr>
          <p:cNvPr id="80" name="Straight Connector 79">
            <a:extLst>
              <a:ext uri="{FF2B5EF4-FFF2-40B4-BE49-F238E27FC236}">
                <ns2:creationId id="{07866587-C219-E279-BC26-F6262F9D4F11}"/>
              </a:ext>
            </a:extLst>
          </p:cNvPr>
          <p:cNvCxnSpPr/>
          <p:nvPr/>
        </p:nvCxnSpPr>
        <p:spPr>
          <a:xfrm>
            <a:off x="1346200" y="487172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ns2:creationId id="{F6A9724E-9A38-8801-C3EA-CFA0BD6C08AC}"/>
              </a:ext>
            </a:extLst>
          </p:cNvPr>
          <p:cNvSpPr txBox="1"/>
          <p:nvPr/>
        </p:nvSpPr>
        <p:spPr>
          <a:xfrm>
            <a:off x="965200" y="477012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0.50</a:t>
            </a:r>
          </a:p>
        </p:txBody>
      </p:sp>
      <p:cxnSp>
        <p:nvCxnSpPr>
          <p:cNvPr id="82" name="Straight Connector 81">
            <a:extLst>
              <a:ext uri="{FF2B5EF4-FFF2-40B4-BE49-F238E27FC236}">
                <ns2:creationId id="{652D8DE9-DB82-5917-5007-BC6D9C0FC313}"/>
              </a:ext>
            </a:extLst>
          </p:cNvPr>
          <p:cNvCxnSpPr/>
          <p:nvPr/>
        </p:nvCxnSpPr>
        <p:spPr>
          <a:xfrm>
            <a:off x="1346200" y="438404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ns2:creationId id="{8421CB3B-9FD7-CA6F-AED9-9BE00E60323F}"/>
              </a:ext>
            </a:extLst>
          </p:cNvPr>
          <p:cNvSpPr txBox="1"/>
          <p:nvPr/>
        </p:nvSpPr>
        <p:spPr>
          <a:xfrm>
            <a:off x="965200" y="428244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0.55</a:t>
            </a:r>
          </a:p>
        </p:txBody>
      </p:sp>
      <p:cxnSp>
        <p:nvCxnSpPr>
          <p:cNvPr id="84" name="Straight Connector 83">
            <a:extLst>
              <a:ext uri="{FF2B5EF4-FFF2-40B4-BE49-F238E27FC236}">
                <ns2:creationId id="{DB4EFA54-5133-6E21-FF77-9CE83333753A}"/>
              </a:ext>
            </a:extLst>
          </p:cNvPr>
          <p:cNvCxnSpPr/>
          <p:nvPr/>
        </p:nvCxnSpPr>
        <p:spPr>
          <a:xfrm>
            <a:off x="1346200" y="389636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ns2:creationId id="{B4F48887-C3AD-A713-1BA5-9693A2FAFDC5}"/>
              </a:ext>
            </a:extLst>
          </p:cNvPr>
          <p:cNvSpPr txBox="1"/>
          <p:nvPr/>
        </p:nvSpPr>
        <p:spPr>
          <a:xfrm>
            <a:off x="965200" y="379476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0.60</a:t>
            </a:r>
          </a:p>
        </p:txBody>
      </p:sp>
      <p:cxnSp>
        <p:nvCxnSpPr>
          <p:cNvPr id="86" name="Straight Connector 85">
            <a:extLst>
              <a:ext uri="{FF2B5EF4-FFF2-40B4-BE49-F238E27FC236}">
                <ns2:creationId id="{D5C236D0-D69B-C70A-467C-F74E897F83F0}"/>
              </a:ext>
            </a:extLst>
          </p:cNvPr>
          <p:cNvCxnSpPr/>
          <p:nvPr/>
        </p:nvCxnSpPr>
        <p:spPr>
          <a:xfrm>
            <a:off x="1346200" y="340868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ns2:creationId id="{5843A769-672A-2309-34A9-D07AEC2951A0}"/>
              </a:ext>
            </a:extLst>
          </p:cNvPr>
          <p:cNvSpPr txBox="1"/>
          <p:nvPr/>
        </p:nvSpPr>
        <p:spPr>
          <a:xfrm>
            <a:off x="965200" y="330708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0.65</a:t>
            </a:r>
          </a:p>
        </p:txBody>
      </p:sp>
      <p:cxnSp>
        <p:nvCxnSpPr>
          <p:cNvPr id="88" name="Straight Connector 87">
            <a:extLst>
              <a:ext uri="{FF2B5EF4-FFF2-40B4-BE49-F238E27FC236}">
                <ns2:creationId id="{63B4E2CB-210F-C3EB-B7F7-98A892044CDB}"/>
              </a:ext>
            </a:extLst>
          </p:cNvPr>
          <p:cNvCxnSpPr/>
          <p:nvPr/>
        </p:nvCxnSpPr>
        <p:spPr>
          <a:xfrm>
            <a:off x="1346200" y="2921000"/>
            <a:ext cx="7315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ns2:creationId id="{9EF79F01-3031-D670-7482-02B467554498}"/>
              </a:ext>
            </a:extLst>
          </p:cNvPr>
          <p:cNvSpPr txBox="1"/>
          <p:nvPr/>
        </p:nvSpPr>
        <p:spPr>
          <a:xfrm>
            <a:off x="965200" y="2819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0.70</a:t>
            </a:r>
          </a:p>
        </p:txBody>
      </p:sp>
      <p:sp>
        <p:nvSpPr>
          <p:cNvPr id="90" name="Rectangle 89">
            <a:extLst>
              <a:ext uri="{FF2B5EF4-FFF2-40B4-BE49-F238E27FC236}">
                <ns2:creationId id="{70D4F18F-560C-3D50-615B-A7F9FF2FD6D3}"/>
              </a:ext>
            </a:extLst>
          </p:cNvPr>
          <p:cNvSpPr/>
          <p:nvPr/>
        </p:nvSpPr>
        <p:spPr>
          <a:xfrm>
            <a:off x="1289957" y="5029200"/>
            <a:ext cx="355600" cy="3302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ns2:creationId id="{26CB09AA-2C8D-AA55-ABBD-D8BC199A9B8E}"/>
              </a:ext>
            </a:extLst>
          </p:cNvPr>
          <p:cNvSpPr txBox="1"/>
          <p:nvPr/>
        </p:nvSpPr>
        <p:spPr>
          <a:xfrm>
            <a:off x="1112157" y="48006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0.485</a:t>
            </a:r>
          </a:p>
        </p:txBody>
      </p:sp>
      <p:sp>
        <p:nvSpPr>
          <p:cNvPr id="92" name="TextBox 91">
            <a:extLst>
              <a:ext uri="{FF2B5EF4-FFF2-40B4-BE49-F238E27FC236}">
                <ns2:creationId id="{1EAC3D99-B0DC-F8E1-35B7-4839A480A8B4}"/>
              </a:ext>
            </a:extLst>
          </p:cNvPr>
          <p:cNvSpPr txBox="1"/>
          <p:nvPr/>
        </p:nvSpPr>
        <p:spPr>
          <a:xfrm>
            <a:off x="952500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CNN
aug</a:t>
            </a:r>
          </a:p>
        </p:txBody>
      </p:sp>
      <p:sp>
        <p:nvSpPr>
          <p:cNvPr id="93" name="Rectangle 92">
            <a:extLst>
              <a:ext uri="{FF2B5EF4-FFF2-40B4-BE49-F238E27FC236}">
                <ns2:creationId id="{A94F4CBE-E610-8715-9B0D-0EF6FD3B0C69}"/>
              </a:ext>
            </a:extLst>
          </p:cNvPr>
          <p:cNvSpPr/>
          <p:nvPr/>
        </p:nvSpPr>
        <p:spPr>
          <a:xfrm>
            <a:off x="2396671" y="4254500"/>
            <a:ext cx="355600" cy="11049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ns2:creationId id="{D6BB556B-4521-867E-D1A0-CB1B49FC808E}"/>
              </a:ext>
            </a:extLst>
          </p:cNvPr>
          <p:cNvSpPr txBox="1"/>
          <p:nvPr/>
        </p:nvSpPr>
        <p:spPr>
          <a:xfrm>
            <a:off x="2218871" y="40259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0.566</a:t>
            </a:r>
          </a:p>
        </p:txBody>
      </p:sp>
      <p:sp>
        <p:nvSpPr>
          <p:cNvPr id="95" name="TextBox 94">
            <a:extLst>
              <a:ext uri="{FF2B5EF4-FFF2-40B4-BE49-F238E27FC236}">
                <ns2:creationId id="{D8C18FBA-D2F1-7315-9052-04877F33E88E}"/>
              </a:ext>
            </a:extLst>
          </p:cNvPr>
          <p:cNvSpPr txBox="1"/>
          <p:nvPr/>
        </p:nvSpPr>
        <p:spPr>
          <a:xfrm>
            <a:off x="2059214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aug +
sampler</a:t>
            </a:r>
          </a:p>
        </p:txBody>
      </p:sp>
      <p:sp>
        <p:nvSpPr>
          <p:cNvPr id="96" name="Rectangle 95">
            <a:extLst>
              <a:ext uri="{FF2B5EF4-FFF2-40B4-BE49-F238E27FC236}">
                <ns2:creationId id="{DF481F8E-84EB-5C28-C0F4-AAE5801ED270}"/>
              </a:ext>
            </a:extLst>
          </p:cNvPr>
          <p:cNvSpPr/>
          <p:nvPr/>
        </p:nvSpPr>
        <p:spPr>
          <a:xfrm>
            <a:off x="3503386" y="3670300"/>
            <a:ext cx="355600" cy="16891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ns2:creationId id="{63F83097-35F5-E304-6D31-ACB28B49E90A}"/>
              </a:ext>
            </a:extLst>
          </p:cNvPr>
          <p:cNvSpPr txBox="1"/>
          <p:nvPr/>
        </p:nvSpPr>
        <p:spPr>
          <a:xfrm>
            <a:off x="3325586" y="34417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0.627</a:t>
            </a:r>
          </a:p>
        </p:txBody>
      </p:sp>
      <p:sp>
        <p:nvSpPr>
          <p:cNvPr id="98" name="TextBox 97">
            <a:extLst>
              <a:ext uri="{FF2B5EF4-FFF2-40B4-BE49-F238E27FC236}">
                <ns2:creationId id="{D3717612-0D39-AE39-2CC2-AAD3D36899FE}"/>
              </a:ext>
            </a:extLst>
          </p:cNvPr>
          <p:cNvSpPr txBox="1"/>
          <p:nvPr/>
        </p:nvSpPr>
        <p:spPr>
          <a:xfrm>
            <a:off x="3165929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sampler + CE
+ SGD</a:t>
            </a:r>
          </a:p>
        </p:txBody>
      </p:sp>
      <p:sp>
        <p:nvSpPr>
          <p:cNvPr id="99" name="Rectangle 98">
            <a:extLst>
              <a:ext uri="{FF2B5EF4-FFF2-40B4-BE49-F238E27FC236}">
                <ns2:creationId id="{CEFCE8C7-B8B2-C126-885E-248F675962E4}"/>
              </a:ext>
            </a:extLst>
          </p:cNvPr>
          <p:cNvSpPr/>
          <p:nvPr/>
        </p:nvSpPr>
        <p:spPr>
          <a:xfrm>
            <a:off x="4610100" y="4635500"/>
            <a:ext cx="355600" cy="7239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ns2:creationId id="{19FF8797-3DB6-AA94-B5C2-DC723EE5F5E3}"/>
              </a:ext>
            </a:extLst>
          </p:cNvPr>
          <p:cNvSpPr txBox="1"/>
          <p:nvPr/>
        </p:nvSpPr>
        <p:spPr>
          <a:xfrm>
            <a:off x="4432300" y="44069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0.526</a:t>
            </a:r>
          </a:p>
        </p:txBody>
      </p:sp>
      <p:sp>
        <p:nvSpPr>
          <p:cNvPr id="101" name="TextBox 100">
            <a:extLst>
              <a:ext uri="{FF2B5EF4-FFF2-40B4-BE49-F238E27FC236}">
                <ns2:creationId id="{E3DC040E-D5CC-5A9F-6646-9F84E6D015A1}"/>
              </a:ext>
            </a:extLst>
          </p:cNvPr>
          <p:cNvSpPr txBox="1"/>
          <p:nvPr/>
        </p:nvSpPr>
        <p:spPr>
          <a:xfrm>
            <a:off x="4272643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sampler +
focal</a:t>
            </a:r>
          </a:p>
        </p:txBody>
      </p:sp>
      <p:sp>
        <p:nvSpPr>
          <p:cNvPr id="102" name="Rectangle 101">
            <a:extLst>
              <a:ext uri="{FF2B5EF4-FFF2-40B4-BE49-F238E27FC236}">
                <ns2:creationId id="{C59DA991-52D6-6652-BCDB-F45BB6AB92A6}"/>
              </a:ext>
            </a:extLst>
          </p:cNvPr>
          <p:cNvSpPr/>
          <p:nvPr/>
        </p:nvSpPr>
        <p:spPr>
          <a:xfrm>
            <a:off x="5716814" y="3797300"/>
            <a:ext cx="355600" cy="15621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ns2:creationId id="{606AA305-A345-6730-72B9-4A44BDBF8A62}"/>
              </a:ext>
            </a:extLst>
          </p:cNvPr>
          <p:cNvSpPr txBox="1"/>
          <p:nvPr/>
        </p:nvSpPr>
        <p:spPr>
          <a:xfrm>
            <a:off x="5539014" y="35687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0.613</a:t>
            </a:r>
          </a:p>
        </p:txBody>
      </p:sp>
      <p:sp>
        <p:nvSpPr>
          <p:cNvPr id="104" name="TextBox 103">
            <a:extLst>
              <a:ext uri="{FF2B5EF4-FFF2-40B4-BE49-F238E27FC236}">
                <ns2:creationId id="{464C76B1-CB68-59F7-C9C3-511E2CF020F6}"/>
              </a:ext>
            </a:extLst>
          </p:cNvPr>
          <p:cNvSpPr txBox="1"/>
          <p:nvPr/>
        </p:nvSpPr>
        <p:spPr>
          <a:xfrm>
            <a:off x="5379357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focal +
SGD</a:t>
            </a:r>
          </a:p>
        </p:txBody>
      </p:sp>
      <p:sp>
        <p:nvSpPr>
          <p:cNvPr id="105" name="Rectangle 104">
            <a:extLst>
              <a:ext uri="{FF2B5EF4-FFF2-40B4-BE49-F238E27FC236}">
                <ns2:creationId id="{BD15E107-62DD-AA88-B643-236B3D373FB6}"/>
              </a:ext>
            </a:extLst>
          </p:cNvPr>
          <p:cNvSpPr/>
          <p:nvPr/>
        </p:nvSpPr>
        <p:spPr>
          <a:xfrm>
            <a:off x="6823528" y="3327400"/>
            <a:ext cx="355600" cy="20320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ns2:creationId id="{CD6541EE-CC3A-1928-4BEC-0D16397E3A08}"/>
              </a:ext>
            </a:extLst>
          </p:cNvPr>
          <p:cNvSpPr txBox="1"/>
          <p:nvPr/>
        </p:nvSpPr>
        <p:spPr>
          <a:xfrm>
            <a:off x="6645728" y="30988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0.662</a:t>
            </a:r>
          </a:p>
        </p:txBody>
      </p:sp>
      <p:sp>
        <p:nvSpPr>
          <p:cNvPr id="107" name="TextBox 106">
            <a:extLst>
              <a:ext uri="{FF2B5EF4-FFF2-40B4-BE49-F238E27FC236}">
                <ns2:creationId id="{9E0E9C95-AE97-0F06-B621-AC180A4285DF}"/>
              </a:ext>
            </a:extLst>
          </p:cNvPr>
          <p:cNvSpPr txBox="1"/>
          <p:nvPr/>
        </p:nvSpPr>
        <p:spPr>
          <a:xfrm>
            <a:off x="6486072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crop/TenCrop
CE 80ep</a:t>
            </a:r>
          </a:p>
        </p:txBody>
      </p:sp>
      <p:sp>
        <p:nvSpPr>
          <p:cNvPr id="108" name="Rectangle 107">
            <a:extLst>
              <a:ext uri="{FF2B5EF4-FFF2-40B4-BE49-F238E27FC236}">
                <ns2:creationId id="{6194D383-1312-E06E-B6D1-6FB29B27EA3C}"/>
              </a:ext>
            </a:extLst>
          </p:cNvPr>
          <p:cNvSpPr/>
          <p:nvPr/>
        </p:nvSpPr>
        <p:spPr>
          <a:xfrm>
            <a:off x="7930243" y="3492500"/>
            <a:ext cx="355600" cy="18669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ns2:creationId id="{80A17BAA-5C99-C994-A9BC-BB987E5E62C5}"/>
              </a:ext>
            </a:extLst>
          </p:cNvPr>
          <p:cNvSpPr txBox="1"/>
          <p:nvPr/>
        </p:nvSpPr>
        <p:spPr>
          <a:xfrm>
            <a:off x="7752443" y="32639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0.646</a:t>
            </a:r>
          </a:p>
        </p:txBody>
      </p:sp>
      <p:sp>
        <p:nvSpPr>
          <p:cNvPr id="110" name="TextBox 109">
            <a:extLst>
              <a:ext uri="{FF2B5EF4-FFF2-40B4-BE49-F238E27FC236}">
                <ns2:creationId id="{09FD00F6-C93A-7507-438C-39712FAE5961}"/>
              </a:ext>
            </a:extLst>
          </p:cNvPr>
          <p:cNvSpPr txBox="1"/>
          <p:nvPr/>
        </p:nvSpPr>
        <p:spPr>
          <a:xfrm>
            <a:off x="7592785" y="5461000"/>
            <a:ext cx="1030514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deeper CNN
CE 70ep</a:t>
            </a:r>
          </a:p>
        </p:txBody>
      </p:sp>
      <p:sp>
        <p:nvSpPr>
          <p:cNvPr id="111" name="Rectangle 110">
            <a:extLst>
              <a:ext uri="{FF2B5EF4-FFF2-40B4-BE49-F238E27FC236}">
                <ns2:creationId id="{6D9545D1-7208-B891-701B-E3F44E61C49B}"/>
              </a:ext>
            </a:extLst>
          </p:cNvPr>
          <p:cNvSpPr/>
          <p:nvPr/>
        </p:nvSpPr>
        <p:spPr>
          <a:xfrm>
            <a:off x="6756400" y="2794000"/>
            <a:ext cx="114300" cy="1143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ns3:hiddenLine w="19050">
                <a:solidFill>
                  <a:schemeClr val="accent1">
                    <a:shade val="15000"/>
                  </a:schemeClr>
                </a:solidFill>
                <a:prstDash val="solid"/>
              </ns3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ns2:creationId id="{E87398C9-7309-7DF6-7965-BD5C7446FCA5}"/>
              </a:ext>
            </a:extLst>
          </p:cNvPr>
          <p:cNvSpPr txBox="1"/>
          <p:nvPr/>
        </p:nvSpPr>
        <p:spPr>
          <a:xfrm>
            <a:off x="6934200" y="27432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66172"/>
                </a:solidFill>
                <a:latin typeface="Aptos" panose="020B0004020202020204" pitchFamily="34" charset="0"/>
              </a:rPr>
              <a:t>best val macro F1</a:t>
            </a:r>
          </a:p>
        </p:txBody>
      </p:sp>
      <p:sp>
        <p:nvSpPr>
          <p:cNvPr id="113" name="Rectangle 112">
            <a:extLst>
              <a:ext uri="{FF2B5EF4-FFF2-40B4-BE49-F238E27FC236}">
                <ns2:creationId id="{D3CC71F6-891D-92C9-94FB-7C33844D4027}"/>
              </a:ext>
            </a:extLst>
          </p:cNvPr>
          <p:cNvSpPr/>
          <p:nvPr/>
        </p:nvSpPr>
        <p:spPr>
          <a:xfrm>
            <a:off x="9550400" y="2565400"/>
            <a:ext cx="4140200" cy="3937000"/>
          </a:xfrm>
          <a:prstGeom prst="rect">
            <a:avLst/>
          </a:prstGeom>
          <a:solidFill>
            <a:srgbClr val="FFFFFF"/>
          </a:solidFill>
          <a:ln>
            <a:solidFill>
              <a:srgbClr val="CFC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>
            <a:extLst>
              <a:ext uri="{FF2B5EF4-FFF2-40B4-BE49-F238E27FC236}">
                <ns2:creationId id="{CCDDA619-D336-9CD6-A7A6-13E703D0F7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9652000" y="2667000"/>
            <a:ext cx="3937000" cy="370840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ns2:creationId id="{2F4ECDCF-E54A-CFDE-B40A-EAC03EB5A38F}"/>
              </a:ext>
            </a:extLst>
          </p:cNvPr>
          <p:cNvSpPr txBox="1"/>
          <p:nvPr/>
        </p:nvSpPr>
        <p:spPr>
          <a:xfrm>
            <a:off x="990600" y="6794500"/>
            <a:ext cx="736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Selected custom CNN test per-class F1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ns2:creationId id="{5AEC778D-DC1F-F62A-605A-E9B037C98CB4}"/>
              </a:ext>
            </a:extLst>
          </p:cNvPr>
          <p:cNvCxnSpPr/>
          <p:nvPr/>
        </p:nvCxnSpPr>
        <p:spPr>
          <a:xfrm>
            <a:off x="990600" y="7099300"/>
            <a:ext cx="73660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ns2:creationId id="{8E2EC3D4-FB3C-9667-F54A-0C84F258C0B3}"/>
              </a:ext>
            </a:extLst>
          </p:cNvPr>
          <p:cNvSpPr txBox="1"/>
          <p:nvPr/>
        </p:nvSpPr>
        <p:spPr>
          <a:xfrm>
            <a:off x="990600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angry</a:t>
            </a:r>
          </a:p>
        </p:txBody>
      </p:sp>
      <p:sp>
        <p:nvSpPr>
          <p:cNvPr id="119" name="TextBox 118">
            <a:extLst>
              <a:ext uri="{FF2B5EF4-FFF2-40B4-BE49-F238E27FC236}">
                <ns2:creationId id="{936BAEB3-D91B-191D-7E98-1E1A2A867B62}"/>
              </a:ext>
            </a:extLst>
          </p:cNvPr>
          <p:cNvSpPr txBox="1"/>
          <p:nvPr/>
        </p:nvSpPr>
        <p:spPr>
          <a:xfrm>
            <a:off x="990600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0.59</a:t>
            </a:r>
          </a:p>
        </p:txBody>
      </p:sp>
      <p:sp>
        <p:nvSpPr>
          <p:cNvPr id="120" name="TextBox 119">
            <a:extLst>
              <a:ext uri="{FF2B5EF4-FFF2-40B4-BE49-F238E27FC236}">
                <ns2:creationId id="{D39B9DC2-FFC0-AE4F-4125-DD29FEE32383}"/>
              </a:ext>
            </a:extLst>
          </p:cNvPr>
          <p:cNvSpPr txBox="1"/>
          <p:nvPr/>
        </p:nvSpPr>
        <p:spPr>
          <a:xfrm>
            <a:off x="2042886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disgust</a:t>
            </a:r>
          </a:p>
        </p:txBody>
      </p:sp>
      <p:sp>
        <p:nvSpPr>
          <p:cNvPr id="121" name="TextBox 120">
            <a:extLst>
              <a:ext uri="{FF2B5EF4-FFF2-40B4-BE49-F238E27FC236}">
                <ns2:creationId id="{741EA1AD-5C70-67D3-D66D-DF226DA8BF5A}"/>
              </a:ext>
            </a:extLst>
          </p:cNvPr>
          <p:cNvSpPr txBox="1"/>
          <p:nvPr/>
        </p:nvSpPr>
        <p:spPr>
          <a:xfrm>
            <a:off x="2042886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0.68</a:t>
            </a:r>
          </a:p>
        </p:txBody>
      </p:sp>
      <p:sp>
        <p:nvSpPr>
          <p:cNvPr id="122" name="TextBox 121">
            <a:extLst>
              <a:ext uri="{FF2B5EF4-FFF2-40B4-BE49-F238E27FC236}">
                <ns2:creationId id="{8652CCAF-5690-9430-284B-33A98BC956B1}"/>
              </a:ext>
            </a:extLst>
          </p:cNvPr>
          <p:cNvSpPr txBox="1"/>
          <p:nvPr/>
        </p:nvSpPr>
        <p:spPr>
          <a:xfrm>
            <a:off x="3095171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fear</a:t>
            </a:r>
          </a:p>
        </p:txBody>
      </p:sp>
      <p:sp>
        <p:nvSpPr>
          <p:cNvPr id="123" name="TextBox 122">
            <a:extLst>
              <a:ext uri="{FF2B5EF4-FFF2-40B4-BE49-F238E27FC236}">
                <ns2:creationId id="{27723AE0-4281-1216-990B-8A1B25EB1FED}"/>
              </a:ext>
            </a:extLst>
          </p:cNvPr>
          <p:cNvSpPr txBox="1"/>
          <p:nvPr/>
        </p:nvSpPr>
        <p:spPr>
          <a:xfrm>
            <a:off x="3095171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A5622C"/>
                </a:solidFill>
                <a:latin typeface="Aptos" panose="020B0004020202020204" pitchFamily="34" charset="0"/>
              </a:rPr>
              <a:t>0.45</a:t>
            </a:r>
          </a:p>
        </p:txBody>
      </p:sp>
      <p:sp>
        <p:nvSpPr>
          <p:cNvPr id="124" name="TextBox 123">
            <a:extLst>
              <a:ext uri="{FF2B5EF4-FFF2-40B4-BE49-F238E27FC236}">
                <ns2:creationId id="{1CD10C96-1620-3807-58BF-47CAAD678449}"/>
              </a:ext>
            </a:extLst>
          </p:cNvPr>
          <p:cNvSpPr txBox="1"/>
          <p:nvPr/>
        </p:nvSpPr>
        <p:spPr>
          <a:xfrm>
            <a:off x="4147457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happy</a:t>
            </a:r>
          </a:p>
        </p:txBody>
      </p:sp>
      <p:sp>
        <p:nvSpPr>
          <p:cNvPr id="125" name="TextBox 124">
            <a:extLst>
              <a:ext uri="{FF2B5EF4-FFF2-40B4-BE49-F238E27FC236}">
                <ns2:creationId id="{59417953-FA52-0200-D0C7-B68177DDACFA}"/>
              </a:ext>
            </a:extLst>
          </p:cNvPr>
          <p:cNvSpPr txBox="1"/>
          <p:nvPr/>
        </p:nvSpPr>
        <p:spPr>
          <a:xfrm>
            <a:off x="4147457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0.87</a:t>
            </a:r>
          </a:p>
        </p:txBody>
      </p:sp>
      <p:sp>
        <p:nvSpPr>
          <p:cNvPr id="126" name="TextBox 125">
            <a:extLst>
              <a:ext uri="{FF2B5EF4-FFF2-40B4-BE49-F238E27FC236}">
                <ns2:creationId id="{2A1E2BD6-4989-450F-C8B4-AA2EA5A871AF}"/>
              </a:ext>
            </a:extLst>
          </p:cNvPr>
          <p:cNvSpPr txBox="1"/>
          <p:nvPr/>
        </p:nvSpPr>
        <p:spPr>
          <a:xfrm>
            <a:off x="5199743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sad</a:t>
            </a:r>
          </a:p>
        </p:txBody>
      </p:sp>
      <p:sp>
        <p:nvSpPr>
          <p:cNvPr id="127" name="TextBox 126">
            <a:extLst>
              <a:ext uri="{FF2B5EF4-FFF2-40B4-BE49-F238E27FC236}">
                <ns2:creationId id="{580B672E-AC6B-23E4-C9AF-FDA31A68FD0E}"/>
              </a:ext>
            </a:extLst>
          </p:cNvPr>
          <p:cNvSpPr txBox="1"/>
          <p:nvPr/>
        </p:nvSpPr>
        <p:spPr>
          <a:xfrm>
            <a:off x="5199743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A5622C"/>
                </a:solidFill>
                <a:latin typeface="Aptos" panose="020B0004020202020204" pitchFamily="34" charset="0"/>
              </a:rPr>
              <a:t>0.55</a:t>
            </a:r>
          </a:p>
        </p:txBody>
      </p:sp>
      <p:sp>
        <p:nvSpPr>
          <p:cNvPr id="128" name="TextBox 127">
            <a:extLst>
              <a:ext uri="{FF2B5EF4-FFF2-40B4-BE49-F238E27FC236}">
                <ns2:creationId id="{FD7B8602-011F-DFEB-8B33-D94889133DE8}"/>
              </a:ext>
            </a:extLst>
          </p:cNvPr>
          <p:cNvSpPr txBox="1"/>
          <p:nvPr/>
        </p:nvSpPr>
        <p:spPr>
          <a:xfrm>
            <a:off x="6252028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surprise</a:t>
            </a:r>
          </a:p>
        </p:txBody>
      </p:sp>
      <p:sp>
        <p:nvSpPr>
          <p:cNvPr id="129" name="TextBox 128">
            <a:extLst>
              <a:ext uri="{FF2B5EF4-FFF2-40B4-BE49-F238E27FC236}">
                <ns2:creationId id="{0CBA2455-07A3-24BA-6511-6758037438D8}"/>
              </a:ext>
            </a:extLst>
          </p:cNvPr>
          <p:cNvSpPr txBox="1"/>
          <p:nvPr/>
        </p:nvSpPr>
        <p:spPr>
          <a:xfrm>
            <a:off x="6252028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0.79</a:t>
            </a:r>
          </a:p>
        </p:txBody>
      </p:sp>
      <p:sp>
        <p:nvSpPr>
          <p:cNvPr id="130" name="TextBox 129">
            <a:extLst>
              <a:ext uri="{FF2B5EF4-FFF2-40B4-BE49-F238E27FC236}">
                <ns2:creationId id="{DAAD1ECC-2F8C-8CD3-AC41-3CAD1D1F4DE1}"/>
              </a:ext>
            </a:extLst>
          </p:cNvPr>
          <p:cNvSpPr txBox="1"/>
          <p:nvPr/>
        </p:nvSpPr>
        <p:spPr>
          <a:xfrm>
            <a:off x="7304315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neutral</a:t>
            </a:r>
          </a:p>
        </p:txBody>
      </p:sp>
      <p:sp>
        <p:nvSpPr>
          <p:cNvPr id="131" name="TextBox 130">
            <a:extLst>
              <a:ext uri="{FF2B5EF4-FFF2-40B4-BE49-F238E27FC236}">
                <ns2:creationId id="{3F279089-AF0E-B718-9935-BE62ABC565A6}"/>
              </a:ext>
            </a:extLst>
          </p:cNvPr>
          <p:cNvSpPr txBox="1"/>
          <p:nvPr/>
        </p:nvSpPr>
        <p:spPr>
          <a:xfrm>
            <a:off x="7304315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0.64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ns2:creationId id="{BD5990CF-8E01-85C8-2FC6-E43101FF35C0}"/>
              </a:ext>
            </a:extLst>
          </p:cNvPr>
          <p:cNvCxnSpPr/>
          <p:nvPr/>
        </p:nvCxnSpPr>
        <p:spPr>
          <a:xfrm>
            <a:off x="990600" y="7734300"/>
            <a:ext cx="73660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baseline chart cover"/>
          <p:cNvSpPr/>
          <p:nvPr/>
        </p:nvSpPr>
        <p:spPr>
          <a:xfrm>
            <a:off x="476250" y="1762125"/>
            <a:ext cx="6667500" cy="3238500"/>
          </a:xfrm>
          <a:prstGeom prst="rect">
            <a:avLst/>
          </a:prstGeom>
          <a:solidFill>
            <a:srgbClr val="FAF9F6"/>
          </a:solidFill>
          <a:ln>
            <a:solidFill>
              <a:srgbClr val="FAF9F6"/>
            </a:solidFill>
          </a:ln>
        </p:spPr>
      </p:sp>
      <p:sp>
        <p:nvSpPr>
          <p:cNvPr id="134" name="old legend cover"/>
          <p:cNvSpPr/>
          <p:nvPr/>
        </p:nvSpPr>
        <p:spPr>
          <a:xfrm>
            <a:off x="4953000" y="742950"/>
            <a:ext cx="3714750" cy="904875"/>
          </a:xfrm>
          <a:prstGeom prst="rect">
            <a:avLst/>
          </a:prstGeom>
          <a:solidFill>
            <a:srgbClr val="FAF9F6"/>
          </a:solidFill>
          <a:ln>
            <a:solidFill>
              <a:srgbClr val="FAF9F6"/>
            </a:solidFill>
          </a:ln>
        </p:spPr>
      </p:sp>
      <p:sp>
        <p:nvSpPr>
          <p:cNvPr id="135" name="grid"/>
          <p:cNvSpPr/>
          <p:nvPr/>
        </p:nvSpPr>
        <p:spPr>
          <a:xfrm>
            <a:off x="1009650" y="403860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36" name="text 136"/>
          <p:cNvSpPr/>
          <p:nvPr/>
        </p:nvSpPr>
        <p:spPr>
          <a:xfrm>
            <a:off x="723900" y="39624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0.45</a:t>
            </a:r>
          </a:p>
        </p:txBody>
      </p:sp>
      <p:sp>
        <p:nvSpPr>
          <p:cNvPr id="137" name="grid"/>
          <p:cNvSpPr/>
          <p:nvPr/>
        </p:nvSpPr>
        <p:spPr>
          <a:xfrm>
            <a:off x="1009650" y="366903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38" name="text 138"/>
          <p:cNvSpPr/>
          <p:nvPr/>
        </p:nvSpPr>
        <p:spPr>
          <a:xfrm>
            <a:off x="723900" y="359283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0.50</a:t>
            </a:r>
          </a:p>
        </p:txBody>
      </p:sp>
      <p:sp>
        <p:nvSpPr>
          <p:cNvPr id="139" name="grid"/>
          <p:cNvSpPr/>
          <p:nvPr/>
        </p:nvSpPr>
        <p:spPr>
          <a:xfrm>
            <a:off x="1009650" y="329946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0" name="text 140"/>
          <p:cNvSpPr/>
          <p:nvPr/>
        </p:nvSpPr>
        <p:spPr>
          <a:xfrm>
            <a:off x="723900" y="322326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0.55</a:t>
            </a:r>
          </a:p>
        </p:txBody>
      </p:sp>
      <p:sp>
        <p:nvSpPr>
          <p:cNvPr id="141" name="grid"/>
          <p:cNvSpPr/>
          <p:nvPr/>
        </p:nvSpPr>
        <p:spPr>
          <a:xfrm>
            <a:off x="1009650" y="292989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2" name="text 142"/>
          <p:cNvSpPr/>
          <p:nvPr/>
        </p:nvSpPr>
        <p:spPr>
          <a:xfrm>
            <a:off x="723900" y="285369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0.60</a:t>
            </a:r>
          </a:p>
        </p:txBody>
      </p:sp>
      <p:sp>
        <p:nvSpPr>
          <p:cNvPr id="143" name="grid"/>
          <p:cNvSpPr/>
          <p:nvPr/>
        </p:nvSpPr>
        <p:spPr>
          <a:xfrm>
            <a:off x="1009650" y="256032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4" name="text 144"/>
          <p:cNvSpPr/>
          <p:nvPr/>
        </p:nvSpPr>
        <p:spPr>
          <a:xfrm>
            <a:off x="723900" y="248412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0.65</a:t>
            </a:r>
          </a:p>
        </p:txBody>
      </p:sp>
      <p:sp>
        <p:nvSpPr>
          <p:cNvPr id="145" name="grid"/>
          <p:cNvSpPr/>
          <p:nvPr/>
        </p:nvSpPr>
        <p:spPr>
          <a:xfrm>
            <a:off x="1009650" y="219075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6" name="text 146"/>
          <p:cNvSpPr/>
          <p:nvPr/>
        </p:nvSpPr>
        <p:spPr>
          <a:xfrm>
            <a:off x="723900" y="21145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0.70</a:t>
            </a:r>
          </a:p>
        </p:txBody>
      </p:sp>
      <p:sp>
        <p:nvSpPr>
          <p:cNvPr id="147" name="axis"/>
          <p:cNvSpPr/>
          <p:nvPr/>
        </p:nvSpPr>
        <p:spPr>
          <a:xfrm>
            <a:off x="1009650" y="4038600"/>
            <a:ext cx="5486400" cy="14288"/>
          </a:xfrm>
          <a:prstGeom prst="rect">
            <a:avLst/>
          </a:prstGeom>
          <a:solidFill>
            <a:srgbClr val="CFCBC1"/>
          </a:solidFill>
          <a:ln>
            <a:solidFill>
              <a:srgbClr val="CFCBC1"/>
            </a:solidFill>
          </a:ln>
        </p:spPr>
      </p:sp>
      <p:sp>
        <p:nvSpPr>
          <p:cNvPr id="148" name="bar"/>
          <p:cNvSpPr/>
          <p:nvPr/>
        </p:nvSpPr>
        <p:spPr>
          <a:xfrm>
            <a:off x="1024731" y="3788734"/>
            <a:ext cx="290512" cy="249866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49" name="text 149"/>
          <p:cNvSpPr/>
          <p:nvPr/>
        </p:nvSpPr>
        <p:spPr>
          <a:xfrm>
            <a:off x="884238" y="3617284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0.485</a:t>
            </a:r>
          </a:p>
        </p:txBody>
      </p:sp>
      <p:sp>
        <p:nvSpPr>
          <p:cNvPr id="150" name="text 150"/>
          <p:cNvSpPr/>
          <p:nvPr/>
        </p:nvSpPr>
        <p:spPr>
          <a:xfrm>
            <a:off x="723900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CNN aug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</a:t>
            </a:r>
          </a:p>
        </p:txBody>
      </p:sp>
      <p:sp>
        <p:nvSpPr>
          <p:cNvPr id="151" name="bar"/>
          <p:cNvSpPr/>
          <p:nvPr/>
        </p:nvSpPr>
        <p:spPr>
          <a:xfrm>
            <a:off x="1993106" y="3198176"/>
            <a:ext cx="290512" cy="840424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2" name="text 152"/>
          <p:cNvSpPr/>
          <p:nvPr/>
        </p:nvSpPr>
        <p:spPr>
          <a:xfrm>
            <a:off x="1852613" y="3026726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0.566</a:t>
            </a:r>
          </a:p>
        </p:txBody>
      </p:sp>
      <p:sp>
        <p:nvSpPr>
          <p:cNvPr id="153" name="text 153"/>
          <p:cNvSpPr/>
          <p:nvPr/>
        </p:nvSpPr>
        <p:spPr>
          <a:xfrm>
            <a:off x="1692275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</a:t>
            </a:r>
          </a:p>
        </p:txBody>
      </p:sp>
      <p:sp>
        <p:nvSpPr>
          <p:cNvPr id="154" name="bar"/>
          <p:cNvSpPr/>
          <p:nvPr/>
        </p:nvSpPr>
        <p:spPr>
          <a:xfrm>
            <a:off x="2961481" y="3491088"/>
            <a:ext cx="290512" cy="547512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5" name="text 155"/>
          <p:cNvSpPr/>
          <p:nvPr/>
        </p:nvSpPr>
        <p:spPr>
          <a:xfrm>
            <a:off x="2820988" y="3319638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0.526</a:t>
            </a:r>
          </a:p>
        </p:txBody>
      </p:sp>
      <p:sp>
        <p:nvSpPr>
          <p:cNvPr id="156" name="text 156"/>
          <p:cNvSpPr/>
          <p:nvPr/>
        </p:nvSpPr>
        <p:spPr>
          <a:xfrm>
            <a:off x="2660650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focal</a:t>
            </a:r>
          </a:p>
        </p:txBody>
      </p:sp>
      <p:sp>
        <p:nvSpPr>
          <p:cNvPr id="157" name="bar"/>
          <p:cNvSpPr/>
          <p:nvPr/>
        </p:nvSpPr>
        <p:spPr>
          <a:xfrm>
            <a:off x="3929856" y="2755205"/>
            <a:ext cx="290512" cy="1283395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8" name="text 158"/>
          <p:cNvSpPr/>
          <p:nvPr/>
        </p:nvSpPr>
        <p:spPr>
          <a:xfrm>
            <a:off x="3789362" y="258375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0.627</a:t>
            </a:r>
          </a:p>
        </p:txBody>
      </p:sp>
      <p:sp>
        <p:nvSpPr>
          <p:cNvPr id="159" name="text 159"/>
          <p:cNvSpPr/>
          <p:nvPr/>
        </p:nvSpPr>
        <p:spPr>
          <a:xfrm>
            <a:off x="3629025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SGD</a:t>
            </a:r>
          </a:p>
        </p:txBody>
      </p:sp>
      <p:sp>
        <p:nvSpPr>
          <p:cNvPr id="160" name="bar"/>
          <p:cNvSpPr/>
          <p:nvPr/>
        </p:nvSpPr>
        <p:spPr>
          <a:xfrm>
            <a:off x="4898231" y="2500529"/>
            <a:ext cx="290512" cy="1538071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61" name="text 161"/>
          <p:cNvSpPr/>
          <p:nvPr/>
        </p:nvSpPr>
        <p:spPr>
          <a:xfrm>
            <a:off x="4757738" y="2329079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0.662</a:t>
            </a:r>
          </a:p>
        </p:txBody>
      </p:sp>
      <p:sp>
        <p:nvSpPr>
          <p:cNvPr id="162" name="text 162"/>
          <p:cNvSpPr/>
          <p:nvPr/>
        </p:nvSpPr>
        <p:spPr>
          <a:xfrm>
            <a:off x="4597400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crop + TenCrop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SGD</a:t>
            </a:r>
          </a:p>
        </p:txBody>
      </p:sp>
      <p:sp>
        <p:nvSpPr>
          <p:cNvPr id="163" name="bar"/>
          <p:cNvSpPr/>
          <p:nvPr/>
        </p:nvSpPr>
        <p:spPr>
          <a:xfrm>
            <a:off x="5866606" y="2620742"/>
            <a:ext cx="290512" cy="1417858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64" name="text 164"/>
          <p:cNvSpPr/>
          <p:nvPr/>
        </p:nvSpPr>
        <p:spPr>
          <a:xfrm>
            <a:off x="5726113" y="244929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0.646</a:t>
            </a:r>
          </a:p>
        </p:txBody>
      </p:sp>
      <p:sp>
        <p:nvSpPr>
          <p:cNvPr id="165" name="text 165"/>
          <p:cNvSpPr/>
          <p:nvPr/>
        </p:nvSpPr>
        <p:spPr>
          <a:xfrm>
            <a:off x="5565775" y="4114800"/>
            <a:ext cx="892175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deeper CNN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+ 70ep</a:t>
            </a:r>
          </a:p>
        </p:txBody>
      </p:sp>
      <p:sp>
        <p:nvSpPr>
          <p:cNvPr id="166" name="legend square"/>
          <p:cNvSpPr/>
          <p:nvPr/>
        </p:nvSpPr>
        <p:spPr>
          <a:xfrm>
            <a:off x="5067300" y="2095500"/>
            <a:ext cx="85725" cy="85725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67" name="text 167"/>
          <p:cNvSpPr/>
          <p:nvPr/>
        </p:nvSpPr>
        <p:spPr>
          <a:xfrm>
            <a:off x="5200650" y="2057400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1000">
                <a:solidFill>
                  <a:srgbClr val="566172"/>
                </a:solidFill>
                <a:latin typeface="Aptos"/>
              </a:rPr>
              <a:t>best val macro F1</a:t>
            </a:r>
          </a:p>
        </p:txBody>
      </p:sp>
    </p:spTree>
    <p:extLst>
      <p:ext uri="{BB962C8B-B14F-4D97-AF65-F5344CB8AC3E}">
        <ns5:creationId val="45034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759B07-D6EB-4A5E-BB9F-9F85EBC4E05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1FF24-B6A1-4FDF-A337-E99CAFD71D13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ResNet18 improves when deeper layers are fine-tuned.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3ECBD-EF8A-4259-91BE-FDD0B5DBCBB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E8012-CDF2-4273-B847-0660C8BE9B70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63379-1E3C-4DDA-8465-64AB4C76B630}"/>
              </a:ext>
            </a:extLst>
          </p:cNvPr>
          <p:cNvSpPr>
            <a:spLocks noGrp="1"/>
          </p:cNvSpPr>
          <p:nvPr/>
        </p:nvSpPr>
        <p:spPr>
          <a:xfrm>
            <a:off x="1009650" y="2285546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D2F22-90A9-4F49-9E20-B2EA02B90D7E}"/>
              </a:ext>
            </a:extLst>
          </p:cNvPr>
          <p:cNvSpPr>
            <a:spLocks noGrp="1"/>
          </p:cNvSpPr>
          <p:nvPr/>
        </p:nvSpPr>
        <p:spPr>
          <a:xfrm>
            <a:off x="723900" y="2209346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0AB76F-EBFD-4DA2-8E32-61B22EB254EA}"/>
              </a:ext>
            </a:extLst>
          </p:cNvPr>
          <p:cNvSpPr>
            <a:spLocks noGrp="1"/>
          </p:cNvSpPr>
          <p:nvPr/>
        </p:nvSpPr>
        <p:spPr>
          <a:xfrm>
            <a:off x="5207454" y="226196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58B4BB-6D48-4882-B21D-C21A41382BD2}"/>
              </a:ext>
            </a:extLst>
          </p:cNvPr>
          <p:cNvSpPr>
            <a:spLocks noGrp="1"/>
          </p:cNvSpPr>
          <p:nvPr/>
        </p:nvSpPr>
        <p:spPr>
          <a:xfrm>
            <a:off x="5397954" y="222011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AB8AF0-88D9-4627-804B-FDE3F705C3B4}"/>
              </a:ext>
            </a:extLst>
          </p:cNvPr>
          <p:cNvSpPr>
            <a:spLocks noGrp="1"/>
          </p:cNvSpPr>
          <p:nvPr/>
        </p:nvSpPr>
        <p:spPr>
          <a:xfrm>
            <a:off x="6091918" y="223406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1388CF-FA17-487C-8ADC-DEC55AD85DD0}"/>
              </a:ext>
            </a:extLst>
          </p:cNvPr>
          <p:cNvSpPr>
            <a:spLocks noGrp="1"/>
          </p:cNvSpPr>
          <p:nvPr/>
        </p:nvSpPr>
        <p:spPr>
          <a:xfrm>
            <a:off x="6282418" y="2173628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A553BA-6ED4-475B-BFA4-FE2A55008199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871702-B748-47E8-9E0B-67E77D986828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5D2087-8F93-487F-B186-B281ED32388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F7BAD1-755A-46F9-AD00-C4C585C018E2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7B9F3DD-27C8-CF17-06C6-BB2F4D7E00C4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DBEDCFE-301D-0C45-0B3D-15096C322094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742A529-63AB-3DA4-0043-2BB398526987}"/>
              </a:ext>
            </a:extLst>
          </p:cNvPr>
          <p:cNvSpPr txBox="1"/>
          <p:nvPr/>
        </p:nvSpPr>
        <p:spPr>
          <a:xfrm>
            <a:off x="965200" y="53213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0.30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B0BAA57-7A03-CF78-F9EA-6CB53316B7BE}"/>
              </a:ext>
            </a:extLst>
          </p:cNvPr>
          <p:cNvCxnSpPr/>
          <p:nvPr/>
        </p:nvCxnSpPr>
        <p:spPr>
          <a:xfrm>
            <a:off x="1346200" y="482721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7139078-0170-F00E-B8D4-2A40840C1A1A}"/>
              </a:ext>
            </a:extLst>
          </p:cNvPr>
          <p:cNvSpPr txBox="1"/>
          <p:nvPr/>
        </p:nvSpPr>
        <p:spPr>
          <a:xfrm>
            <a:off x="965200" y="472561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0.40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AEA2E08-9949-0482-B406-074AADBD0DFB}"/>
              </a:ext>
            </a:extLst>
          </p:cNvPr>
          <p:cNvCxnSpPr/>
          <p:nvPr/>
        </p:nvCxnSpPr>
        <p:spPr>
          <a:xfrm>
            <a:off x="1346200" y="4231519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5F52C6B-96A9-2DD2-E50D-4517B7080DA0}"/>
              </a:ext>
            </a:extLst>
          </p:cNvPr>
          <p:cNvSpPr txBox="1"/>
          <p:nvPr/>
        </p:nvSpPr>
        <p:spPr>
          <a:xfrm>
            <a:off x="965200" y="4129919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0.50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57897A4-A8B1-1FA7-ACF3-840181576146}"/>
              </a:ext>
            </a:extLst>
          </p:cNvPr>
          <p:cNvCxnSpPr/>
          <p:nvPr/>
        </p:nvCxnSpPr>
        <p:spPr>
          <a:xfrm>
            <a:off x="1346200" y="3635828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AB1DDA1-59D4-4F79-0171-A2749E1BCE80}"/>
              </a:ext>
            </a:extLst>
          </p:cNvPr>
          <p:cNvSpPr txBox="1"/>
          <p:nvPr/>
        </p:nvSpPr>
        <p:spPr>
          <a:xfrm>
            <a:off x="965200" y="3534228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5B7A59-1D6B-B4F3-48CF-85C93654C443}"/>
              </a:ext>
            </a:extLst>
          </p:cNvPr>
          <p:cNvCxnSpPr/>
          <p:nvPr/>
        </p:nvCxnSpPr>
        <p:spPr>
          <a:xfrm>
            <a:off x="1346200" y="3040138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51CC8D1-2574-1789-C44D-AF3AEFC975B5}"/>
              </a:ext>
            </a:extLst>
          </p:cNvPr>
          <p:cNvSpPr txBox="1"/>
          <p:nvPr/>
        </p:nvSpPr>
        <p:spPr>
          <a:xfrm>
            <a:off x="965200" y="2938538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0.70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B2CB454-FD49-B7D5-7104-FC360C041133}"/>
              </a:ext>
            </a:extLst>
          </p:cNvPr>
          <p:cNvSpPr/>
          <p:nvPr/>
        </p:nvSpPr>
        <p:spPr>
          <a:xfrm>
            <a:off x="1326243" y="5156200"/>
            <a:ext cx="355600" cy="2667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49F3F3-9483-8255-0420-172DFE1B1D17}"/>
              </a:ext>
            </a:extLst>
          </p:cNvPr>
          <p:cNvSpPr txBox="1"/>
          <p:nvPr/>
        </p:nvSpPr>
        <p:spPr>
          <a:xfrm>
            <a:off x="1148443" y="49276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38234AA-54EA-ED45-3BF3-A4905CA5FB46}"/>
              </a:ext>
            </a:extLst>
          </p:cNvPr>
          <p:cNvSpPr txBox="1"/>
          <p:nvPr/>
        </p:nvSpPr>
        <p:spPr>
          <a:xfrm>
            <a:off x="952500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feature
extract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B0FF76F-F158-7EE5-FBE3-1B197C93B952}"/>
              </a:ext>
            </a:extLst>
          </p:cNvPr>
          <p:cNvSpPr/>
          <p:nvPr/>
        </p:nvSpPr>
        <p:spPr>
          <a:xfrm>
            <a:off x="2505529" y="3657600"/>
            <a:ext cx="355600" cy="17653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6EAE06F-11BA-CB66-07CA-97758646FA41}"/>
              </a:ext>
            </a:extLst>
          </p:cNvPr>
          <p:cNvSpPr txBox="1"/>
          <p:nvPr/>
        </p:nvSpPr>
        <p:spPr>
          <a:xfrm>
            <a:off x="2327729" y="3429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0.602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E0FBA69-1E34-3B1A-6063-6920143F8AAC}"/>
              </a:ext>
            </a:extLst>
          </p:cNvPr>
          <p:cNvSpPr txBox="1"/>
          <p:nvPr/>
        </p:nvSpPr>
        <p:spPr>
          <a:xfrm>
            <a:off x="2131786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layer4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11E85A8-E221-B654-F7A5-C8E9331FBF48}"/>
              </a:ext>
            </a:extLst>
          </p:cNvPr>
          <p:cNvSpPr/>
          <p:nvPr/>
        </p:nvSpPr>
        <p:spPr>
          <a:xfrm>
            <a:off x="3684814" y="3390900"/>
            <a:ext cx="355600" cy="20320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34E6696-590F-793B-83DD-D8CC98E20420}"/>
              </a:ext>
            </a:extLst>
          </p:cNvPr>
          <p:cNvSpPr txBox="1"/>
          <p:nvPr/>
        </p:nvSpPr>
        <p:spPr>
          <a:xfrm>
            <a:off x="3507014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0.648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0D3B8B5-90A4-FE9B-6F78-C9690433695B}"/>
              </a:ext>
            </a:extLst>
          </p:cNvPr>
          <p:cNvSpPr txBox="1"/>
          <p:nvPr/>
        </p:nvSpPr>
        <p:spPr>
          <a:xfrm>
            <a:off x="3311072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layer3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1CBAEFD-097A-EA81-9C1C-A44A9D83AF7E}"/>
              </a:ext>
            </a:extLst>
          </p:cNvPr>
          <p:cNvSpPr/>
          <p:nvPr/>
        </p:nvSpPr>
        <p:spPr>
          <a:xfrm>
            <a:off x="4864100" y="3390900"/>
            <a:ext cx="355600" cy="20320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037425-E05E-BD34-4FDF-16682DF3A14E}"/>
              </a:ext>
            </a:extLst>
          </p:cNvPr>
          <p:cNvSpPr txBox="1"/>
          <p:nvPr/>
        </p:nvSpPr>
        <p:spPr>
          <a:xfrm>
            <a:off x="4686300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0.649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65146D-B8A6-9473-CFB1-3F5F56BCAA3F}"/>
              </a:ext>
            </a:extLst>
          </p:cNvPr>
          <p:cNvSpPr txBox="1"/>
          <p:nvPr/>
        </p:nvSpPr>
        <p:spPr>
          <a:xfrm>
            <a:off x="4490357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class
weights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15E8D7-8E16-2CDD-0971-6BB39D37E118}"/>
              </a:ext>
            </a:extLst>
          </p:cNvPr>
          <p:cNvSpPr/>
          <p:nvPr/>
        </p:nvSpPr>
        <p:spPr>
          <a:xfrm>
            <a:off x="6043386" y="3365500"/>
            <a:ext cx="355600" cy="20574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B1C09F0-16B9-EC78-6E08-C5435F0631E9}"/>
              </a:ext>
            </a:extLst>
          </p:cNvPr>
          <p:cNvSpPr txBox="1"/>
          <p:nvPr/>
        </p:nvSpPr>
        <p:spPr>
          <a:xfrm>
            <a:off x="5865586" y="31369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0.654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ACCC4A2-44EF-581B-096F-5693E8E94B0F}"/>
              </a:ext>
            </a:extLst>
          </p:cNvPr>
          <p:cNvSpPr txBox="1"/>
          <p:nvPr/>
        </p:nvSpPr>
        <p:spPr>
          <a:xfrm>
            <a:off x="5669643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weights +
focal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0CE699-81E4-41FF-6C49-D109D4FD5960}"/>
              </a:ext>
            </a:extLst>
          </p:cNvPr>
          <p:cNvSpPr/>
          <p:nvPr/>
        </p:nvSpPr>
        <p:spPr>
          <a:xfrm>
            <a:off x="7222672" y="3225800"/>
            <a:ext cx="355600" cy="21971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B0F597D-B0CA-52BF-B1FB-25A22B18300C}"/>
              </a:ext>
            </a:extLst>
          </p:cNvPr>
          <p:cNvSpPr txBox="1"/>
          <p:nvPr/>
        </p:nvSpPr>
        <p:spPr>
          <a:xfrm>
            <a:off x="7044872" y="29972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0.676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CDC7D26-187F-1A6D-E184-B9213B8B8B85}"/>
              </a:ext>
            </a:extLst>
          </p:cNvPr>
          <p:cNvSpPr txBox="1"/>
          <p:nvPr/>
        </p:nvSpPr>
        <p:spPr>
          <a:xfrm>
            <a:off x="6848928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focal +
SGD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F029272-FC51-E787-AA17-789CC344CF07}"/>
              </a:ext>
            </a:extLst>
          </p:cNvPr>
          <p:cNvSpPr/>
          <p:nvPr/>
        </p:nvSpPr>
        <p:spPr>
          <a:xfrm>
            <a:off x="8401957" y="3175000"/>
            <a:ext cx="355600" cy="22479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BDDE9D7-38B8-89CF-A8D3-9AF6BB33E2DC}"/>
              </a:ext>
            </a:extLst>
          </p:cNvPr>
          <p:cNvSpPr txBox="1"/>
          <p:nvPr/>
        </p:nvSpPr>
        <p:spPr>
          <a:xfrm>
            <a:off x="8224157" y="29464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0.685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8BCBE93-69DA-39ED-0FD7-89D929D7D7BC}"/>
              </a:ext>
            </a:extLst>
          </p:cNvPr>
          <p:cNvSpPr txBox="1"/>
          <p:nvPr/>
        </p:nvSpPr>
        <p:spPr>
          <a:xfrm>
            <a:off x="8028215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crop +
TenCrop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E2AFBE-3DDB-C5F8-46FF-614AE92BDA31}"/>
              </a:ext>
            </a:extLst>
          </p:cNvPr>
          <p:cNvSpPr/>
          <p:nvPr/>
        </p:nvSpPr>
        <p:spPr>
          <a:xfrm>
            <a:off x="7264400" y="2794000"/>
            <a:ext cx="114300" cy="1143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EE6721-6816-C756-38BE-019029AD3373}"/>
              </a:ext>
            </a:extLst>
          </p:cNvPr>
          <p:cNvSpPr txBox="1"/>
          <p:nvPr/>
        </p:nvSpPr>
        <p:spPr>
          <a:xfrm>
            <a:off x="7442200" y="27432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66172"/>
                </a:solidFill>
                <a:latin typeface="Aptos" panose="020B0004020202020204" pitchFamily="34" charset="0"/>
              </a:rPr>
              <a:t>best val macro F1</a:t>
            </a:r>
          </a:p>
        </p:txBody>
      </p:sp>
    </p:spTree>
    <p:extLst>
      <p:ext uri="{BB962C8B-B14F-4D97-AF65-F5344CB8AC3E}">
        <p14:creationId xmlns:p14="http://schemas.microsoft.com/office/powerpoint/2010/main" val="175365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B1B64D-3676-44EA-A1E5-4163F25146E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ABE76-E5F5-467F-ACD8-67FC5B6C4CD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EfficientNet-B0 is competitive on FER2013 after stronger fine-tuning.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61D6B-52F1-4E8A-9796-6B7B9F7AD66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74862-0442-4403-B052-470DA9C6B257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0A858F-E0A5-4EF3-9056-B23BCC93C981}"/>
              </a:ext>
            </a:extLst>
          </p:cNvPr>
          <p:cNvSpPr>
            <a:spLocks noGrp="1"/>
          </p:cNvSpPr>
          <p:nvPr/>
        </p:nvSpPr>
        <p:spPr>
          <a:xfrm>
            <a:off x="5397954" y="227904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0.678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A26D57-BE1B-4047-B390-AA6DC336EF3B}"/>
              </a:ext>
            </a:extLst>
          </p:cNvPr>
          <p:cNvSpPr>
            <a:spLocks noGrp="1"/>
          </p:cNvSpPr>
          <p:nvPr/>
        </p:nvSpPr>
        <p:spPr>
          <a:xfrm>
            <a:off x="6091918" y="2242108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CD9A37-974E-43A3-AAA6-BAD6B691C70E}"/>
              </a:ext>
            </a:extLst>
          </p:cNvPr>
          <p:cNvSpPr>
            <a:spLocks noGrp="1"/>
          </p:cNvSpPr>
          <p:nvPr/>
        </p:nvSpPr>
        <p:spPr>
          <a:xfrm>
            <a:off x="6282418" y="217877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C35364-07AB-469E-AC87-8BCD061960DC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0A48F1-D3AE-4E9F-9F9D-DA4F31F11D17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2445CE-76C7-41DE-A453-209C0581A409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74890E-522D-4CFB-92E4-8410A9B3D896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C196DE7-32CA-ABE0-5722-24295C8B934D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B292BD6-425F-6068-D1BF-1428CE110896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5E2C63E-B3C0-5804-5C29-3FB2EE90C67C}"/>
              </a:ext>
            </a:extLst>
          </p:cNvPr>
          <p:cNvSpPr txBox="1"/>
          <p:nvPr/>
        </p:nvSpPr>
        <p:spPr>
          <a:xfrm>
            <a:off x="965200" y="53213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0.35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6048F2-973D-C59A-52BF-4836F1EEDE59}"/>
              </a:ext>
            </a:extLst>
          </p:cNvPr>
          <p:cNvCxnSpPr/>
          <p:nvPr/>
        </p:nvCxnSpPr>
        <p:spPr>
          <a:xfrm>
            <a:off x="1346200" y="4746711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CE30513-A850-2E46-2671-E610405DD29F}"/>
              </a:ext>
            </a:extLst>
          </p:cNvPr>
          <p:cNvSpPr txBox="1"/>
          <p:nvPr/>
        </p:nvSpPr>
        <p:spPr>
          <a:xfrm>
            <a:off x="965200" y="4645111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0.45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3A2C9A1-62DF-7CE0-20A5-8F201A94DD65}"/>
              </a:ext>
            </a:extLst>
          </p:cNvPr>
          <p:cNvCxnSpPr/>
          <p:nvPr/>
        </p:nvCxnSpPr>
        <p:spPr>
          <a:xfrm>
            <a:off x="1346200" y="4070522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2BD8ACB-723E-A31D-8276-0F3312A480BB}"/>
              </a:ext>
            </a:extLst>
          </p:cNvPr>
          <p:cNvSpPr txBox="1"/>
          <p:nvPr/>
        </p:nvSpPr>
        <p:spPr>
          <a:xfrm>
            <a:off x="965200" y="3968922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9D79FCB-C26B-2657-806F-DC18ECF11BDC}"/>
              </a:ext>
            </a:extLst>
          </p:cNvPr>
          <p:cNvCxnSpPr/>
          <p:nvPr/>
        </p:nvCxnSpPr>
        <p:spPr>
          <a:xfrm>
            <a:off x="1346200" y="3394332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9FC5C26-AA0B-44FF-B6A9-CB18DA24B5C5}"/>
              </a:ext>
            </a:extLst>
          </p:cNvPr>
          <p:cNvSpPr txBox="1"/>
          <p:nvPr/>
        </p:nvSpPr>
        <p:spPr>
          <a:xfrm>
            <a:off x="965200" y="3292732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BBF131A-E54B-DFA7-7F4F-DF04748822EB}"/>
              </a:ext>
            </a:extLst>
          </p:cNvPr>
          <p:cNvSpPr/>
          <p:nvPr/>
        </p:nvSpPr>
        <p:spPr>
          <a:xfrm>
            <a:off x="1326243" y="5219700"/>
            <a:ext cx="355600" cy="2032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7D9BE6-E18E-32D7-D5E3-D16A2FFBA1B3}"/>
              </a:ext>
            </a:extLst>
          </p:cNvPr>
          <p:cNvSpPr txBox="1"/>
          <p:nvPr/>
        </p:nvSpPr>
        <p:spPr>
          <a:xfrm>
            <a:off x="1148443" y="49911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0.382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B4F3CDF-D4A2-F59C-9F87-A9883D449541}"/>
              </a:ext>
            </a:extLst>
          </p:cNvPr>
          <p:cNvSpPr txBox="1"/>
          <p:nvPr/>
        </p:nvSpPr>
        <p:spPr>
          <a:xfrm>
            <a:off x="952500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feature
extract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42646D5-B776-19D5-7B63-419D5F139E49}"/>
              </a:ext>
            </a:extLst>
          </p:cNvPr>
          <p:cNvSpPr/>
          <p:nvPr/>
        </p:nvSpPr>
        <p:spPr>
          <a:xfrm>
            <a:off x="2505529" y="4673600"/>
            <a:ext cx="355600" cy="749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6069A7-E694-99C9-B8CA-A5881F66B387}"/>
              </a:ext>
            </a:extLst>
          </p:cNvPr>
          <p:cNvSpPr txBox="1"/>
          <p:nvPr/>
        </p:nvSpPr>
        <p:spPr>
          <a:xfrm>
            <a:off x="2327729" y="4445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0.464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522E09A-F936-D88C-4816-DE4B643D2F8A}"/>
              </a:ext>
            </a:extLst>
          </p:cNvPr>
          <p:cNvSpPr txBox="1"/>
          <p:nvPr/>
        </p:nvSpPr>
        <p:spPr>
          <a:xfrm>
            <a:off x="2131786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block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E6479E2-99F7-D84E-132B-217CF72A890D}"/>
              </a:ext>
            </a:extLst>
          </p:cNvPr>
          <p:cNvSpPr/>
          <p:nvPr/>
        </p:nvSpPr>
        <p:spPr>
          <a:xfrm>
            <a:off x="3684814" y="3835400"/>
            <a:ext cx="355600" cy="15875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C59EA3-48FD-9AB2-0A52-F370BCB0A066}"/>
              </a:ext>
            </a:extLst>
          </p:cNvPr>
          <p:cNvSpPr txBox="1"/>
          <p:nvPr/>
        </p:nvSpPr>
        <p:spPr>
          <a:xfrm>
            <a:off x="3507014" y="36068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0.590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99CBF07-8F3D-C936-9513-4DBF0A73119A}"/>
              </a:ext>
            </a:extLst>
          </p:cNvPr>
          <p:cNvSpPr txBox="1"/>
          <p:nvPr/>
        </p:nvSpPr>
        <p:spPr>
          <a:xfrm>
            <a:off x="3311072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DDE757-E6C8-EBD1-0AAA-CB7A284E6B15}"/>
              </a:ext>
            </a:extLst>
          </p:cNvPr>
          <p:cNvSpPr/>
          <p:nvPr/>
        </p:nvSpPr>
        <p:spPr>
          <a:xfrm>
            <a:off x="4864100" y="3530600"/>
            <a:ext cx="355600" cy="1892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D2022A9-A64D-E7AF-7F31-8C0302F71C2E}"/>
              </a:ext>
            </a:extLst>
          </p:cNvPr>
          <p:cNvSpPr txBox="1"/>
          <p:nvPr/>
        </p:nvSpPr>
        <p:spPr>
          <a:xfrm>
            <a:off x="4686300" y="3302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0.637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63B6761-744F-7C88-CA25-EC811D6A641B}"/>
              </a:ext>
            </a:extLst>
          </p:cNvPr>
          <p:cNvSpPr txBox="1"/>
          <p:nvPr/>
        </p:nvSpPr>
        <p:spPr>
          <a:xfrm>
            <a:off x="4490357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8B1BDF7-802B-E480-44B8-3090FFE60DE3}"/>
              </a:ext>
            </a:extLst>
          </p:cNvPr>
          <p:cNvSpPr/>
          <p:nvPr/>
        </p:nvSpPr>
        <p:spPr>
          <a:xfrm>
            <a:off x="6043386" y="3416300"/>
            <a:ext cx="355600" cy="20066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362477B-0353-D21B-1FB6-36B049378B2F}"/>
              </a:ext>
            </a:extLst>
          </p:cNvPr>
          <p:cNvSpPr txBox="1"/>
          <p:nvPr/>
        </p:nvSpPr>
        <p:spPr>
          <a:xfrm>
            <a:off x="5865586" y="31877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0.653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0B199CC-980E-6F5B-5E9A-F1ABCCD4C05F}"/>
              </a:ext>
            </a:extLst>
          </p:cNvPr>
          <p:cNvSpPr txBox="1"/>
          <p:nvPr/>
        </p:nvSpPr>
        <p:spPr>
          <a:xfrm>
            <a:off x="5669643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last 3 +
sampler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7DBB88-C5AD-5C37-10BF-8153835B8C1A}"/>
              </a:ext>
            </a:extLst>
          </p:cNvPr>
          <p:cNvSpPr/>
          <p:nvPr/>
        </p:nvSpPr>
        <p:spPr>
          <a:xfrm>
            <a:off x="7222672" y="3390900"/>
            <a:ext cx="355600" cy="20320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643881B-D7F8-02FE-7996-B9715F8CB35A}"/>
              </a:ext>
            </a:extLst>
          </p:cNvPr>
          <p:cNvSpPr txBox="1"/>
          <p:nvPr/>
        </p:nvSpPr>
        <p:spPr>
          <a:xfrm>
            <a:off x="7044872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0.657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4B05799-84BD-0510-38A9-D7BDB386CA61}"/>
              </a:ext>
            </a:extLst>
          </p:cNvPr>
          <p:cNvSpPr txBox="1"/>
          <p:nvPr/>
        </p:nvSpPr>
        <p:spPr>
          <a:xfrm>
            <a:off x="6848928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sampler +
SGD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B65DEB4-8402-0458-A458-4838968274A8}"/>
              </a:ext>
            </a:extLst>
          </p:cNvPr>
          <p:cNvSpPr/>
          <p:nvPr/>
        </p:nvSpPr>
        <p:spPr>
          <a:xfrm>
            <a:off x="8401957" y="3302000"/>
            <a:ext cx="355600" cy="21209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D171B89-9CE1-53BE-A16D-C18FBBE8116F}"/>
              </a:ext>
            </a:extLst>
          </p:cNvPr>
          <p:cNvSpPr txBox="1"/>
          <p:nvPr/>
        </p:nvSpPr>
        <p:spPr>
          <a:xfrm>
            <a:off x="8224157" y="30734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0.670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5244751-8947-20D4-62CF-C33B23D0B403}"/>
              </a:ext>
            </a:extLst>
          </p:cNvPr>
          <p:cNvSpPr txBox="1"/>
          <p:nvPr/>
        </p:nvSpPr>
        <p:spPr>
          <a:xfrm>
            <a:off x="8028215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crop +
TenCrop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AEDFD20-C7CA-AB65-59B1-06989A5F52A6}"/>
              </a:ext>
            </a:extLst>
          </p:cNvPr>
          <p:cNvSpPr/>
          <p:nvPr/>
        </p:nvSpPr>
        <p:spPr>
          <a:xfrm>
            <a:off x="7264400" y="2794000"/>
            <a:ext cx="114300" cy="114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93D777-0AD4-43F0-459B-14C21CB735AD}"/>
              </a:ext>
            </a:extLst>
          </p:cNvPr>
          <p:cNvSpPr txBox="1"/>
          <p:nvPr/>
        </p:nvSpPr>
        <p:spPr>
          <a:xfrm>
            <a:off x="7442200" y="27432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66172"/>
                </a:solidFill>
                <a:latin typeface="Aptos" panose="020B0004020202020204" pitchFamily="34" charset="0"/>
              </a:rPr>
              <a:t>best val macro F1</a:t>
            </a:r>
          </a:p>
        </p:txBody>
      </p:sp>
    </p:spTree>
    <p:extLst>
      <p:ext uri="{BB962C8B-B14F-4D97-AF65-F5344CB8AC3E}">
        <p14:creationId xmlns:p14="http://schemas.microsoft.com/office/powerpoint/2010/main" val="49606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5B9EDF86-0DB8-4EC5-89DD-68EB75BF3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AF0D2-3E48-41C6-88F3-E8E6AA5B14A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C60E9-B9BE-4504-A009-D057491EFBE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Top confusions show that errors cluster around similar emotions.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741D8-D211-4025-A280-926A4673C41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13253-72B6-4423-9B55-5B3BD9F2BF1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0D022-E10C-4689-B550-93B208E755D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381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17BB-69A6-49DA-83FE-D53745F8BBD9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952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TOP CONFUSION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0D8EF-176F-484C-B59B-178251A135D4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CEF05-6A88-46C2-AE66-605508DF84C8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CLASS RATE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D7628-2103-414F-97E2-C7A826F98917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51435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75374-B57B-4445-BCC1-512D57ECDDA0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FE2C4-2B99-49DF-B9E9-72C9F44A547C}"/>
              </a:ext>
            </a:extLst>
          </p:cNvPr>
          <p:cNvSpPr>
            <a:spLocks noGrp="1"/>
          </p:cNvSpPr>
          <p:nvPr/>
        </p:nvSpPr>
        <p:spPr>
          <a:xfrm>
            <a:off x="2190750" y="24574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A459D-AAEE-4E22-8281-F83969D97026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259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AD2E1-F6DA-49EC-890D-6100A6EFD18A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20.8%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FA9E-274E-4D8A-B09B-CEA549B501B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82BA6-4B70-48B9-B29F-57676A54B148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3CC4AD-C76E-4EAA-8FA5-3B3F543C1677}"/>
              </a:ext>
            </a:extLst>
          </p:cNvPr>
          <p:cNvSpPr>
            <a:spLocks noGrp="1"/>
          </p:cNvSpPr>
          <p:nvPr/>
        </p:nvSpPr>
        <p:spPr>
          <a:xfrm>
            <a:off x="2190750" y="27813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0067AA-C7B6-4132-8709-0F0567DF94FD}"/>
              </a:ext>
            </a:extLst>
          </p:cNvPr>
          <p:cNvSpPr>
            <a:spLocks noGrp="1"/>
          </p:cNvSpPr>
          <p:nvPr/>
        </p:nvSpPr>
        <p:spPr>
          <a:xfrm>
            <a:off x="4191000" y="27813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233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B8312-0312-475B-AA40-7648325B163E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22.8%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7B69E8-7060-469C-AED4-69805E510B86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D71C3-F5EC-433C-918C-2478A80578D7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CC209-9BF7-4C31-8642-21AC9209DCE2}"/>
              </a:ext>
            </a:extLst>
          </p:cNvPr>
          <p:cNvSpPr>
            <a:spLocks noGrp="1"/>
          </p:cNvSpPr>
          <p:nvPr/>
        </p:nvSpPr>
        <p:spPr>
          <a:xfrm>
            <a:off x="2190750" y="3105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67B6F4-611A-40BD-832D-48A16815828C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34E19F-9912-47EC-A870-909541762ABA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469126-2374-436D-B16B-56D0F4FD0339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EE341E-0867-4EAF-82FC-36C5EF263683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E88F5B-DC72-48BD-9A5E-7BC37248C0BD}"/>
              </a:ext>
            </a:extLst>
          </p:cNvPr>
          <p:cNvSpPr>
            <a:spLocks noGrp="1"/>
          </p:cNvSpPr>
          <p:nvPr/>
        </p:nvSpPr>
        <p:spPr>
          <a:xfrm>
            <a:off x="2190750" y="34290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2D631E-7E01-4ACD-8B1B-B520AB954462}"/>
              </a:ext>
            </a:extLst>
          </p:cNvPr>
          <p:cNvSpPr>
            <a:spLocks noGrp="1"/>
          </p:cNvSpPr>
          <p:nvPr/>
        </p:nvSpPr>
        <p:spPr>
          <a:xfrm>
            <a:off x="4191000" y="34290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517582-530E-4CA4-8925-A24B5ACB2EFF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94D4C5-C9B1-478F-BE95-F85CA8E79FBD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0019A-0556-4488-BACD-004BB0D1504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FC615F-622B-4311-9507-1BCB441A3331}"/>
              </a:ext>
            </a:extLst>
          </p:cNvPr>
          <p:cNvSpPr>
            <a:spLocks noGrp="1"/>
          </p:cNvSpPr>
          <p:nvPr/>
        </p:nvSpPr>
        <p:spPr>
          <a:xfrm>
            <a:off x="2190750" y="3752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71AD5A-CD39-4604-A157-F04AC4DF89CB}"/>
              </a:ext>
            </a:extLst>
          </p:cNvPr>
          <p:cNvSpPr>
            <a:spLocks noGrp="1"/>
          </p:cNvSpPr>
          <p:nvPr/>
        </p:nvSpPr>
        <p:spPr>
          <a:xfrm>
            <a:off x="4191000" y="37528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9032C0-C870-462D-A914-A15D4A53D676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850A53-1749-4F25-B434-275C7A65BB76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B8E71B-6445-473D-8F0D-444799D78697}"/>
              </a:ext>
            </a:extLst>
          </p:cNvPr>
          <p:cNvSpPr>
            <a:spLocks noGrp="1"/>
          </p:cNvSpPr>
          <p:nvPr/>
        </p:nvSpPr>
        <p:spPr>
          <a:xfrm>
            <a:off x="762000" y="40767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5755C3-DE89-4C44-ABC2-B3327723111A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7229DC-B307-4164-8311-B5DC4C667B80}"/>
              </a:ext>
            </a:extLst>
          </p:cNvPr>
          <p:cNvSpPr>
            <a:spLocks noGrp="1"/>
          </p:cNvSpPr>
          <p:nvPr/>
        </p:nvSpPr>
        <p:spPr>
          <a:xfrm>
            <a:off x="4191000" y="40767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F7DBC6-2C42-491D-B3BB-C0CA608B6B6B}"/>
              </a:ext>
            </a:extLst>
          </p:cNvPr>
          <p:cNvSpPr>
            <a:spLocks noGrp="1"/>
          </p:cNvSpPr>
          <p:nvPr/>
        </p:nvSpPr>
        <p:spPr>
          <a:xfrm>
            <a:off x="4953000" y="40767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D22871-B262-4D62-A25A-8E04E1D4EFC4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21FCFF-A421-4B59-8CF7-A0846086D19F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1AD316-2FDE-4D8E-A36A-BBCC03EC95CF}"/>
              </a:ext>
            </a:extLst>
          </p:cNvPr>
          <p:cNvSpPr>
            <a:spLocks noGrp="1"/>
          </p:cNvSpPr>
          <p:nvPr/>
        </p:nvSpPr>
        <p:spPr>
          <a:xfrm>
            <a:off x="2190750" y="44005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114EF6-BCBC-45AE-A4BE-31DA467DCD1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8A2B3C-279C-407B-8605-4146DC248E3E}"/>
              </a:ext>
            </a:extLst>
          </p:cNvPr>
          <p:cNvSpPr>
            <a:spLocks noGrp="1"/>
          </p:cNvSpPr>
          <p:nvPr/>
        </p:nvSpPr>
        <p:spPr>
          <a:xfrm>
            <a:off x="4953000" y="44005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16.5%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CD7D69-A0FE-4CA0-A791-23DAA611E26A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568C78-735A-4D8B-BE57-8721AE0C8C01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71D984-9FBA-4765-B924-F5E6AF206ADE}"/>
              </a:ext>
            </a:extLst>
          </p:cNvPr>
          <p:cNvSpPr>
            <a:spLocks noGrp="1"/>
          </p:cNvSpPr>
          <p:nvPr/>
        </p:nvSpPr>
        <p:spPr>
          <a:xfrm>
            <a:off x="2190750" y="47244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C71354-FB8E-489A-B069-53ABC58A5A6B}"/>
              </a:ext>
            </a:extLst>
          </p:cNvPr>
          <p:cNvSpPr>
            <a:spLocks noGrp="1"/>
          </p:cNvSpPr>
          <p:nvPr/>
        </p:nvSpPr>
        <p:spPr>
          <a:xfrm>
            <a:off x="4191000" y="47244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BC3D56-05F0-46C5-908B-372AEF7480FC}"/>
              </a:ext>
            </a:extLst>
          </p:cNvPr>
          <p:cNvSpPr>
            <a:spLocks noGrp="1"/>
          </p:cNvSpPr>
          <p:nvPr/>
        </p:nvSpPr>
        <p:spPr>
          <a:xfrm>
            <a:off x="4953000" y="47244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15.9%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195A10-4844-4D5C-8835-0AFFBA2FA77D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80EDE4-DD19-4A79-807E-87760A66FE7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DCF7C5-27FE-48E2-A376-BBF74D8F6249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fear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1A7F9A-2735-429D-B074-3B38E18F708B}"/>
              </a:ext>
            </a:extLst>
          </p:cNvPr>
          <p:cNvSpPr>
            <a:spLocks noGrp="1"/>
          </p:cNvSpPr>
          <p:nvPr/>
        </p:nvSpPr>
        <p:spPr>
          <a:xfrm>
            <a:off x="4191000" y="50482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B8C3DB-B7B9-4AB9-B628-1B48B6EFAFA2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12.3%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E51DDB-83FB-4E1B-BBBB-BC8B6021DCE0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29500B-CE01-406E-8475-F947AEAC911C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9DBB57-A611-4D13-8119-2535B69C0F0D}"/>
              </a:ext>
            </a:extLst>
          </p:cNvPr>
          <p:cNvSpPr>
            <a:spLocks noGrp="1"/>
          </p:cNvSpPr>
          <p:nvPr/>
        </p:nvSpPr>
        <p:spPr>
          <a:xfrm>
            <a:off x="6915150" y="24003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Sad, fear, and neutral dominate the top mistakes.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DFBEA3-776C-4E4E-BDB6-A81B02EB7835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7EB4E2A-DE00-40A8-BF51-851E08B57513}"/>
              </a:ext>
            </a:extLst>
          </p:cNvPr>
          <p:cNvSpPr>
            <a:spLocks noGrp="1"/>
          </p:cNvSpPr>
          <p:nvPr/>
        </p:nvSpPr>
        <p:spPr>
          <a:xfrm>
            <a:off x="6915150" y="30670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error families appear across model architectures.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C442A7-E769-400E-A51A-816E4F2CCA59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F4513B-DE92-4496-BAC7-40871056C59E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supports the affect-circumplex interpretation: adjacent emotions are harder to separate.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BA1544-046E-468A-8DEF-1F0229BE4CC3}"/>
              </a:ext>
            </a:extLst>
          </p:cNvPr>
          <p:cNvSpPr>
            <a:spLocks noGrp="1"/>
          </p:cNvSpPr>
          <p:nvPr/>
        </p:nvSpPr>
        <p:spPr>
          <a:xfrm>
            <a:off x="6667500" y="44958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BBD8A75-478D-4773-A516-90A5FADBE734}"/>
              </a:ext>
            </a:extLst>
          </p:cNvPr>
          <p:cNvSpPr>
            <a:spLocks noGrp="1"/>
          </p:cNvSpPr>
          <p:nvPr/>
        </p:nvSpPr>
        <p:spPr>
          <a:xfrm>
            <a:off x="6915150" y="44005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best model improves the score, but does not remove class ambiguity.</a:t>
            </a:r>
          </a:p>
        </p:txBody>
      </p:sp>
    </p:spTree>
    <p:extLst>
      <p:ext uri="{BB962C8B-B14F-4D97-AF65-F5344CB8AC3E}">
        <p14:creationId xmlns:p14="http://schemas.microsoft.com/office/powerpoint/2010/main" val="927504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62D1C43-E906-4CA4-A754-27365328F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A2B69-820A-4DC8-B169-E8337DB3A2D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D13C8-862E-488E-B409-10BA07E5ECD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FER2013 and CK+ comparisons show both improvement and domain shift.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11A80-45D0-41D7-8221-26923B25DD5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782A-338D-4DB5-B5F7-6F1C497DF634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4E5FD-235D-4670-9EFA-E25A13E015F7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BAD55-DE07-4067-AFD6-152293A9134E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3AD71-0A00-44FE-B49D-DCD263C3CC20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1B9CA-A9FA-4E7B-8FAB-61AAE3C9E143}"/>
              </a:ext>
            </a:extLst>
          </p:cNvPr>
          <p:cNvSpPr>
            <a:spLocks noGrp="1"/>
          </p:cNvSpPr>
          <p:nvPr/>
        </p:nvSpPr>
        <p:spPr>
          <a:xfrm>
            <a:off x="1009650" y="353568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C80E3-016C-48D3-9EBF-66CA90A61B2D}"/>
              </a:ext>
            </a:extLst>
          </p:cNvPr>
          <p:cNvSpPr>
            <a:spLocks noGrp="1"/>
          </p:cNvSpPr>
          <p:nvPr/>
        </p:nvSpPr>
        <p:spPr>
          <a:xfrm>
            <a:off x="723900" y="345948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D6735-1DEE-4CDC-B215-32C6CF9D4B04}"/>
              </a:ext>
            </a:extLst>
          </p:cNvPr>
          <p:cNvSpPr>
            <a:spLocks noGrp="1"/>
          </p:cNvSpPr>
          <p:nvPr/>
        </p:nvSpPr>
        <p:spPr>
          <a:xfrm>
            <a:off x="1009650" y="321373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5429A-ACC6-42CF-ABE0-5A2FAD573079}"/>
              </a:ext>
            </a:extLst>
          </p:cNvPr>
          <p:cNvSpPr>
            <a:spLocks noGrp="1"/>
          </p:cNvSpPr>
          <p:nvPr/>
        </p:nvSpPr>
        <p:spPr>
          <a:xfrm>
            <a:off x="723900" y="313753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A60EDF-8D67-431C-A04F-C39E99CCA2B7}"/>
              </a:ext>
            </a:extLst>
          </p:cNvPr>
          <p:cNvSpPr>
            <a:spLocks noGrp="1"/>
          </p:cNvSpPr>
          <p:nvPr/>
        </p:nvSpPr>
        <p:spPr>
          <a:xfrm>
            <a:off x="1009650" y="289179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8EC7F2-9DBE-4BC6-993B-CCEFC0901AB3}"/>
              </a:ext>
            </a:extLst>
          </p:cNvPr>
          <p:cNvSpPr>
            <a:spLocks noGrp="1"/>
          </p:cNvSpPr>
          <p:nvPr/>
        </p:nvSpPr>
        <p:spPr>
          <a:xfrm>
            <a:off x="723900" y="281559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8EA9D-AE94-4AFA-A730-B11908D10655}"/>
              </a:ext>
            </a:extLst>
          </p:cNvPr>
          <p:cNvSpPr>
            <a:spLocks noGrp="1"/>
          </p:cNvSpPr>
          <p:nvPr/>
        </p:nvSpPr>
        <p:spPr>
          <a:xfrm>
            <a:off x="1009650" y="256984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B8594-DFE3-48B5-BB99-1DAF02042E1A}"/>
              </a:ext>
            </a:extLst>
          </p:cNvPr>
          <p:cNvSpPr>
            <a:spLocks noGrp="1"/>
          </p:cNvSpPr>
          <p:nvPr/>
        </p:nvSpPr>
        <p:spPr>
          <a:xfrm>
            <a:off x="723900" y="249364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AF10A6-E9DF-4082-B331-909E6B60701D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BEFEC-972E-494E-B13C-57859854578F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1288B-D37F-4C91-8EA2-577B21BFAEB3}"/>
              </a:ext>
            </a:extLst>
          </p:cNvPr>
          <p:cNvSpPr>
            <a:spLocks noGrp="1"/>
          </p:cNvSpPr>
          <p:nvPr/>
        </p:nvSpPr>
        <p:spPr>
          <a:xfrm>
            <a:off x="1114425" y="3078099"/>
            <a:ext cx="171450" cy="779526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73D83-6D79-409E-B29B-E2ED1EEC16C1}"/>
              </a:ext>
            </a:extLst>
          </p:cNvPr>
          <p:cNvSpPr>
            <a:spLocks noGrp="1"/>
          </p:cNvSpPr>
          <p:nvPr/>
        </p:nvSpPr>
        <p:spPr>
          <a:xfrm>
            <a:off x="1323975" y="2449449"/>
            <a:ext cx="171450" cy="140817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73A3A0-FE3C-427B-A964-BBDE811A8441}"/>
              </a:ext>
            </a:extLst>
          </p:cNvPr>
          <p:cNvSpPr>
            <a:spLocks noGrp="1"/>
          </p:cNvSpPr>
          <p:nvPr/>
        </p:nvSpPr>
        <p:spPr>
          <a:xfrm>
            <a:off x="7239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11EB9-A593-4500-BFDD-79F602C03FEB}"/>
              </a:ext>
            </a:extLst>
          </p:cNvPr>
          <p:cNvSpPr>
            <a:spLocks noGrp="1"/>
          </p:cNvSpPr>
          <p:nvPr/>
        </p:nvSpPr>
        <p:spPr>
          <a:xfrm>
            <a:off x="2352675" y="2713482"/>
            <a:ext cx="171450" cy="114414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BE2E51-F84D-4BFA-AC48-C40D54F5B240}"/>
              </a:ext>
            </a:extLst>
          </p:cNvPr>
          <p:cNvSpPr>
            <a:spLocks noGrp="1"/>
          </p:cNvSpPr>
          <p:nvPr/>
        </p:nvSpPr>
        <p:spPr>
          <a:xfrm>
            <a:off x="2562225" y="2556320"/>
            <a:ext cx="171450" cy="130130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F8776-2633-4C2F-B22C-EF87363C237D}"/>
              </a:ext>
            </a:extLst>
          </p:cNvPr>
          <p:cNvSpPr>
            <a:spLocks noGrp="1"/>
          </p:cNvSpPr>
          <p:nvPr/>
        </p:nvSpPr>
        <p:spPr>
          <a:xfrm>
            <a:off x="196215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D080C7-EAF3-418B-82F8-F7D99823BA96}"/>
              </a:ext>
            </a:extLst>
          </p:cNvPr>
          <p:cNvSpPr>
            <a:spLocks noGrp="1"/>
          </p:cNvSpPr>
          <p:nvPr/>
        </p:nvSpPr>
        <p:spPr>
          <a:xfrm>
            <a:off x="3590925" y="2694623"/>
            <a:ext cx="171450" cy="116300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751EC9-65D0-496D-8299-B60B081B52A9}"/>
              </a:ext>
            </a:extLst>
          </p:cNvPr>
          <p:cNvSpPr>
            <a:spLocks noGrp="1"/>
          </p:cNvSpPr>
          <p:nvPr/>
        </p:nvSpPr>
        <p:spPr>
          <a:xfrm>
            <a:off x="3800475" y="3505581"/>
            <a:ext cx="171450" cy="352044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CAC12-68B3-4A12-82BA-661B69F59B67}"/>
              </a:ext>
            </a:extLst>
          </p:cNvPr>
          <p:cNvSpPr>
            <a:spLocks noGrp="1"/>
          </p:cNvSpPr>
          <p:nvPr/>
        </p:nvSpPr>
        <p:spPr>
          <a:xfrm>
            <a:off x="32004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-B0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CC4B1-8858-43A4-9CE7-38465003F3EA}"/>
              </a:ext>
            </a:extLst>
          </p:cNvPr>
          <p:cNvSpPr>
            <a:spLocks noGrp="1"/>
          </p:cNvSpPr>
          <p:nvPr/>
        </p:nvSpPr>
        <p:spPr>
          <a:xfrm>
            <a:off x="2705100" y="215265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309BAB-CED3-4443-88E0-3DB3685142FA}"/>
              </a:ext>
            </a:extLst>
          </p:cNvPr>
          <p:cNvSpPr>
            <a:spLocks noGrp="1"/>
          </p:cNvSpPr>
          <p:nvPr/>
        </p:nvSpPr>
        <p:spPr>
          <a:xfrm>
            <a:off x="2838450" y="21145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08E3F-2224-433A-82E2-5C2369AF47B0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AAEC0A-0DA5-42F4-8E1A-EF81FC6984CE}"/>
              </a:ext>
            </a:extLst>
          </p:cNvPr>
          <p:cNvSpPr>
            <a:spLocks noGrp="1"/>
          </p:cNvSpPr>
          <p:nvPr/>
        </p:nvSpPr>
        <p:spPr>
          <a:xfrm>
            <a:off x="3657600" y="2114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9D2AC7-B230-4DB5-9290-61DC7346A9FD}"/>
              </a:ext>
            </a:extLst>
          </p:cNvPr>
          <p:cNvSpPr>
            <a:spLocks noGrp="1"/>
          </p:cNvSpPr>
          <p:nvPr/>
        </p:nvSpPr>
        <p:spPr>
          <a:xfrm>
            <a:off x="6924675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302866"/>
            <a:ext cx="2190750" cy="113784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DC9EA8-46D8-4663-B893-C9850E9946C3}"/>
              </a:ext>
            </a:extLst>
          </p:cNvPr>
          <p:cNvSpPr>
            <a:spLocks noGrp="1"/>
          </p:cNvSpPr>
          <p:nvPr/>
        </p:nvSpPr>
        <p:spPr>
          <a:xfrm>
            <a:off x="9353550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9750" y="2356902"/>
            <a:ext cx="2190750" cy="102977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1BF8B29-AB52-40FF-BCC7-F9205E651FE8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CK+ Custom CNN per-class F1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0E0BCF-A4A3-4AE4-9E1E-DDD1B8877A0E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8A26B-3585-4E39-9D58-168FE0F888D3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A40FD-EA47-48DE-BD3F-BAF3E785ECF5}"/>
              </a:ext>
            </a:extLst>
          </p:cNvPr>
          <p:cNvSpPr>
            <a:spLocks noGrp="1"/>
          </p:cNvSpPr>
          <p:nvPr/>
        </p:nvSpPr>
        <p:spPr>
          <a:xfrm>
            <a:off x="1228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B5630-7DA1-40FD-A512-5A84C55B3CA4}"/>
              </a:ext>
            </a:extLst>
          </p:cNvPr>
          <p:cNvSpPr>
            <a:spLocks noGrp="1"/>
          </p:cNvSpPr>
          <p:nvPr/>
        </p:nvSpPr>
        <p:spPr>
          <a:xfrm>
            <a:off x="1228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CF6EF9-C35E-4E1E-A15A-AE0277ED1333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C3808D-BEAF-4A69-8663-EF7A031C06FF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EFCC97-0AE3-4FC9-8F51-1C6E94FF953C}"/>
              </a:ext>
            </a:extLst>
          </p:cNvPr>
          <p:cNvSpPr>
            <a:spLocks noGrp="1"/>
          </p:cNvSpPr>
          <p:nvPr/>
        </p:nvSpPr>
        <p:spPr>
          <a:xfrm>
            <a:off x="2276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71F6EF-EA82-4A31-828C-9675FF30DAD4}"/>
              </a:ext>
            </a:extLst>
          </p:cNvPr>
          <p:cNvSpPr>
            <a:spLocks noGrp="1"/>
          </p:cNvSpPr>
          <p:nvPr/>
        </p:nvSpPr>
        <p:spPr>
          <a:xfrm>
            <a:off x="2276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AF0865-D990-4F3C-A491-A6DE72CA004D}"/>
              </a:ext>
            </a:extLst>
          </p:cNvPr>
          <p:cNvSpPr>
            <a:spLocks noGrp="1"/>
          </p:cNvSpPr>
          <p:nvPr/>
        </p:nvSpPr>
        <p:spPr>
          <a:xfrm>
            <a:off x="2800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735943-656E-48D4-B804-2A399B9EBAC3}"/>
              </a:ext>
            </a:extLst>
          </p:cNvPr>
          <p:cNvSpPr>
            <a:spLocks noGrp="1"/>
          </p:cNvSpPr>
          <p:nvPr/>
        </p:nvSpPr>
        <p:spPr>
          <a:xfrm>
            <a:off x="2800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FEE8FB-0612-4F93-AB93-A61ED4B87431}"/>
              </a:ext>
            </a:extLst>
          </p:cNvPr>
          <p:cNvSpPr>
            <a:spLocks noGrp="1"/>
          </p:cNvSpPr>
          <p:nvPr/>
        </p:nvSpPr>
        <p:spPr>
          <a:xfrm>
            <a:off x="3324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B0BE42-BFFB-44C6-870F-56124B41E241}"/>
              </a:ext>
            </a:extLst>
          </p:cNvPr>
          <p:cNvSpPr>
            <a:spLocks noGrp="1"/>
          </p:cNvSpPr>
          <p:nvPr/>
        </p:nvSpPr>
        <p:spPr>
          <a:xfrm>
            <a:off x="3324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FB661D-E0D9-43C8-BB9F-DFC23AD4279D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41269-67EF-4864-BA53-3381C74CF5A1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166AED-18C0-4083-83BF-55A5286C45B4}"/>
              </a:ext>
            </a:extLst>
          </p:cNvPr>
          <p:cNvSpPr>
            <a:spLocks noGrp="1"/>
          </p:cNvSpPr>
          <p:nvPr/>
        </p:nvSpPr>
        <p:spPr>
          <a:xfrm>
            <a:off x="441960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CK+ ResNet18 per-class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749CB8-A238-4593-8D60-707DF78D1C0D}"/>
              </a:ext>
            </a:extLst>
          </p:cNvPr>
          <p:cNvSpPr>
            <a:spLocks noGrp="1"/>
          </p:cNvSpPr>
          <p:nvPr/>
        </p:nvSpPr>
        <p:spPr>
          <a:xfrm>
            <a:off x="4419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D7CF2F-AB92-4357-A925-4306F443D68F}"/>
              </a:ext>
            </a:extLst>
          </p:cNvPr>
          <p:cNvSpPr>
            <a:spLocks noGrp="1"/>
          </p:cNvSpPr>
          <p:nvPr/>
        </p:nvSpPr>
        <p:spPr>
          <a:xfrm>
            <a:off x="4419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7C129-1C2C-461C-B957-D2786CC2172A}"/>
              </a:ext>
            </a:extLst>
          </p:cNvPr>
          <p:cNvSpPr>
            <a:spLocks noGrp="1"/>
          </p:cNvSpPr>
          <p:nvPr/>
        </p:nvSpPr>
        <p:spPr>
          <a:xfrm>
            <a:off x="4943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33C6DA-F78E-4C3F-B938-7A34605F331D}"/>
              </a:ext>
            </a:extLst>
          </p:cNvPr>
          <p:cNvSpPr>
            <a:spLocks noGrp="1"/>
          </p:cNvSpPr>
          <p:nvPr/>
        </p:nvSpPr>
        <p:spPr>
          <a:xfrm>
            <a:off x="4943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76FA36-425E-45ED-89C7-001AB8DCC839}"/>
              </a:ext>
            </a:extLst>
          </p:cNvPr>
          <p:cNvSpPr>
            <a:spLocks noGrp="1"/>
          </p:cNvSpPr>
          <p:nvPr/>
        </p:nvSpPr>
        <p:spPr>
          <a:xfrm>
            <a:off x="5467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686FAC-192F-44FD-BBE6-B414CAFCD9E8}"/>
              </a:ext>
            </a:extLst>
          </p:cNvPr>
          <p:cNvSpPr>
            <a:spLocks noGrp="1"/>
          </p:cNvSpPr>
          <p:nvPr/>
        </p:nvSpPr>
        <p:spPr>
          <a:xfrm>
            <a:off x="5467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0FD7CB1-0FFE-4892-8BDB-BF7AEF86C6DD}"/>
              </a:ext>
            </a:extLst>
          </p:cNvPr>
          <p:cNvSpPr>
            <a:spLocks noGrp="1"/>
          </p:cNvSpPr>
          <p:nvPr/>
        </p:nvSpPr>
        <p:spPr>
          <a:xfrm>
            <a:off x="5991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62E12A-9C63-49F8-B36D-ACA07ED8F012}"/>
              </a:ext>
            </a:extLst>
          </p:cNvPr>
          <p:cNvSpPr>
            <a:spLocks noGrp="1"/>
          </p:cNvSpPr>
          <p:nvPr/>
        </p:nvSpPr>
        <p:spPr>
          <a:xfrm>
            <a:off x="5991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4B40C9-2416-4FEE-9434-747D46C6B0BE}"/>
              </a:ext>
            </a:extLst>
          </p:cNvPr>
          <p:cNvSpPr>
            <a:spLocks noGrp="1"/>
          </p:cNvSpPr>
          <p:nvPr/>
        </p:nvSpPr>
        <p:spPr>
          <a:xfrm>
            <a:off x="6515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5F0067-668E-441D-860D-1DBA10B61E5C}"/>
              </a:ext>
            </a:extLst>
          </p:cNvPr>
          <p:cNvSpPr>
            <a:spLocks noGrp="1"/>
          </p:cNvSpPr>
          <p:nvPr/>
        </p:nvSpPr>
        <p:spPr>
          <a:xfrm>
            <a:off x="6515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AA683A8-2722-4515-B2A5-78C9FD790F78}"/>
              </a:ext>
            </a:extLst>
          </p:cNvPr>
          <p:cNvSpPr>
            <a:spLocks noGrp="1"/>
          </p:cNvSpPr>
          <p:nvPr/>
        </p:nvSpPr>
        <p:spPr>
          <a:xfrm>
            <a:off x="7038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2D88338-01AE-4A28-8ABC-5F7387BD10E3}"/>
              </a:ext>
            </a:extLst>
          </p:cNvPr>
          <p:cNvSpPr>
            <a:spLocks noGrp="1"/>
          </p:cNvSpPr>
          <p:nvPr/>
        </p:nvSpPr>
        <p:spPr>
          <a:xfrm>
            <a:off x="7038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E002A5-8D2A-4509-A82C-1A50A815FDF7}"/>
              </a:ext>
            </a:extLst>
          </p:cNvPr>
          <p:cNvSpPr>
            <a:spLocks noGrp="1"/>
          </p:cNvSpPr>
          <p:nvPr/>
        </p:nvSpPr>
        <p:spPr>
          <a:xfrm>
            <a:off x="441960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4CE7F18-FC38-4EDD-8072-0C133D701B88}"/>
              </a:ext>
            </a:extLst>
          </p:cNvPr>
          <p:cNvSpPr>
            <a:spLocks noGrp="1"/>
          </p:cNvSpPr>
          <p:nvPr/>
        </p:nvSpPr>
        <p:spPr>
          <a:xfrm>
            <a:off x="441960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CE192E-C33A-49CB-BEFD-93F01A481CE6}"/>
              </a:ext>
            </a:extLst>
          </p:cNvPr>
          <p:cNvSpPr>
            <a:spLocks noGrp="1"/>
          </p:cNvSpPr>
          <p:nvPr/>
        </p:nvSpPr>
        <p:spPr>
          <a:xfrm>
            <a:off x="81343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CK+ EfficientNet-B0 per-class F1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695171-1BBC-43BA-B572-8995665368A2}"/>
              </a:ext>
            </a:extLst>
          </p:cNvPr>
          <p:cNvSpPr>
            <a:spLocks noGrp="1"/>
          </p:cNvSpPr>
          <p:nvPr/>
        </p:nvSpPr>
        <p:spPr>
          <a:xfrm>
            <a:off x="8134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E72826-E9D2-481D-9FB5-AEAC29B1BE5D}"/>
              </a:ext>
            </a:extLst>
          </p:cNvPr>
          <p:cNvSpPr>
            <a:spLocks noGrp="1"/>
          </p:cNvSpPr>
          <p:nvPr/>
        </p:nvSpPr>
        <p:spPr>
          <a:xfrm>
            <a:off x="8134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968FB8-1D71-40C3-95AC-62BD7B2257CF}"/>
              </a:ext>
            </a:extLst>
          </p:cNvPr>
          <p:cNvSpPr>
            <a:spLocks noGrp="1"/>
          </p:cNvSpPr>
          <p:nvPr/>
        </p:nvSpPr>
        <p:spPr>
          <a:xfrm>
            <a:off x="8658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EAD459-9A89-418F-AFDF-F0C5C38ECC22}"/>
              </a:ext>
            </a:extLst>
          </p:cNvPr>
          <p:cNvSpPr>
            <a:spLocks noGrp="1"/>
          </p:cNvSpPr>
          <p:nvPr/>
        </p:nvSpPr>
        <p:spPr>
          <a:xfrm>
            <a:off x="8658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0.28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C5705E-ED99-4981-BA98-4D0BC6C30248}"/>
              </a:ext>
            </a:extLst>
          </p:cNvPr>
          <p:cNvSpPr>
            <a:spLocks noGrp="1"/>
          </p:cNvSpPr>
          <p:nvPr/>
        </p:nvSpPr>
        <p:spPr>
          <a:xfrm>
            <a:off x="9182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230C07-9DE3-4284-9E55-B4A62A973FF8}"/>
              </a:ext>
            </a:extLst>
          </p:cNvPr>
          <p:cNvSpPr>
            <a:spLocks noGrp="1"/>
          </p:cNvSpPr>
          <p:nvPr/>
        </p:nvSpPr>
        <p:spPr>
          <a:xfrm>
            <a:off x="9182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45A5E7-3509-4FF4-849A-2E198B0472CA}"/>
              </a:ext>
            </a:extLst>
          </p:cNvPr>
          <p:cNvSpPr>
            <a:spLocks noGrp="1"/>
          </p:cNvSpPr>
          <p:nvPr/>
        </p:nvSpPr>
        <p:spPr>
          <a:xfrm>
            <a:off x="9705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C42B39-CADC-4A51-B816-32EB0CC55365}"/>
              </a:ext>
            </a:extLst>
          </p:cNvPr>
          <p:cNvSpPr>
            <a:spLocks noGrp="1"/>
          </p:cNvSpPr>
          <p:nvPr/>
        </p:nvSpPr>
        <p:spPr>
          <a:xfrm>
            <a:off x="9705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7DC0D16-7A20-4A80-8C8D-484254489BE1}"/>
              </a:ext>
            </a:extLst>
          </p:cNvPr>
          <p:cNvSpPr>
            <a:spLocks noGrp="1"/>
          </p:cNvSpPr>
          <p:nvPr/>
        </p:nvSpPr>
        <p:spPr>
          <a:xfrm>
            <a:off x="10229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4D9D02-CAFD-49AC-B15E-67E36B8F2901}"/>
              </a:ext>
            </a:extLst>
          </p:cNvPr>
          <p:cNvSpPr>
            <a:spLocks noGrp="1"/>
          </p:cNvSpPr>
          <p:nvPr/>
        </p:nvSpPr>
        <p:spPr>
          <a:xfrm>
            <a:off x="10229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A8B2F5-7A4A-40C9-964B-22E6960B4B8A}"/>
              </a:ext>
            </a:extLst>
          </p:cNvPr>
          <p:cNvSpPr>
            <a:spLocks noGrp="1"/>
          </p:cNvSpPr>
          <p:nvPr/>
        </p:nvSpPr>
        <p:spPr>
          <a:xfrm>
            <a:off x="10753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16AC0-C629-4568-8333-49D5C42FDC96}"/>
              </a:ext>
            </a:extLst>
          </p:cNvPr>
          <p:cNvSpPr>
            <a:spLocks noGrp="1"/>
          </p:cNvSpPr>
          <p:nvPr/>
        </p:nvSpPr>
        <p:spPr>
          <a:xfrm>
            <a:off x="10753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E5F1E7-4EC8-4B1E-B240-AE1FAA27DE2A}"/>
              </a:ext>
            </a:extLst>
          </p:cNvPr>
          <p:cNvSpPr>
            <a:spLocks noGrp="1"/>
          </p:cNvSpPr>
          <p:nvPr/>
        </p:nvSpPr>
        <p:spPr>
          <a:xfrm>
            <a:off x="81343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5A54FD1-A8F1-4A35-8F20-8EE1A51ED87E}"/>
              </a:ext>
            </a:extLst>
          </p:cNvPr>
          <p:cNvSpPr>
            <a:spLocks noGrp="1"/>
          </p:cNvSpPr>
          <p:nvPr/>
        </p:nvSpPr>
        <p:spPr>
          <a:xfrm>
            <a:off x="81343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00028-0E08-419E-A06F-DC149418AF27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1B0E36-2452-4A6D-8AF4-5BB316CEA3D1}"/>
              </a:ext>
            </a:extLst>
          </p:cNvPr>
          <p:cNvSpPr>
            <a:spLocks noGrp="1"/>
          </p:cNvSpPr>
          <p:nvPr/>
        </p:nvSpPr>
        <p:spPr>
          <a:xfrm>
            <a:off x="5010150" y="238125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Plot uses macro F1 with a zoomed y-axis to make differences visible.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578811-23C0-484B-8CF5-EF256169D087}"/>
              </a:ext>
            </a:extLst>
          </p:cNvPr>
          <p:cNvSpPr>
            <a:spLocks noGrp="1"/>
          </p:cNvSpPr>
          <p:nvPr/>
        </p:nvSpPr>
        <p:spPr>
          <a:xfrm>
            <a:off x="4762500" y="31813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0177C67-2F6A-46FD-90D0-A6041038B5C8}"/>
              </a:ext>
            </a:extLst>
          </p:cNvPr>
          <p:cNvSpPr>
            <a:spLocks noGrp="1"/>
          </p:cNvSpPr>
          <p:nvPr/>
        </p:nvSpPr>
        <p:spPr>
          <a:xfrm>
            <a:off x="5010150" y="308610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CK+ has six shared classes; neutral is excluded from the external test.</a:t>
            </a:r>
          </a:p>
        </p:txBody>
      </p:sp>
    </p:spTree>
    <p:extLst>
      <p:ext uri="{BB962C8B-B14F-4D97-AF65-F5344CB8AC3E}">
        <p14:creationId xmlns:p14="http://schemas.microsoft.com/office/powerpoint/2010/main" val="1341549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6DDF3AB-D044-47AE-A633-43C7371113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41E05-263D-4343-8400-86EB207E399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BA3BD-D954-452A-9D4A-C598DEBFBF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Limitations concentrate in weak classes and confidence behavior.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F8ED9-1C54-4770-9E03-53C5DAA32F9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D94FC-1236-4C31-9DEE-392FE693FA7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42E50-CBD0-4F06-88D9-FCB9AC710708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4486275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960237"/>
            <a:ext cx="4333875" cy="9375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13B859-AA74-40E0-A90A-164D8E50106F}"/>
              </a:ext>
            </a:extLst>
          </p:cNvPr>
          <p:cNvSpPr>
            <a:spLocks noGrp="1"/>
          </p:cNvSpPr>
          <p:nvPr/>
        </p:nvSpPr>
        <p:spPr>
          <a:xfrm>
            <a:off x="5905500" y="22288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48778-5549-43D1-9572-091783ACBB01}"/>
              </a:ext>
            </a:extLst>
          </p:cNvPr>
          <p:cNvSpPr>
            <a:spLocks noGrp="1"/>
          </p:cNvSpPr>
          <p:nvPr/>
        </p:nvSpPr>
        <p:spPr>
          <a:xfrm>
            <a:off x="6153150" y="21336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Weak classes remain: fear, sad, angry, and neutral are harder to separate.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0259D1-F241-4EBB-BA7C-20DDB07341BB}"/>
              </a:ext>
            </a:extLst>
          </p:cNvPr>
          <p:cNvSpPr>
            <a:spLocks noGrp="1"/>
          </p:cNvSpPr>
          <p:nvPr/>
        </p:nvSpPr>
        <p:spPr>
          <a:xfrm>
            <a:off x="5905500" y="28194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2DD51-8B2D-44FF-8704-2C68ED295239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Low resolution and ambiguous labels limit the ceiling of model performance.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1E0FD-84C4-46BB-AF71-92DA60BFA499}"/>
              </a:ext>
            </a:extLst>
          </p:cNvPr>
          <p:cNvSpPr>
            <a:spLocks noGrp="1"/>
          </p:cNvSpPr>
          <p:nvPr/>
        </p:nvSpPr>
        <p:spPr>
          <a:xfrm>
            <a:off x="5905500" y="3409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AE4B5-BB1C-45E8-879B-4FB6847A879F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is reduced but not removed by sampler and loss choices.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D31D4-1674-4926-8C62-695BDD0F02F7}"/>
              </a:ext>
            </a:extLst>
          </p:cNvPr>
          <p:cNvSpPr>
            <a:spLocks noGrp="1"/>
          </p:cNvSpPr>
          <p:nvPr/>
        </p:nvSpPr>
        <p:spPr>
          <a:xfrm>
            <a:off x="5905500" y="40005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68C37-E6E9-430F-8422-00792AB7DC85}"/>
              </a:ext>
            </a:extLst>
          </p:cNvPr>
          <p:cNvSpPr>
            <a:spLocks noGrp="1"/>
          </p:cNvSpPr>
          <p:nvPr/>
        </p:nvSpPr>
        <p:spPr>
          <a:xfrm>
            <a:off x="6153150" y="39052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 is useful for identifying high-confidence mistakes.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0775C-EDCB-48A5-972F-02BEFBEA1CBF}"/>
              </a:ext>
            </a:extLst>
          </p:cNvPr>
          <p:cNvSpPr>
            <a:spLocks noGrp="1"/>
          </p:cNvSpPr>
          <p:nvPr/>
        </p:nvSpPr>
        <p:spPr>
          <a:xfrm>
            <a:off x="5905500" y="4591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E7D1B8-5C43-4236-B58D-E271395ED2FA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6941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A07641-E171-483C-8156-DAF1D3738F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EAD90-9D84-4CC5-82A7-4ABF3CC0793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2E2B4-B714-4C53-9AA5-1D4E09C1A68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project improves balanced FER2013 recognition while showing where it still fails.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F845F-BBA7-4DD9-8246-803788F20F3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BCB6F-7C01-48BF-A13C-547A921E45D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3E535-6F84-4E44-9D6B-46ECD72906BF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3DFE8-F0F0-4FE1-83A1-2EE4F907225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DEFC83-32E6-4655-BF78-F7B9F76FEA18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BEAB2-D80D-4D36-865A-829344994326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Transfer learning clearly improves over the custom CNN baseline.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5EEF0-0644-4B67-B0F8-F2CFE3AA89CA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485E0-7BEC-4ECE-B195-8CD351E61417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 and ResNet18 are close on FER2013 after crop/TenCrop.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BA1B7-2B27-4626-BEA4-A7FED842F5FA}"/>
              </a:ext>
            </a:extLst>
          </p:cNvPr>
          <p:cNvSpPr>
            <a:spLocks noGrp="1"/>
          </p:cNvSpPr>
          <p:nvPr/>
        </p:nvSpPr>
        <p:spPr>
          <a:xfrm>
            <a:off x="857250" y="42291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472CF-B52B-4668-B46D-F3DD07527632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Per-class analysis is essential because weak classes remain hidden in aggregate scores.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1CCFB-A7C6-4A8C-9106-8E4D4442D9A3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AE47A-5593-4363-82F5-D298EEF4EFA6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31087-BE19-4585-91A7-C676B5978FDC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6A9C98-1102-4595-BB8E-9CA4A610B676}"/>
              </a:ext>
            </a:extLst>
          </p:cNvPr>
          <p:cNvSpPr>
            <a:spLocks noGrp="1"/>
          </p:cNvSpPr>
          <p:nvPr/>
        </p:nvSpPr>
        <p:spPr>
          <a:xfrm>
            <a:off x="67818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Add face alignment and stronger crop consistency.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B3816-3E69-47C2-8862-8FD2104002EB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A7D1F-C86E-4EF2-87D9-2BADBA3E5029}"/>
              </a:ext>
            </a:extLst>
          </p:cNvPr>
          <p:cNvSpPr>
            <a:spLocks noGrp="1"/>
          </p:cNvSpPr>
          <p:nvPr/>
        </p:nvSpPr>
        <p:spPr>
          <a:xfrm>
            <a:off x="6781800" y="32956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Handle label noise or ambiguous labels explicitly.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EDFED6-DC89-4650-B581-F4C43E3DA8C7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A2A66-6665-4D99-80E1-9DC7EC957115}"/>
              </a:ext>
            </a:extLst>
          </p:cNvPr>
          <p:cNvSpPr>
            <a:spLocks noGrp="1"/>
          </p:cNvSpPr>
          <p:nvPr/>
        </p:nvSpPr>
        <p:spPr>
          <a:xfrm>
            <a:off x="6781800" y="39052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stronger backbones, attention, transformers, or ensembles.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3FD01E-CD51-4935-91CC-F72FD7063C7F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664D2-C853-4E13-B877-0B32A4A280E7}"/>
              </a:ext>
            </a:extLst>
          </p:cNvPr>
          <p:cNvSpPr>
            <a:spLocks noGrp="1"/>
          </p:cNvSpPr>
          <p:nvPr/>
        </p:nvSpPr>
        <p:spPr>
          <a:xfrm>
            <a:off x="6781800" y="4514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Use confidence calibration and targeted review of high-error classes.</a:t>
            </a:r>
          </a:p>
        </p:txBody>
      </p:sp>
    </p:spTree>
    <p:extLst>
      <p:ext uri="{BB962C8B-B14F-4D97-AF65-F5344CB8AC3E}">
        <p14:creationId xmlns:p14="http://schemas.microsoft.com/office/powerpoint/2010/main" val="8202593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1668</Words>
  <Application>Microsoft Office PowerPoint</Application>
  <DocSecurity>0</DocSecurity>
  <PresentationFormat>Widescreen</PresentationFormat>
  <Paragraphs>386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SHAOYA ZHANG</cp:lastModifiedBy>
  <cp:revision>7</cp:revision>
  <dcterms:created xsi:type="dcterms:W3CDTF">2026-05-31T07:58:58Z</dcterms:created>
  <dcterms:modified xsi:type="dcterms:W3CDTF">2026-05-31T13:57:07Z</dcterms:modified>
</cp:coreProperties>
</file>